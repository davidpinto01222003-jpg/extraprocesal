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3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6868"/>
                </a:solidFill>
                <a:latin typeface="Montserrat"/>
              </a:defRPr>
            </a:pPr>
            <a:r>
              <a:rPr sz="1300" b="0" i="0" u="none" strike="noStrike">
                <a:solidFill>
                  <a:srgbClr val="6B6868"/>
                </a:solidFill>
                <a:latin typeface="Montserrat"/>
              </a:rPr>
              <a:t>Participación de la minería (OIT, 2011)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Minería</c:v>
                </c:pt>
              </c:strCache>
            </c:strRef>
          </c:tx>
          <c:spPr>
            <a:solidFill>
              <a:srgbClr val="7E4691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2200" u="none">
                    <a:solidFill>
                      <a:srgbClr val="3A3838"/>
                    </a:solidFill>
                    <a:latin typeface="Montserrat Extra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E469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11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Fuerza laboral mundial</c:v>
                  </c:pt>
                  <c:pt idx="1">
                    <c:v>Accidentes fatales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2200" u="none">
                  <a:solidFill>
                    <a:srgbClr val="3A3838"/>
                  </a:solidFill>
                  <a:latin typeface="Montserrat Extra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3838"/>
                </a:solidFill>
                <a:latin typeface="Montserra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B6868"/>
                </a:solidFill>
                <a:latin typeface="Montserrat"/>
              </a:defRPr>
            </a:pPr>
            <a:r>
              <a:rPr sz="1200" b="0" i="0" u="none" strike="noStrike">
                <a:solidFill>
                  <a:srgbClr val="6B6868"/>
                </a:solidFill>
                <a:latin typeface="Montserrat"/>
              </a:rPr>
              <a:t>8 estándares evaluados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Nivel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114F"/>
              </a:solidFill>
              <a:effectLst/>
            </c:spPr>
          </c:dPt>
          <c:dPt>
            <c:idx val="1"/>
            <c:bubble3D val="0"/>
            <c:spPr>
              <a:solidFill>
                <a:srgbClr val="E08A00"/>
              </a:solidFill>
              <a:effectLst/>
            </c:spPr>
          </c:dPt>
          <c:dPt>
            <c:idx val="2"/>
            <c:bubble3D val="0"/>
            <c:spPr>
              <a:solidFill>
                <a:srgbClr val="2E8B57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Montserrat ExtraBold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Montserrat ExtraBold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Montserrat ExtraBold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Baja</c:v>
                </c:pt>
                <c:pt idx="1">
                  <c:v>Media</c:v>
                </c:pt>
                <c:pt idx="2">
                  <c:v>Alta (formal)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3A3838"/>
              </a:solidFill>
              <a:latin typeface="Montserrat"/>
              <a:cs typeface="Montserra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B6868"/>
                </a:solidFill>
                <a:latin typeface="Montserrat"/>
              </a:defRPr>
            </a:pPr>
            <a:r>
              <a:rPr sz="1100" b="0" i="0" u="none" strike="noStrike">
                <a:solidFill>
                  <a:srgbClr val="6B6868"/>
                </a:solidFill>
                <a:latin typeface="Montserrat"/>
              </a:rPr>
              <a:t>Chile: mineros fallecidos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Fallecidos</c:v>
                </c:pt>
              </c:strCache>
            </c:strRef>
          </c:tx>
          <c:spPr>
            <a:solidFill>
              <a:srgbClr val="E011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3A3838"/>
                    </a:solidFill>
                    <a:latin typeface="Montserrat Extra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11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E46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2010</c:v>
                  </c:pt>
                  <c:pt idx="1">
                    <c:v>2019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3A3838"/>
                  </a:solidFill>
                  <a:latin typeface="Montserrat Extra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838"/>
                </a:solidFill>
                <a:latin typeface="Montserra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al jurado. Presentación de los autores y de la directora. Título: análisis de convencionalidad del régimen de pensiones por riesgos laborales en minería frente a los estándares OIT.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 estructura: contexto y problema, diseño de la investigación, los tres bloques de resultados (uno por objetivo específico), propuestas y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Cifras del contexto colombiano tomadas del documento (ANM 2022, Triana 2026, MinTrabajo 2017, IDEAM 2018). Remarcar que el problema no es solo de accidentes sino de enfermedades de larga latencia.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OIT (2011): la minería emplea cerca del 1 % de la fuerza laboral mundial pero concentra alrededor del 8 % de los accidentes fatales; unas 15.000 muertes al año. El Convenio 176 solo tiene 35 ratificaciones.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la pregunta completa. Explicar que los cuatro criterios (cobertura, acceso, suficiencia y equidad) son el eje del análisis de convencionalidad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general se desarrolla en tres objetivos específicos; cada uno corresponde a un bloque de resultados: I caracterizar, II examinar, III comparar.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razones: vacío académico en control de convencionalidad aplicado a SST minera; desfase entre normas formales y siniestralidad; utilidad para políticas públicas.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Enfoque cualitativo, alcance descriptivo-explicativo, diseño documental-jurídico-comparativo. No hay población ni muestra; los datos estadísticos se usan solo como respaldo documental.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 objetivo específico: caracterizar el régimen.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la línea de tiempo. Enfatizar: el D. 2090/2003 unificó el régimen; la vigencia para nuevos afiliados se prorrogó hasta el 31-dic-2024; la Res. 6072/2024 protege a quienes estaban vinculados a esa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Requisitos: 55 años (reducibles hasta 50 con 60 semanas especiales adicionales por año), 700 semanas en alto riesgo, 1.300 semanas totales, cotización adicional del 10 % a cargo del empleador. Solo cubre la minería en socavón o subterránea.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Corte ha consolidado una línea protectora: interpretación favorable al trabajador y rechazo de que fallas de terceros (empleadores, administradoras) frustren el acceso a la pensión.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objetivo específico: examinar los estándares OIT aplicables.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Colombia solo ha ratificado el Convenio 81 (inspección). Los demás operan como criterios orientadores e interpretativos (art. 93 CP), no como obligaciones convencionales.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principios con los que se evalúa el régimen. La efectividad se agrega como criterio material: una norma que no se cumple no protege.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 objetivo específico: comparar la norma colombiana con los estándares OIT.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Síntesis de la Tabla 2. Ningún estándar alcanza armonización alta en el cumplimiento material; el C81 solo en el plano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brechas centrales. Cobertura: informalidad superior al 50 % (ANM) y cercana al 70 % (Rubiano et al.). Acceso: pruebas y afiliación. Suficiencia: incapacidades del 50–75 % del salario base. Equidad: solo socavón y cierre a nuevos afiliados en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Vacíos prácticos que explican por qué la protección formal no llega al minero.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Chile: institucionalidad técnica (SERNAGEOMIN, SUSESO, mutuales) y reducción de fatalidades. Perú: ratificó el C176 y creó un plan nacional tripartito. Sudáfrica: fondos especiales de compensación por silicosis y tuberculosis.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propuestas concretas derivadas del análisis. Resaltar la reforma del D. 2090 (ampliar la cobertura más allá del socavón, reducir las 700 semanas, prorrogar después de 2024) y el registro único de exposición ocupacional.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Idea fuerza: el régimen tiene un desarrollo formal considerable, pero su eficacia material es insuficiente. Luego, una conclusión por cada objetivo específico.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no basta una pensión especial de vejez si no hay prevención, inspección, vigilancia epidemiológica y registro de exposición. Colombia necesita una agenda de armonización normativa e institucional.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al jurado y a la directora. Abrir el espacio de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4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17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20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87552" y="2487168"/>
            <a:ext cx="6355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ANÁLISIS DE LA CONVENCIONALIDAD DE LA NORMATIVIDAD COLOMBIANA APLICABLE AL RÉGIMEN DE PENSIONES POR RIESGOS LABORALES DE LOS TRABAJADORES DE LA MINERÍA EN COLOMBIA SEGÚN LOS ESTÁNDARES DE LA OIT</a:t>
            </a:r>
            <a:endParaRPr lang="en-US" sz="1850" dirty="0"/>
          </a:p>
        </p:txBody>
      </p:sp>
      <p:sp>
        <p:nvSpPr>
          <p:cNvPr id="3" name="Text 1"/>
          <p:cNvSpPr txBox="1"/>
          <p:nvPr/>
        </p:nvSpPr>
        <p:spPr>
          <a:xfrm>
            <a:off x="987552" y="4443984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Daniel Ricardo Angarita Rincón  ·  Gustavo Andrés Martínez Cepeda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Directora: Yudy Tatiana Fuentes Agudelo, Mg. en Derecho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Trabajo de grado para optar al título de Abogado · Facultad de Derecho</a:t>
            </a:r>
            <a:endParaRPr lang="en-US" sz="10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Ruta de la sustentación</a:t>
            </a:r>
            <a:endParaRPr lang="en-US" sz="3200" dirty="0"/>
          </a:p>
        </p:txBody>
      </p:sp>
      <p:sp>
        <p:nvSpPr>
          <p:cNvPr id="4" name="anim1_1"/>
          <p:cNvSpPr/>
          <p:nvPr/>
        </p:nvSpPr>
        <p:spPr>
          <a:xfrm>
            <a:off x="868680" y="201168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2"/>
          <p:cNvSpPr/>
          <p:nvPr/>
        </p:nvSpPr>
        <p:spPr>
          <a:xfrm>
            <a:off x="1051560" y="2231136"/>
            <a:ext cx="621792" cy="621792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6" name="anim1_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226" y="2392802"/>
            <a:ext cx="298460" cy="298460"/>
          </a:xfrm>
          <a:prstGeom prst="rect">
            <a:avLst/>
          </a:prstGeom>
        </p:spPr>
      </p:pic>
      <p:sp>
        <p:nvSpPr>
          <p:cNvPr id="7" name="anim1_4"/>
          <p:cNvSpPr txBox="1"/>
          <p:nvPr/>
        </p:nvSpPr>
        <p:spPr>
          <a:xfrm>
            <a:off x="1828800" y="21579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anim1_5"/>
          <p:cNvSpPr txBox="1"/>
          <p:nvPr/>
        </p:nvSpPr>
        <p:spPr>
          <a:xfrm>
            <a:off x="1828800" y="245059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 y problema</a:t>
            </a:r>
            <a:endParaRPr lang="en-US" sz="1300" dirty="0"/>
          </a:p>
        </p:txBody>
      </p:sp>
      <p:sp>
        <p:nvSpPr>
          <p:cNvPr id="9" name="anim2_6"/>
          <p:cNvSpPr/>
          <p:nvPr/>
        </p:nvSpPr>
        <p:spPr>
          <a:xfrm>
            <a:off x="4297680" y="201168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anim2_7"/>
          <p:cNvSpPr/>
          <p:nvPr/>
        </p:nvSpPr>
        <p:spPr>
          <a:xfrm>
            <a:off x="4480560" y="2231136"/>
            <a:ext cx="621792" cy="621792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1" name="anim2_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2226" y="2392802"/>
            <a:ext cx="298460" cy="298460"/>
          </a:xfrm>
          <a:prstGeom prst="rect">
            <a:avLst/>
          </a:prstGeom>
        </p:spPr>
      </p:pic>
      <p:sp>
        <p:nvSpPr>
          <p:cNvPr id="12" name="anim2_9"/>
          <p:cNvSpPr txBox="1"/>
          <p:nvPr/>
        </p:nvSpPr>
        <p:spPr>
          <a:xfrm>
            <a:off x="5257800" y="21579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anim2_10"/>
          <p:cNvSpPr txBox="1"/>
          <p:nvPr/>
        </p:nvSpPr>
        <p:spPr>
          <a:xfrm>
            <a:off x="5257800" y="245059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Pregunta y objetivos</a:t>
            </a:r>
            <a:endParaRPr lang="en-US" sz="1300" dirty="0"/>
          </a:p>
        </p:txBody>
      </p:sp>
      <p:sp>
        <p:nvSpPr>
          <p:cNvPr id="14" name="anim3_11"/>
          <p:cNvSpPr/>
          <p:nvPr/>
        </p:nvSpPr>
        <p:spPr>
          <a:xfrm>
            <a:off x="7726680" y="2011680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anim3_12"/>
          <p:cNvSpPr/>
          <p:nvPr/>
        </p:nvSpPr>
        <p:spPr>
          <a:xfrm>
            <a:off x="7909560" y="2231136"/>
            <a:ext cx="621792" cy="621792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6" name="anim3_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1226" y="2392802"/>
            <a:ext cx="298460" cy="298460"/>
          </a:xfrm>
          <a:prstGeom prst="rect">
            <a:avLst/>
          </a:prstGeom>
        </p:spPr>
      </p:pic>
      <p:sp>
        <p:nvSpPr>
          <p:cNvPr id="17" name="anim3_14"/>
          <p:cNvSpPr txBox="1"/>
          <p:nvPr/>
        </p:nvSpPr>
        <p:spPr>
          <a:xfrm>
            <a:off x="8686800" y="21579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anim3_15"/>
          <p:cNvSpPr txBox="1"/>
          <p:nvPr/>
        </p:nvSpPr>
        <p:spPr>
          <a:xfrm>
            <a:off x="8686800" y="245059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Metodología</a:t>
            </a:r>
            <a:endParaRPr lang="en-US" sz="1300" dirty="0"/>
          </a:p>
        </p:txBody>
      </p:sp>
      <p:sp>
        <p:nvSpPr>
          <p:cNvPr id="19" name="anim4_16"/>
          <p:cNvSpPr/>
          <p:nvPr/>
        </p:nvSpPr>
        <p:spPr>
          <a:xfrm>
            <a:off x="868680" y="3310128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anim4_17"/>
          <p:cNvSpPr/>
          <p:nvPr/>
        </p:nvSpPr>
        <p:spPr>
          <a:xfrm>
            <a:off x="1051560" y="3529584"/>
            <a:ext cx="621792" cy="621792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21" name="anim4_1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3226" y="3691250"/>
            <a:ext cx="298460" cy="298460"/>
          </a:xfrm>
          <a:prstGeom prst="rect">
            <a:avLst/>
          </a:prstGeom>
        </p:spPr>
      </p:pic>
      <p:sp>
        <p:nvSpPr>
          <p:cNvPr id="22" name="anim4_19"/>
          <p:cNvSpPr txBox="1"/>
          <p:nvPr/>
        </p:nvSpPr>
        <p:spPr>
          <a:xfrm>
            <a:off x="1828800" y="34564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anim4_20"/>
          <p:cNvSpPr txBox="1"/>
          <p:nvPr/>
        </p:nvSpPr>
        <p:spPr>
          <a:xfrm>
            <a:off x="1828800" y="374904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Régimen colombiano</a:t>
            </a:r>
            <a:endParaRPr lang="en-US" sz="1300" dirty="0"/>
          </a:p>
        </p:txBody>
      </p:sp>
      <p:sp>
        <p:nvSpPr>
          <p:cNvPr id="24" name="anim5_21"/>
          <p:cNvSpPr/>
          <p:nvPr/>
        </p:nvSpPr>
        <p:spPr>
          <a:xfrm>
            <a:off x="4297680" y="3310128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anim5_22"/>
          <p:cNvSpPr/>
          <p:nvPr/>
        </p:nvSpPr>
        <p:spPr>
          <a:xfrm>
            <a:off x="4480560" y="3529584"/>
            <a:ext cx="621792" cy="621792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26" name="anim5_2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2226" y="3691250"/>
            <a:ext cx="298460" cy="298460"/>
          </a:xfrm>
          <a:prstGeom prst="rect">
            <a:avLst/>
          </a:prstGeom>
        </p:spPr>
      </p:pic>
      <p:sp>
        <p:nvSpPr>
          <p:cNvPr id="27" name="anim5_24"/>
          <p:cNvSpPr txBox="1"/>
          <p:nvPr/>
        </p:nvSpPr>
        <p:spPr>
          <a:xfrm>
            <a:off x="5257800" y="34564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anim5_25"/>
          <p:cNvSpPr txBox="1"/>
          <p:nvPr/>
        </p:nvSpPr>
        <p:spPr>
          <a:xfrm>
            <a:off x="5257800" y="374904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Estándares OIT</a:t>
            </a:r>
            <a:endParaRPr lang="en-US" sz="1300" dirty="0"/>
          </a:p>
        </p:txBody>
      </p:sp>
      <p:sp>
        <p:nvSpPr>
          <p:cNvPr id="29" name="anim6_26"/>
          <p:cNvSpPr/>
          <p:nvPr/>
        </p:nvSpPr>
        <p:spPr>
          <a:xfrm>
            <a:off x="7726680" y="3310128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anim6_27"/>
          <p:cNvSpPr/>
          <p:nvPr/>
        </p:nvSpPr>
        <p:spPr>
          <a:xfrm>
            <a:off x="7909560" y="3529584"/>
            <a:ext cx="621792" cy="621792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31" name="anim6_2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1226" y="3691250"/>
            <a:ext cx="298460" cy="298460"/>
          </a:xfrm>
          <a:prstGeom prst="rect">
            <a:avLst/>
          </a:prstGeom>
        </p:spPr>
      </p:pic>
      <p:sp>
        <p:nvSpPr>
          <p:cNvPr id="32" name="anim6_29"/>
          <p:cNvSpPr txBox="1"/>
          <p:nvPr/>
        </p:nvSpPr>
        <p:spPr>
          <a:xfrm>
            <a:off x="8686800" y="34564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anim6_30"/>
          <p:cNvSpPr txBox="1"/>
          <p:nvPr/>
        </p:nvSpPr>
        <p:spPr>
          <a:xfrm>
            <a:off x="8686800" y="374904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Análisis de convencionalidad</a:t>
            </a:r>
            <a:endParaRPr lang="en-US" sz="1300" dirty="0"/>
          </a:p>
        </p:txBody>
      </p:sp>
      <p:sp>
        <p:nvSpPr>
          <p:cNvPr id="34" name="anim7_31"/>
          <p:cNvSpPr/>
          <p:nvPr/>
        </p:nvSpPr>
        <p:spPr>
          <a:xfrm>
            <a:off x="868680" y="4608576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anim7_32"/>
          <p:cNvSpPr/>
          <p:nvPr/>
        </p:nvSpPr>
        <p:spPr>
          <a:xfrm>
            <a:off x="1051560" y="4828032"/>
            <a:ext cx="621792" cy="621792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36" name="anim7_3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3226" y="4989698"/>
            <a:ext cx="298460" cy="298460"/>
          </a:xfrm>
          <a:prstGeom prst="rect">
            <a:avLst/>
          </a:prstGeom>
        </p:spPr>
      </p:pic>
      <p:sp>
        <p:nvSpPr>
          <p:cNvPr id="37" name="anim7_34"/>
          <p:cNvSpPr txBox="1"/>
          <p:nvPr/>
        </p:nvSpPr>
        <p:spPr>
          <a:xfrm>
            <a:off x="1828800" y="4754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07</a:t>
            </a:r>
            <a:endParaRPr lang="en-US" sz="1300" dirty="0"/>
          </a:p>
        </p:txBody>
      </p:sp>
      <p:sp>
        <p:nvSpPr>
          <p:cNvPr id="38" name="anim7_35"/>
          <p:cNvSpPr txBox="1"/>
          <p:nvPr/>
        </p:nvSpPr>
        <p:spPr>
          <a:xfrm>
            <a:off x="1828800" y="504748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Experiencias comparadas</a:t>
            </a:r>
            <a:endParaRPr lang="en-US" sz="1300" dirty="0"/>
          </a:p>
        </p:txBody>
      </p:sp>
      <p:sp>
        <p:nvSpPr>
          <p:cNvPr id="39" name="anim8_36"/>
          <p:cNvSpPr/>
          <p:nvPr/>
        </p:nvSpPr>
        <p:spPr>
          <a:xfrm>
            <a:off x="4297680" y="4608576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anim8_37"/>
          <p:cNvSpPr/>
          <p:nvPr/>
        </p:nvSpPr>
        <p:spPr>
          <a:xfrm>
            <a:off x="4480560" y="4828032"/>
            <a:ext cx="621792" cy="621792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41" name="anim8_3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2226" y="4989698"/>
            <a:ext cx="298460" cy="298460"/>
          </a:xfrm>
          <a:prstGeom prst="rect">
            <a:avLst/>
          </a:prstGeom>
        </p:spPr>
      </p:pic>
      <p:sp>
        <p:nvSpPr>
          <p:cNvPr id="42" name="anim8_39"/>
          <p:cNvSpPr txBox="1"/>
          <p:nvPr/>
        </p:nvSpPr>
        <p:spPr>
          <a:xfrm>
            <a:off x="5257800" y="4754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08</a:t>
            </a:r>
            <a:endParaRPr lang="en-US" sz="1300" dirty="0"/>
          </a:p>
        </p:txBody>
      </p:sp>
      <p:sp>
        <p:nvSpPr>
          <p:cNvPr id="43" name="anim8_40"/>
          <p:cNvSpPr txBox="1"/>
          <p:nvPr/>
        </p:nvSpPr>
        <p:spPr>
          <a:xfrm>
            <a:off x="5257800" y="504748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Propuestas</a:t>
            </a:r>
            <a:endParaRPr lang="en-US" sz="1300" dirty="0"/>
          </a:p>
        </p:txBody>
      </p:sp>
      <p:sp>
        <p:nvSpPr>
          <p:cNvPr id="44" name="anim9_41"/>
          <p:cNvSpPr/>
          <p:nvPr/>
        </p:nvSpPr>
        <p:spPr>
          <a:xfrm>
            <a:off x="7726680" y="4608576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5" name="anim9_42"/>
          <p:cNvSpPr/>
          <p:nvPr/>
        </p:nvSpPr>
        <p:spPr>
          <a:xfrm>
            <a:off x="7909560" y="4828032"/>
            <a:ext cx="621792" cy="621792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46" name="anim9_4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71226" y="4989698"/>
            <a:ext cx="298460" cy="298460"/>
          </a:xfrm>
          <a:prstGeom prst="rect">
            <a:avLst/>
          </a:prstGeom>
        </p:spPr>
      </p:pic>
      <p:sp>
        <p:nvSpPr>
          <p:cNvPr id="47" name="anim9_44"/>
          <p:cNvSpPr txBox="1"/>
          <p:nvPr/>
        </p:nvSpPr>
        <p:spPr>
          <a:xfrm>
            <a:off x="8686800" y="4754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09</a:t>
            </a:r>
            <a:endParaRPr lang="en-US" sz="1300" dirty="0"/>
          </a:p>
        </p:txBody>
      </p:sp>
      <p:sp>
        <p:nvSpPr>
          <p:cNvPr id="48" name="anim9_45"/>
          <p:cNvSpPr txBox="1"/>
          <p:nvPr/>
        </p:nvSpPr>
        <p:spPr>
          <a:xfrm>
            <a:off x="8686800" y="504748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Conclusiones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8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2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6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400"/>
                            </p:stCondLst>
                            <p:childTnLst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2800"/>
                            </p:stCondLst>
                            <p:childTnLst>
                              <p:par>
                                <p:cTn id="1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32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La minería: una actividad de alto riesgo</a:t>
            </a:r>
            <a:endParaRPr lang="en-US" sz="3200" dirty="0"/>
          </a:p>
        </p:txBody>
      </p:sp>
      <p:sp>
        <p:nvSpPr>
          <p:cNvPr id="4" name="anim1_46"/>
          <p:cNvSpPr/>
          <p:nvPr/>
        </p:nvSpPr>
        <p:spPr>
          <a:xfrm>
            <a:off x="868680" y="201168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47"/>
          <p:cNvSpPr/>
          <p:nvPr/>
        </p:nvSpPr>
        <p:spPr>
          <a:xfrm>
            <a:off x="1737360" y="2240280"/>
            <a:ext cx="640080" cy="64008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6" name="anim1_4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781" y="2406701"/>
            <a:ext cx="307238" cy="307238"/>
          </a:xfrm>
          <a:prstGeom prst="rect">
            <a:avLst/>
          </a:prstGeom>
        </p:spPr>
      </p:pic>
      <p:sp>
        <p:nvSpPr>
          <p:cNvPr id="7" name="anim1_49"/>
          <p:cNvSpPr txBox="1"/>
          <p:nvPr/>
        </p:nvSpPr>
        <p:spPr>
          <a:xfrm>
            <a:off x="960120" y="2971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+120</a:t>
            </a:r>
            <a:endParaRPr lang="en-US" sz="3400" dirty="0"/>
          </a:p>
        </p:txBody>
      </p:sp>
      <p:sp>
        <p:nvSpPr>
          <p:cNvPr id="8" name="anim1_50"/>
          <p:cNvSpPr txBox="1"/>
          <p:nvPr/>
        </p:nvSpPr>
        <p:spPr>
          <a:xfrm>
            <a:off x="1051560" y="37033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emergencias mineras al año en Colombia (ANM, 2022)</a:t>
            </a:r>
            <a:endParaRPr lang="en-US" sz="1150" dirty="0"/>
          </a:p>
        </p:txBody>
      </p:sp>
      <p:sp>
        <p:nvSpPr>
          <p:cNvPr id="9" name="anim2_51"/>
          <p:cNvSpPr/>
          <p:nvPr/>
        </p:nvSpPr>
        <p:spPr>
          <a:xfrm>
            <a:off x="3447288" y="201168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anim2_52"/>
          <p:cNvSpPr/>
          <p:nvPr/>
        </p:nvSpPr>
        <p:spPr>
          <a:xfrm>
            <a:off x="4315968" y="2240280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1" name="anim2_5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2389" y="2406701"/>
            <a:ext cx="307238" cy="307238"/>
          </a:xfrm>
          <a:prstGeom prst="rect">
            <a:avLst/>
          </a:prstGeom>
        </p:spPr>
      </p:pic>
      <p:sp>
        <p:nvSpPr>
          <p:cNvPr id="12" name="anim2_54"/>
          <p:cNvSpPr txBox="1"/>
          <p:nvPr/>
        </p:nvSpPr>
        <p:spPr>
          <a:xfrm>
            <a:off x="3538728" y="2971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1.364</a:t>
            </a:r>
            <a:endParaRPr lang="en-US" sz="3400" dirty="0"/>
          </a:p>
        </p:txBody>
      </p:sp>
      <p:sp>
        <p:nvSpPr>
          <p:cNvPr id="13" name="anim2_55"/>
          <p:cNvSpPr txBox="1"/>
          <p:nvPr/>
        </p:nvSpPr>
        <p:spPr>
          <a:xfrm>
            <a:off x="3630168" y="37033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mineros fallecidos entre 2005 y 2018: uno cada 3,75 días</a:t>
            </a:r>
            <a:endParaRPr lang="en-US" sz="1150" dirty="0"/>
          </a:p>
        </p:txBody>
      </p:sp>
      <p:sp>
        <p:nvSpPr>
          <p:cNvPr id="14" name="anim3_56"/>
          <p:cNvSpPr/>
          <p:nvPr/>
        </p:nvSpPr>
        <p:spPr>
          <a:xfrm>
            <a:off x="6025896" y="201168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anim3_57"/>
          <p:cNvSpPr/>
          <p:nvPr/>
        </p:nvSpPr>
        <p:spPr>
          <a:xfrm>
            <a:off x="6894576" y="2240280"/>
            <a:ext cx="640080" cy="64008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6" name="anim3_5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0997" y="2406701"/>
            <a:ext cx="307238" cy="307238"/>
          </a:xfrm>
          <a:prstGeom prst="rect">
            <a:avLst/>
          </a:prstGeom>
        </p:spPr>
      </p:pic>
      <p:sp>
        <p:nvSpPr>
          <p:cNvPr id="17" name="anim3_59"/>
          <p:cNvSpPr txBox="1"/>
          <p:nvPr/>
        </p:nvSpPr>
        <p:spPr>
          <a:xfrm>
            <a:off x="6117336" y="2971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90 %</a:t>
            </a:r>
            <a:endParaRPr lang="en-US" sz="3400" dirty="0"/>
          </a:p>
        </p:txBody>
      </p:sp>
      <p:sp>
        <p:nvSpPr>
          <p:cNvPr id="18" name="anim3_60"/>
          <p:cNvSpPr txBox="1"/>
          <p:nvPr/>
        </p:nvSpPr>
        <p:spPr>
          <a:xfrm>
            <a:off x="6208776" y="37033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mineros artesanales en Antioquia expuestos a sílice por encima del límite</a:t>
            </a:r>
            <a:endParaRPr lang="en-US" sz="1150" dirty="0"/>
          </a:p>
        </p:txBody>
      </p:sp>
      <p:sp>
        <p:nvSpPr>
          <p:cNvPr id="19" name="anim4_61"/>
          <p:cNvSpPr/>
          <p:nvPr/>
        </p:nvSpPr>
        <p:spPr>
          <a:xfrm>
            <a:off x="8604504" y="201168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anim4_62"/>
          <p:cNvSpPr/>
          <p:nvPr/>
        </p:nvSpPr>
        <p:spPr>
          <a:xfrm>
            <a:off x="9473184" y="2240280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21" name="anim4_6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605" y="2406701"/>
            <a:ext cx="307238" cy="307238"/>
          </a:xfrm>
          <a:prstGeom prst="rect">
            <a:avLst/>
          </a:prstGeom>
        </p:spPr>
      </p:pic>
      <p:sp>
        <p:nvSpPr>
          <p:cNvPr id="22" name="anim4_64"/>
          <p:cNvSpPr txBox="1"/>
          <p:nvPr/>
        </p:nvSpPr>
        <p:spPr>
          <a:xfrm>
            <a:off x="8695944" y="2971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66.000</a:t>
            </a:r>
            <a:endParaRPr lang="en-US" sz="3400" dirty="0"/>
          </a:p>
        </p:txBody>
      </p:sp>
      <p:sp>
        <p:nvSpPr>
          <p:cNvPr id="23" name="anim4_65"/>
          <p:cNvSpPr txBox="1"/>
          <p:nvPr/>
        </p:nvSpPr>
        <p:spPr>
          <a:xfrm>
            <a:off x="8787384" y="37033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personas expuestas al mercurio en la minería de oro a pequeña escala</a:t>
            </a:r>
            <a:endParaRPr lang="en-US" sz="1150" dirty="0"/>
          </a:p>
        </p:txBody>
      </p:sp>
      <p:sp>
        <p:nvSpPr>
          <p:cNvPr id="24" name="anim5_66"/>
          <p:cNvSpPr txBox="1"/>
          <p:nvPr/>
        </p:nvSpPr>
        <p:spPr>
          <a:xfrm>
            <a:off x="868680" y="498348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21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Sutatausa (2023): </a:t>
            </a:r>
            <a:pPr indent="0" marL="0">
              <a:buNone/>
            </a:pPr>
            <a:r>
              <a:rPr lang="en-US" sz="140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 trabajadores fallecidos. Pese al Decreto 1886/2015 y al Decreto 2090/2003, persiste una brecha crítica entre la norma y su aplicación en los territorios.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8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2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6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Un problema de escala mundial</a:t>
            </a:r>
            <a:endParaRPr lang="en-US" sz="3200" dirty="0"/>
          </a:p>
        </p:txBody>
      </p:sp>
      <p:graphicFrame>
        <p:nvGraphicFramePr>
          <p:cNvPr id="4" name="anim1_chart" descr=""/>
          <p:cNvGraphicFramePr/>
          <p:nvPr/>
        </p:nvGraphicFramePr>
        <p:xfrm>
          <a:off x="868680" y="1920240"/>
          <a:ext cx="56692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anim2_67"/>
          <p:cNvSpPr/>
          <p:nvPr/>
        </p:nvSpPr>
        <p:spPr>
          <a:xfrm>
            <a:off x="6949440" y="201168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anim2_68"/>
          <p:cNvSpPr txBox="1"/>
          <p:nvPr/>
        </p:nvSpPr>
        <p:spPr>
          <a:xfrm>
            <a:off x="7132320" y="21488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~15.000</a:t>
            </a:r>
            <a:endParaRPr lang="en-US" sz="2600" dirty="0"/>
          </a:p>
        </p:txBody>
      </p:sp>
      <p:sp>
        <p:nvSpPr>
          <p:cNvPr id="7" name="anim2_69"/>
          <p:cNvSpPr txBox="1"/>
          <p:nvPr/>
        </p:nvSpPr>
        <p:spPr>
          <a:xfrm>
            <a:off x="8732520" y="2121408"/>
            <a:ext cx="21945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muertes de mineros al año en el mundo</a:t>
            </a:r>
            <a:endParaRPr lang="en-US" sz="1150" dirty="0"/>
          </a:p>
        </p:txBody>
      </p:sp>
      <p:sp>
        <p:nvSpPr>
          <p:cNvPr id="8" name="anim3_70"/>
          <p:cNvSpPr/>
          <p:nvPr/>
        </p:nvSpPr>
        <p:spPr>
          <a:xfrm>
            <a:off x="6949440" y="329184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nim3_71"/>
          <p:cNvSpPr txBox="1"/>
          <p:nvPr/>
        </p:nvSpPr>
        <p:spPr>
          <a:xfrm>
            <a:off x="7132320" y="342900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35</a:t>
            </a:r>
            <a:endParaRPr lang="en-US" sz="2600" dirty="0"/>
          </a:p>
        </p:txBody>
      </p:sp>
      <p:sp>
        <p:nvSpPr>
          <p:cNvPr id="10" name="anim3_72"/>
          <p:cNvSpPr txBox="1"/>
          <p:nvPr/>
        </p:nvSpPr>
        <p:spPr>
          <a:xfrm>
            <a:off x="8732520" y="3401568"/>
            <a:ext cx="21945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países han ratificado el Convenio 176 (1995)</a:t>
            </a:r>
            <a:endParaRPr lang="en-US" sz="1150" dirty="0"/>
          </a:p>
        </p:txBody>
      </p:sp>
      <p:sp>
        <p:nvSpPr>
          <p:cNvPr id="11" name="anim4_73"/>
          <p:cNvSpPr/>
          <p:nvPr/>
        </p:nvSpPr>
        <p:spPr>
          <a:xfrm>
            <a:off x="6949440" y="45720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7EEF3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anim4_74"/>
          <p:cNvSpPr txBox="1"/>
          <p:nvPr/>
        </p:nvSpPr>
        <p:spPr>
          <a:xfrm>
            <a:off x="7132320" y="47091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</a:t>
            </a:r>
            <a:endParaRPr lang="en-US" sz="2600" dirty="0"/>
          </a:p>
        </p:txBody>
      </p:sp>
      <p:sp>
        <p:nvSpPr>
          <p:cNvPr id="13" name="anim4_75"/>
          <p:cNvSpPr txBox="1"/>
          <p:nvPr/>
        </p:nvSpPr>
        <p:spPr>
          <a:xfrm>
            <a:off x="8732520" y="4681728"/>
            <a:ext cx="21945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los convenios clave (176, 102, 155, 187) ratificados por Colombia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Pregunta de investigación</a:t>
            </a:r>
            <a:endParaRPr lang="en-US" sz="3200" dirty="0"/>
          </a:p>
        </p:txBody>
      </p:sp>
      <p:sp>
        <p:nvSpPr>
          <p:cNvPr id="4" name="anim1_76"/>
          <p:cNvSpPr/>
          <p:nvPr/>
        </p:nvSpPr>
        <p:spPr>
          <a:xfrm>
            <a:off x="868680" y="1965960"/>
            <a:ext cx="10241280" cy="2148840"/>
          </a:xfrm>
          <a:prstGeom prst="roundRect">
            <a:avLst>
              <a:gd name="adj" fmla="val 5106"/>
            </a:avLst>
          </a:prstGeom>
          <a:solidFill>
            <a:srgbClr val="F7EEF3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77"/>
          <p:cNvSpPr/>
          <p:nvPr/>
        </p:nvSpPr>
        <p:spPr>
          <a:xfrm>
            <a:off x="1188720" y="2514600"/>
            <a:ext cx="1005840" cy="1005840"/>
          </a:xfrm>
          <a:prstGeom prst="ellipse">
            <a:avLst/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pic>
        <p:nvPicPr>
          <p:cNvPr id="6" name="anim1_7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238" y="2776118"/>
            <a:ext cx="482803" cy="482803"/>
          </a:xfrm>
          <a:prstGeom prst="rect">
            <a:avLst/>
          </a:prstGeom>
        </p:spPr>
      </p:pic>
      <p:sp>
        <p:nvSpPr>
          <p:cNvPr id="7" name="anim1_79"/>
          <p:cNvSpPr txBox="1"/>
          <p:nvPr/>
        </p:nvSpPr>
        <p:spPr>
          <a:xfrm>
            <a:off x="2514600" y="2103120"/>
            <a:ext cx="8321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¿En qué medida la normatividad colombiana sobre pensiones por riesgos laborales en minería cumple los estándares OIT de cobertura, acceso, suficiencia y equidad?</a:t>
            </a:r>
            <a:endParaRPr lang="en-US" sz="2100" dirty="0"/>
          </a:p>
        </p:txBody>
      </p:sp>
      <p:sp>
        <p:nvSpPr>
          <p:cNvPr id="8" name="anim2_80"/>
          <p:cNvSpPr/>
          <p:nvPr/>
        </p:nvSpPr>
        <p:spPr>
          <a:xfrm>
            <a:off x="868680" y="4526280"/>
            <a:ext cx="731520" cy="73152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9" name="anim2_8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4716475"/>
            <a:ext cx="351130" cy="351130"/>
          </a:xfrm>
          <a:prstGeom prst="rect">
            <a:avLst/>
          </a:prstGeom>
        </p:spPr>
      </p:pic>
      <p:sp>
        <p:nvSpPr>
          <p:cNvPr id="10" name="anim2_82"/>
          <p:cNvSpPr txBox="1"/>
          <p:nvPr/>
        </p:nvSpPr>
        <p:spPr>
          <a:xfrm>
            <a:off x="1737360" y="4526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Cobertura</a:t>
            </a:r>
            <a:endParaRPr lang="en-US" sz="1600" dirty="0"/>
          </a:p>
        </p:txBody>
      </p:sp>
      <p:sp>
        <p:nvSpPr>
          <p:cNvPr id="11" name="anim3_83"/>
          <p:cNvSpPr/>
          <p:nvPr/>
        </p:nvSpPr>
        <p:spPr>
          <a:xfrm>
            <a:off x="3474720" y="4526280"/>
            <a:ext cx="731520" cy="73152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2" name="anim3_8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915" y="4716475"/>
            <a:ext cx="351130" cy="351130"/>
          </a:xfrm>
          <a:prstGeom prst="rect">
            <a:avLst/>
          </a:prstGeom>
        </p:spPr>
      </p:pic>
      <p:sp>
        <p:nvSpPr>
          <p:cNvPr id="13" name="anim3_85"/>
          <p:cNvSpPr txBox="1"/>
          <p:nvPr/>
        </p:nvSpPr>
        <p:spPr>
          <a:xfrm>
            <a:off x="4343400" y="4526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Acceso</a:t>
            </a:r>
            <a:endParaRPr lang="en-US" sz="1600" dirty="0"/>
          </a:p>
        </p:txBody>
      </p:sp>
      <p:sp>
        <p:nvSpPr>
          <p:cNvPr id="14" name="anim4_86"/>
          <p:cNvSpPr/>
          <p:nvPr/>
        </p:nvSpPr>
        <p:spPr>
          <a:xfrm>
            <a:off x="6080760" y="4526280"/>
            <a:ext cx="731520" cy="73152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5" name="anim4_8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0955" y="4716475"/>
            <a:ext cx="351130" cy="351130"/>
          </a:xfrm>
          <a:prstGeom prst="rect">
            <a:avLst/>
          </a:prstGeom>
        </p:spPr>
      </p:pic>
      <p:sp>
        <p:nvSpPr>
          <p:cNvPr id="16" name="anim4_88"/>
          <p:cNvSpPr txBox="1"/>
          <p:nvPr/>
        </p:nvSpPr>
        <p:spPr>
          <a:xfrm>
            <a:off x="6949440" y="4526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Suficiencia</a:t>
            </a:r>
            <a:endParaRPr lang="en-US" sz="1600" dirty="0"/>
          </a:p>
        </p:txBody>
      </p:sp>
      <p:sp>
        <p:nvSpPr>
          <p:cNvPr id="17" name="anim5_89"/>
          <p:cNvSpPr/>
          <p:nvPr/>
        </p:nvSpPr>
        <p:spPr>
          <a:xfrm>
            <a:off x="8686800" y="4526280"/>
            <a:ext cx="731520" cy="73152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8" name="anim5_9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6995" y="4716475"/>
            <a:ext cx="351130" cy="351130"/>
          </a:xfrm>
          <a:prstGeom prst="rect">
            <a:avLst/>
          </a:prstGeom>
        </p:spPr>
      </p:pic>
      <p:sp>
        <p:nvSpPr>
          <p:cNvPr id="19" name="anim5_91"/>
          <p:cNvSpPr txBox="1"/>
          <p:nvPr/>
        </p:nvSpPr>
        <p:spPr>
          <a:xfrm>
            <a:off x="9555480" y="4526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Equidad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Objetivos</a:t>
            </a:r>
            <a:endParaRPr lang="en-US" sz="3200" dirty="0"/>
          </a:p>
        </p:txBody>
      </p:sp>
      <p:sp>
        <p:nvSpPr>
          <p:cNvPr id="4" name="anim1_92"/>
          <p:cNvSpPr/>
          <p:nvPr/>
        </p:nvSpPr>
        <p:spPr>
          <a:xfrm>
            <a:off x="868680" y="1920240"/>
            <a:ext cx="10241280" cy="1188720"/>
          </a:xfrm>
          <a:prstGeom prst="roundRect">
            <a:avLst>
              <a:gd name="adj" fmla="val 9231"/>
            </a:avLst>
          </a:prstGeom>
          <a:solidFill>
            <a:srgbClr val="F1ECF6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93"/>
          <p:cNvSpPr txBox="1"/>
          <p:nvPr/>
        </p:nvSpPr>
        <p:spPr>
          <a:xfrm>
            <a:off x="1143000" y="1993392"/>
            <a:ext cx="9692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469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 general  </a:t>
            </a:r>
            <a:pPr indent="0" marL="0">
              <a:buNone/>
            </a:pPr>
            <a:r>
              <a:rPr lang="en-US" sz="150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Analizar la convencionalidad de la normatividad nacional aplicable al régimen de pensiones por riesgos laborales de los trabajadores de la minería en Colombia a la luz de los estándares de la OIT.</a:t>
            </a:r>
            <a:endParaRPr lang="en-US" sz="1500" dirty="0"/>
          </a:p>
        </p:txBody>
      </p:sp>
      <p:sp>
        <p:nvSpPr>
          <p:cNvPr id="6" name="anim2_94"/>
          <p:cNvSpPr/>
          <p:nvPr/>
        </p:nvSpPr>
        <p:spPr>
          <a:xfrm>
            <a:off x="868680" y="3383280"/>
            <a:ext cx="32461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anim2_95"/>
          <p:cNvSpPr/>
          <p:nvPr/>
        </p:nvSpPr>
        <p:spPr>
          <a:xfrm>
            <a:off x="1097280" y="3611880"/>
            <a:ext cx="658368" cy="658368"/>
          </a:xfrm>
          <a:prstGeom prst="ellipse">
            <a:avLst/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pic>
        <p:nvPicPr>
          <p:cNvPr id="8" name="anim2_9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56" y="3783056"/>
            <a:ext cx="316017" cy="316017"/>
          </a:xfrm>
          <a:prstGeom prst="rect">
            <a:avLst/>
          </a:prstGeom>
        </p:spPr>
      </p:pic>
      <p:sp>
        <p:nvSpPr>
          <p:cNvPr id="9" name="anim2_97"/>
          <p:cNvSpPr txBox="1"/>
          <p:nvPr/>
        </p:nvSpPr>
        <p:spPr>
          <a:xfrm>
            <a:off x="3108960" y="35661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dirty="0">
                <a:solidFill>
                  <a:srgbClr val="E6DDE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</a:t>
            </a:r>
            <a:endParaRPr lang="en-US" sz="3000" dirty="0"/>
          </a:p>
        </p:txBody>
      </p:sp>
      <p:sp>
        <p:nvSpPr>
          <p:cNvPr id="10" name="anim2_98"/>
          <p:cNvSpPr txBox="1"/>
          <p:nvPr/>
        </p:nvSpPr>
        <p:spPr>
          <a:xfrm>
            <a:off x="1097280" y="4389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Caracterizar</a:t>
            </a:r>
            <a:endParaRPr lang="en-US" sz="1700" dirty="0"/>
          </a:p>
        </p:txBody>
      </p:sp>
      <p:sp>
        <p:nvSpPr>
          <p:cNvPr id="11" name="anim2_99"/>
          <p:cNvSpPr txBox="1"/>
          <p:nvPr/>
        </p:nvSpPr>
        <p:spPr>
          <a:xfrm>
            <a:off x="1097280" y="48006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régimen de pensiones por riesgos laborales vigente en el sector minero colombiano.</a:t>
            </a:r>
            <a:endParaRPr lang="en-US" sz="1200" dirty="0"/>
          </a:p>
        </p:txBody>
      </p:sp>
      <p:sp>
        <p:nvSpPr>
          <p:cNvPr id="12" name="anim3_100"/>
          <p:cNvSpPr/>
          <p:nvPr/>
        </p:nvSpPr>
        <p:spPr>
          <a:xfrm>
            <a:off x="4343400" y="3383280"/>
            <a:ext cx="32461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anim3_101"/>
          <p:cNvSpPr/>
          <p:nvPr/>
        </p:nvSpPr>
        <p:spPr>
          <a:xfrm>
            <a:off x="4572000" y="3611880"/>
            <a:ext cx="658368" cy="658368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4" name="anim3_10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176" y="3783056"/>
            <a:ext cx="316017" cy="316017"/>
          </a:xfrm>
          <a:prstGeom prst="rect">
            <a:avLst/>
          </a:prstGeom>
        </p:spPr>
      </p:pic>
      <p:sp>
        <p:nvSpPr>
          <p:cNvPr id="15" name="anim3_103"/>
          <p:cNvSpPr txBox="1"/>
          <p:nvPr/>
        </p:nvSpPr>
        <p:spPr>
          <a:xfrm>
            <a:off x="6583680" y="35661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dirty="0">
                <a:solidFill>
                  <a:srgbClr val="E6DDE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II</a:t>
            </a:r>
            <a:endParaRPr lang="en-US" sz="3000" dirty="0"/>
          </a:p>
        </p:txBody>
      </p:sp>
      <p:sp>
        <p:nvSpPr>
          <p:cNvPr id="16" name="anim3_104"/>
          <p:cNvSpPr txBox="1"/>
          <p:nvPr/>
        </p:nvSpPr>
        <p:spPr>
          <a:xfrm>
            <a:off x="4572000" y="4389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Examinar</a:t>
            </a:r>
            <a:endParaRPr lang="en-US" sz="1700" dirty="0"/>
          </a:p>
        </p:txBody>
      </p:sp>
      <p:sp>
        <p:nvSpPr>
          <p:cNvPr id="17" name="anim3_105"/>
          <p:cNvSpPr txBox="1"/>
          <p:nvPr/>
        </p:nvSpPr>
        <p:spPr>
          <a:xfrm>
            <a:off x="4572000" y="48006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los estándares de la OIT aplicables al régimen de pensiones por riesgos laborales en la minería.</a:t>
            </a:r>
            <a:endParaRPr lang="en-US" sz="1200" dirty="0"/>
          </a:p>
        </p:txBody>
      </p:sp>
      <p:sp>
        <p:nvSpPr>
          <p:cNvPr id="18" name="anim4_106"/>
          <p:cNvSpPr/>
          <p:nvPr/>
        </p:nvSpPr>
        <p:spPr>
          <a:xfrm>
            <a:off x="7818120" y="3383280"/>
            <a:ext cx="32461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anim4_107"/>
          <p:cNvSpPr/>
          <p:nvPr/>
        </p:nvSpPr>
        <p:spPr>
          <a:xfrm>
            <a:off x="8046720" y="3611880"/>
            <a:ext cx="658368" cy="658368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20" name="anim4_10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7896" y="3783056"/>
            <a:ext cx="316017" cy="316017"/>
          </a:xfrm>
          <a:prstGeom prst="rect">
            <a:avLst/>
          </a:prstGeom>
        </p:spPr>
      </p:pic>
      <p:sp>
        <p:nvSpPr>
          <p:cNvPr id="21" name="anim4_109"/>
          <p:cNvSpPr txBox="1"/>
          <p:nvPr/>
        </p:nvSpPr>
        <p:spPr>
          <a:xfrm>
            <a:off x="10058400" y="35661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dirty="0">
                <a:solidFill>
                  <a:srgbClr val="E6DDE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III</a:t>
            </a:r>
            <a:endParaRPr lang="en-US" sz="3000" dirty="0"/>
          </a:p>
        </p:txBody>
      </p:sp>
      <p:sp>
        <p:nvSpPr>
          <p:cNvPr id="22" name="anim4_110"/>
          <p:cNvSpPr txBox="1"/>
          <p:nvPr/>
        </p:nvSpPr>
        <p:spPr>
          <a:xfrm>
            <a:off x="8046720" y="4389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Comparar</a:t>
            </a:r>
            <a:endParaRPr lang="en-US" sz="1700" dirty="0"/>
          </a:p>
        </p:txBody>
      </p:sp>
      <p:sp>
        <p:nvSpPr>
          <p:cNvPr id="23" name="anim4_111"/>
          <p:cNvSpPr txBox="1"/>
          <p:nvPr/>
        </p:nvSpPr>
        <p:spPr>
          <a:xfrm>
            <a:off x="8046720" y="48006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norma colombiana aplicable a la actividad minera con los estándares establecidos por la OIT.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20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¿Por qué esta investigación?</a:t>
            </a:r>
            <a:endParaRPr lang="en-US" sz="3200" dirty="0"/>
          </a:p>
        </p:txBody>
      </p:sp>
      <p:sp>
        <p:nvSpPr>
          <p:cNvPr id="4" name="anim1_112"/>
          <p:cNvSpPr/>
          <p:nvPr/>
        </p:nvSpPr>
        <p:spPr>
          <a:xfrm>
            <a:off x="868680" y="1965960"/>
            <a:ext cx="3246120" cy="374904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113"/>
          <p:cNvSpPr/>
          <p:nvPr/>
        </p:nvSpPr>
        <p:spPr>
          <a:xfrm>
            <a:off x="2029968" y="2240280"/>
            <a:ext cx="914400" cy="914400"/>
          </a:xfrm>
          <a:prstGeom prst="ellipse">
            <a:avLst/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pic>
        <p:nvPicPr>
          <p:cNvPr id="6" name="anim1_1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712" y="2478024"/>
            <a:ext cx="438912" cy="438912"/>
          </a:xfrm>
          <a:prstGeom prst="rect">
            <a:avLst/>
          </a:prstGeom>
        </p:spPr>
      </p:pic>
      <p:sp>
        <p:nvSpPr>
          <p:cNvPr id="7" name="anim1_115"/>
          <p:cNvSpPr txBox="1"/>
          <p:nvPr/>
        </p:nvSpPr>
        <p:spPr>
          <a:xfrm>
            <a:off x="105156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Teórica</a:t>
            </a:r>
            <a:endParaRPr lang="en-US" sz="1800" dirty="0"/>
          </a:p>
        </p:txBody>
      </p:sp>
      <p:sp>
        <p:nvSpPr>
          <p:cNvPr id="8" name="anim1_116"/>
          <p:cNvSpPr txBox="1"/>
          <p:nvPr/>
        </p:nvSpPr>
        <p:spPr>
          <a:xfrm>
            <a:off x="1143000" y="384048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Los estudios de control de convencionalidad se han centrado en derechos humanos generales; existe un vacío en seguridad y salud en el trabajo minero.</a:t>
            </a:r>
            <a:endParaRPr lang="en-US" sz="1250" dirty="0"/>
          </a:p>
        </p:txBody>
      </p:sp>
      <p:sp>
        <p:nvSpPr>
          <p:cNvPr id="9" name="anim2_117"/>
          <p:cNvSpPr/>
          <p:nvPr/>
        </p:nvSpPr>
        <p:spPr>
          <a:xfrm>
            <a:off x="4343400" y="1965960"/>
            <a:ext cx="3246120" cy="374904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anim2_118"/>
          <p:cNvSpPr/>
          <p:nvPr/>
        </p:nvSpPr>
        <p:spPr>
          <a:xfrm>
            <a:off x="5504688" y="2240280"/>
            <a:ext cx="914400" cy="91440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1" name="anim2_1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2478024"/>
            <a:ext cx="438912" cy="438912"/>
          </a:xfrm>
          <a:prstGeom prst="rect">
            <a:avLst/>
          </a:prstGeom>
        </p:spPr>
      </p:pic>
      <p:sp>
        <p:nvSpPr>
          <p:cNvPr id="12" name="anim2_120"/>
          <p:cNvSpPr txBox="1"/>
          <p:nvPr/>
        </p:nvSpPr>
        <p:spPr>
          <a:xfrm>
            <a:off x="452628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Práctica</a:t>
            </a:r>
            <a:endParaRPr lang="en-US" sz="1800" dirty="0"/>
          </a:p>
        </p:txBody>
      </p:sp>
      <p:sp>
        <p:nvSpPr>
          <p:cNvPr id="13" name="anim2_121"/>
          <p:cNvSpPr txBox="1"/>
          <p:nvPr/>
        </p:nvSpPr>
        <p:spPr>
          <a:xfrm>
            <a:off x="4617720" y="384048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Correlacionar el grado de cumplimiento normativo con la efectividad real: leyes avanzadas en el papel no garantizan menos accidentes.</a:t>
            </a:r>
            <a:endParaRPr lang="en-US" sz="1250" dirty="0"/>
          </a:p>
        </p:txBody>
      </p:sp>
      <p:sp>
        <p:nvSpPr>
          <p:cNvPr id="14" name="anim3_122"/>
          <p:cNvSpPr/>
          <p:nvPr/>
        </p:nvSpPr>
        <p:spPr>
          <a:xfrm>
            <a:off x="7818120" y="1965960"/>
            <a:ext cx="3246120" cy="374904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anim3_123"/>
          <p:cNvSpPr/>
          <p:nvPr/>
        </p:nvSpPr>
        <p:spPr>
          <a:xfrm>
            <a:off x="8979408" y="2240280"/>
            <a:ext cx="914400" cy="91440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6" name="anim3_12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7152" y="2478024"/>
            <a:ext cx="438912" cy="438912"/>
          </a:xfrm>
          <a:prstGeom prst="rect">
            <a:avLst/>
          </a:prstGeom>
        </p:spPr>
      </p:pic>
      <p:sp>
        <p:nvSpPr>
          <p:cNvPr id="17" name="anim3_125"/>
          <p:cNvSpPr txBox="1"/>
          <p:nvPr/>
        </p:nvSpPr>
        <p:spPr>
          <a:xfrm>
            <a:off x="80010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Social</a:t>
            </a:r>
            <a:endParaRPr lang="en-US" sz="1800" dirty="0"/>
          </a:p>
        </p:txBody>
      </p:sp>
      <p:sp>
        <p:nvSpPr>
          <p:cNvPr id="18" name="anim3_126"/>
          <p:cNvSpPr txBox="1"/>
          <p:nvPr/>
        </p:nvSpPr>
        <p:spPr>
          <a:xfrm>
            <a:off x="8092440" y="384048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Aportar insumos para políticas públicas y para un régimen de seguridad social más equitativo y acorde con los compromisos internacionales.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8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Metodología</a:t>
            </a:r>
            <a:endParaRPr lang="en-US" sz="3200" dirty="0"/>
          </a:p>
        </p:txBody>
      </p:sp>
      <p:sp>
        <p:nvSpPr>
          <p:cNvPr id="4" name="anim1_127"/>
          <p:cNvSpPr/>
          <p:nvPr/>
        </p:nvSpPr>
        <p:spPr>
          <a:xfrm>
            <a:off x="1600200" y="1965960"/>
            <a:ext cx="914400" cy="91440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5" name="anim1_1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944" y="2203704"/>
            <a:ext cx="438912" cy="438912"/>
          </a:xfrm>
          <a:prstGeom prst="rect">
            <a:avLst/>
          </a:prstGeom>
        </p:spPr>
      </p:pic>
      <p:sp>
        <p:nvSpPr>
          <p:cNvPr id="6" name="anim1_129"/>
          <p:cNvSpPr/>
          <p:nvPr/>
        </p:nvSpPr>
        <p:spPr>
          <a:xfrm>
            <a:off x="2743200" y="2286000"/>
            <a:ext cx="502920" cy="274320"/>
          </a:xfrm>
          <a:prstGeom prst="rightArrow">
            <a:avLst/>
          </a:prstGeom>
          <a:solidFill>
            <a:srgbClr val="E6DDE3"/>
          </a:solidFill>
          <a:ln w="12700">
            <a:solidFill>
              <a:srgbClr val="E6DDE3"/>
            </a:solidFill>
            <a:prstDash val="solid"/>
          </a:ln>
        </p:spPr>
      </p:sp>
      <p:sp>
        <p:nvSpPr>
          <p:cNvPr id="7" name="anim1_130"/>
          <p:cNvSpPr txBox="1"/>
          <p:nvPr/>
        </p:nvSpPr>
        <p:spPr>
          <a:xfrm>
            <a:off x="86868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Enfoque</a:t>
            </a:r>
            <a:endParaRPr lang="en-US" sz="1500" dirty="0"/>
          </a:p>
        </p:txBody>
      </p:sp>
      <p:sp>
        <p:nvSpPr>
          <p:cNvPr id="8" name="anim1_131"/>
          <p:cNvSpPr txBox="1"/>
          <p:nvPr/>
        </p:nvSpPr>
        <p:spPr>
          <a:xfrm>
            <a:off x="960120" y="33375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Cualitativo, análisis doctrinal-jurídico</a:t>
            </a:r>
            <a:endParaRPr lang="en-US" sz="1150" dirty="0"/>
          </a:p>
        </p:txBody>
      </p:sp>
      <p:sp>
        <p:nvSpPr>
          <p:cNvPr id="9" name="anim2_132"/>
          <p:cNvSpPr/>
          <p:nvPr/>
        </p:nvSpPr>
        <p:spPr>
          <a:xfrm>
            <a:off x="4206240" y="1965960"/>
            <a:ext cx="914400" cy="91440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0" name="anim2_1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2203704"/>
            <a:ext cx="438912" cy="438912"/>
          </a:xfrm>
          <a:prstGeom prst="rect">
            <a:avLst/>
          </a:prstGeom>
        </p:spPr>
      </p:pic>
      <p:sp>
        <p:nvSpPr>
          <p:cNvPr id="11" name="anim2_134"/>
          <p:cNvSpPr/>
          <p:nvPr/>
        </p:nvSpPr>
        <p:spPr>
          <a:xfrm>
            <a:off x="5349240" y="2286000"/>
            <a:ext cx="502920" cy="274320"/>
          </a:xfrm>
          <a:prstGeom prst="rightArrow">
            <a:avLst/>
          </a:prstGeom>
          <a:solidFill>
            <a:srgbClr val="E6DDE3"/>
          </a:solidFill>
          <a:ln w="12700">
            <a:solidFill>
              <a:srgbClr val="E6DDE3"/>
            </a:solidFill>
            <a:prstDash val="solid"/>
          </a:ln>
        </p:spPr>
      </p:sp>
      <p:sp>
        <p:nvSpPr>
          <p:cNvPr id="12" name="anim2_135"/>
          <p:cNvSpPr txBox="1"/>
          <p:nvPr/>
        </p:nvSpPr>
        <p:spPr>
          <a:xfrm>
            <a:off x="347472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Alcance</a:t>
            </a:r>
            <a:endParaRPr lang="en-US" sz="1500" dirty="0"/>
          </a:p>
        </p:txBody>
      </p:sp>
      <p:sp>
        <p:nvSpPr>
          <p:cNvPr id="13" name="anim2_136"/>
          <p:cNvSpPr txBox="1"/>
          <p:nvPr/>
        </p:nvSpPr>
        <p:spPr>
          <a:xfrm>
            <a:off x="3566160" y="33375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Descriptivo y explicativo</a:t>
            </a:r>
            <a:endParaRPr lang="en-US" sz="1150" dirty="0"/>
          </a:p>
        </p:txBody>
      </p:sp>
      <p:sp>
        <p:nvSpPr>
          <p:cNvPr id="14" name="anim3_137"/>
          <p:cNvSpPr/>
          <p:nvPr/>
        </p:nvSpPr>
        <p:spPr>
          <a:xfrm>
            <a:off x="6812280" y="1965960"/>
            <a:ext cx="914400" cy="91440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5" name="anim3_13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0024" y="2203704"/>
            <a:ext cx="438912" cy="438912"/>
          </a:xfrm>
          <a:prstGeom prst="rect">
            <a:avLst/>
          </a:prstGeom>
        </p:spPr>
      </p:pic>
      <p:sp>
        <p:nvSpPr>
          <p:cNvPr id="16" name="anim3_139"/>
          <p:cNvSpPr/>
          <p:nvPr/>
        </p:nvSpPr>
        <p:spPr>
          <a:xfrm>
            <a:off x="7955280" y="2286000"/>
            <a:ext cx="502920" cy="274320"/>
          </a:xfrm>
          <a:prstGeom prst="rightArrow">
            <a:avLst/>
          </a:prstGeom>
          <a:solidFill>
            <a:srgbClr val="E6DDE3"/>
          </a:solidFill>
          <a:ln w="12700">
            <a:solidFill>
              <a:srgbClr val="E6DDE3"/>
            </a:solidFill>
            <a:prstDash val="solid"/>
          </a:ln>
        </p:spPr>
      </p:sp>
      <p:sp>
        <p:nvSpPr>
          <p:cNvPr id="17" name="anim3_140"/>
          <p:cNvSpPr txBox="1"/>
          <p:nvPr/>
        </p:nvSpPr>
        <p:spPr>
          <a:xfrm>
            <a:off x="60807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Diseño</a:t>
            </a:r>
            <a:endParaRPr lang="en-US" sz="1500" dirty="0"/>
          </a:p>
        </p:txBody>
      </p:sp>
      <p:sp>
        <p:nvSpPr>
          <p:cNvPr id="18" name="anim3_141"/>
          <p:cNvSpPr txBox="1"/>
          <p:nvPr/>
        </p:nvSpPr>
        <p:spPr>
          <a:xfrm>
            <a:off x="6172200" y="33375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Documental, jurídico y comparativo</a:t>
            </a:r>
            <a:endParaRPr lang="en-US" sz="1150" dirty="0"/>
          </a:p>
        </p:txBody>
      </p:sp>
      <p:sp>
        <p:nvSpPr>
          <p:cNvPr id="19" name="anim4_142"/>
          <p:cNvSpPr/>
          <p:nvPr/>
        </p:nvSpPr>
        <p:spPr>
          <a:xfrm>
            <a:off x="9418320" y="1965960"/>
            <a:ext cx="914400" cy="91440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20" name="anim4_1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6064" y="2203704"/>
            <a:ext cx="438912" cy="438912"/>
          </a:xfrm>
          <a:prstGeom prst="rect">
            <a:avLst/>
          </a:prstGeom>
        </p:spPr>
      </p:pic>
      <p:sp>
        <p:nvSpPr>
          <p:cNvPr id="21" name="anim4_144"/>
          <p:cNvSpPr txBox="1"/>
          <p:nvPr/>
        </p:nvSpPr>
        <p:spPr>
          <a:xfrm>
            <a:off x="868680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Técnica</a:t>
            </a:r>
            <a:endParaRPr lang="en-US" sz="1500" dirty="0"/>
          </a:p>
        </p:txBody>
      </p:sp>
      <p:sp>
        <p:nvSpPr>
          <p:cNvPr id="22" name="anim4_145"/>
          <p:cNvSpPr txBox="1"/>
          <p:nvPr/>
        </p:nvSpPr>
        <p:spPr>
          <a:xfrm>
            <a:off x="8778240" y="33375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Revisión documental sistemática</a:t>
            </a:r>
            <a:endParaRPr lang="en-US" sz="1150" dirty="0"/>
          </a:p>
        </p:txBody>
      </p:sp>
      <p:sp>
        <p:nvSpPr>
          <p:cNvPr id="23" name="anim5_146"/>
          <p:cNvSpPr/>
          <p:nvPr/>
        </p:nvSpPr>
        <p:spPr>
          <a:xfrm>
            <a:off x="868680" y="4206240"/>
            <a:ext cx="4983480" cy="1691640"/>
          </a:xfrm>
          <a:prstGeom prst="roundRect">
            <a:avLst>
              <a:gd name="adj" fmla="val 6486"/>
            </a:avLst>
          </a:prstGeom>
          <a:solidFill>
            <a:srgbClr val="F7EEF3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anim5_147"/>
          <p:cNvSpPr txBox="1"/>
          <p:nvPr/>
        </p:nvSpPr>
        <p:spPr>
          <a:xfrm>
            <a:off x="1097280" y="4315968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721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Fuentes primarias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Ley 100/1993, Ley 1562/2012, Decreto 1295/1994, Decreto 2090/2003, convenios OIT y jurisprudencia de la Corte Constitucional, la Corte Suprema y el Consejo de Estado.</a:t>
            </a:r>
            <a:endParaRPr lang="en-US" sz="1200" dirty="0"/>
          </a:p>
        </p:txBody>
      </p:sp>
      <p:sp>
        <p:nvSpPr>
          <p:cNvPr id="25" name="anim6_148"/>
          <p:cNvSpPr/>
          <p:nvPr/>
        </p:nvSpPr>
        <p:spPr>
          <a:xfrm>
            <a:off x="6126480" y="4206240"/>
            <a:ext cx="4983480" cy="1691640"/>
          </a:xfrm>
          <a:prstGeom prst="roundRect">
            <a:avLst>
              <a:gd name="adj" fmla="val 6486"/>
            </a:avLst>
          </a:prstGeom>
          <a:solidFill>
            <a:srgbClr val="F1ECF6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anim6_149"/>
          <p:cNvSpPr txBox="1"/>
          <p:nvPr/>
        </p:nvSpPr>
        <p:spPr>
          <a:xfrm>
            <a:off x="6355080" y="4315968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E469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Fuentes secundarias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Doctrina especializada, artículos indexados, tesis, informes técnicos de la OIT, la ANM y observatorios laborales.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8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2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6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0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1_150"/>
          <p:cNvSpPr txBox="1"/>
          <p:nvPr/>
        </p:nvSpPr>
        <p:spPr>
          <a:xfrm>
            <a:off x="868680" y="155448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anim2_151"/>
          <p:cNvSpPr txBox="1"/>
          <p:nvPr/>
        </p:nvSpPr>
        <p:spPr>
          <a:xfrm>
            <a:off x="4754880" y="22402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E469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</a:t>
            </a:r>
            <a:endParaRPr lang="en-US" sz="1600" dirty="0"/>
          </a:p>
        </p:txBody>
      </p:sp>
      <p:sp>
        <p:nvSpPr>
          <p:cNvPr id="4" name="anim2_152"/>
          <p:cNvSpPr txBox="1"/>
          <p:nvPr/>
        </p:nvSpPr>
        <p:spPr>
          <a:xfrm>
            <a:off x="4754880" y="265176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Caracterización del régimen colombiano</a:t>
            </a:r>
            <a:endParaRPr lang="en-US" sz="3000" dirty="0"/>
          </a:p>
        </p:txBody>
      </p:sp>
      <p:sp>
        <p:nvSpPr>
          <p:cNvPr id="5" name="anim3_153"/>
          <p:cNvSpPr txBox="1"/>
          <p:nvPr/>
        </p:nvSpPr>
        <p:spPr>
          <a:xfrm>
            <a:off x="4754880" y="39776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Pensión especial de vejez por actividades de alto riesgo: evolución, normas vigentes y jurisprudencia.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Evolución normativa del régimen</a:t>
            </a:r>
            <a:endParaRPr lang="en-US" sz="3200" dirty="0"/>
          </a:p>
        </p:txBody>
      </p:sp>
      <p:sp>
        <p:nvSpPr>
          <p:cNvPr id="4" name="anim1_154"/>
          <p:cNvSpPr/>
          <p:nvPr/>
        </p:nvSpPr>
        <p:spPr>
          <a:xfrm>
            <a:off x="1097280" y="3611880"/>
            <a:ext cx="9418320" cy="0"/>
          </a:xfrm>
          <a:prstGeom prst="line">
            <a:avLst/>
          </a:prstGeom>
          <a:noFill/>
          <a:ln w="38100">
            <a:solidFill>
              <a:srgbClr val="E6DDE3"/>
            </a:solidFill>
            <a:prstDash val="solid"/>
          </a:ln>
        </p:spPr>
      </p:sp>
      <p:sp>
        <p:nvSpPr>
          <p:cNvPr id="5" name="anim2_155"/>
          <p:cNvSpPr/>
          <p:nvPr/>
        </p:nvSpPr>
        <p:spPr>
          <a:xfrm>
            <a:off x="978408" y="3493008"/>
            <a:ext cx="237744" cy="237744"/>
          </a:xfrm>
          <a:prstGeom prst="ellipse">
            <a:avLst/>
          </a:prstGeom>
          <a:solidFill>
            <a:srgbClr val="C721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anim2_156"/>
          <p:cNvSpPr txBox="1"/>
          <p:nvPr/>
        </p:nvSpPr>
        <p:spPr>
          <a:xfrm>
            <a:off x="457200" y="30449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1966</a:t>
            </a:r>
            <a:endParaRPr lang="en-US" sz="1700" dirty="0"/>
          </a:p>
        </p:txBody>
      </p:sp>
      <p:sp>
        <p:nvSpPr>
          <p:cNvPr id="7" name="anim2_157"/>
          <p:cNvSpPr txBox="1"/>
          <p:nvPr/>
        </p:nvSpPr>
        <p:spPr>
          <a:xfrm>
            <a:off x="320040" y="178308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Decreto 3041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Primera regulación de la pensión especial</a:t>
            </a:r>
            <a:endParaRPr lang="en-US" sz="1050" dirty="0"/>
          </a:p>
        </p:txBody>
      </p:sp>
      <p:sp>
        <p:nvSpPr>
          <p:cNvPr id="8" name="anim3_158"/>
          <p:cNvSpPr/>
          <p:nvPr/>
        </p:nvSpPr>
        <p:spPr>
          <a:xfrm>
            <a:off x="2323882" y="3493008"/>
            <a:ext cx="237744" cy="237744"/>
          </a:xfrm>
          <a:prstGeom prst="ellipse">
            <a:avLst/>
          </a:prstGeom>
          <a:solidFill>
            <a:srgbClr val="C721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nim3_159"/>
          <p:cNvSpPr txBox="1"/>
          <p:nvPr/>
        </p:nvSpPr>
        <p:spPr>
          <a:xfrm>
            <a:off x="1802674" y="3794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1990</a:t>
            </a:r>
            <a:endParaRPr lang="en-US" sz="1700" dirty="0"/>
          </a:p>
        </p:txBody>
      </p:sp>
      <p:sp>
        <p:nvSpPr>
          <p:cNvPr id="10" name="anim3_160"/>
          <p:cNvSpPr txBox="1"/>
          <p:nvPr/>
        </p:nvSpPr>
        <p:spPr>
          <a:xfrm>
            <a:off x="1665514" y="420624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Decreto 758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Ajusta requisitos de acceso</a:t>
            </a:r>
            <a:endParaRPr lang="en-US" sz="1050" dirty="0"/>
          </a:p>
        </p:txBody>
      </p:sp>
      <p:sp>
        <p:nvSpPr>
          <p:cNvPr id="11" name="anim4_161"/>
          <p:cNvSpPr/>
          <p:nvPr/>
        </p:nvSpPr>
        <p:spPr>
          <a:xfrm>
            <a:off x="3669357" y="3493008"/>
            <a:ext cx="237744" cy="237744"/>
          </a:xfrm>
          <a:prstGeom prst="ellipse">
            <a:avLst/>
          </a:prstGeom>
          <a:solidFill>
            <a:srgbClr val="C721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nim4_162"/>
          <p:cNvSpPr txBox="1"/>
          <p:nvPr/>
        </p:nvSpPr>
        <p:spPr>
          <a:xfrm>
            <a:off x="3148149" y="30449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1993</a:t>
            </a:r>
            <a:endParaRPr lang="en-US" sz="1700" dirty="0"/>
          </a:p>
        </p:txBody>
      </p:sp>
      <p:sp>
        <p:nvSpPr>
          <p:cNvPr id="13" name="anim4_163"/>
          <p:cNvSpPr txBox="1"/>
          <p:nvPr/>
        </p:nvSpPr>
        <p:spPr>
          <a:xfrm>
            <a:off x="3010989" y="178308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Ley 100, art. 139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Faculta al Gobierno para definir las actividades de alto riesgo</a:t>
            </a:r>
            <a:endParaRPr lang="en-US" sz="1050" dirty="0"/>
          </a:p>
        </p:txBody>
      </p:sp>
      <p:sp>
        <p:nvSpPr>
          <p:cNvPr id="14" name="anim5_164"/>
          <p:cNvSpPr/>
          <p:nvPr/>
        </p:nvSpPr>
        <p:spPr>
          <a:xfrm>
            <a:off x="5014831" y="3493008"/>
            <a:ext cx="237744" cy="237744"/>
          </a:xfrm>
          <a:prstGeom prst="ellipse">
            <a:avLst/>
          </a:prstGeom>
          <a:solidFill>
            <a:srgbClr val="C721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anim5_165"/>
          <p:cNvSpPr txBox="1"/>
          <p:nvPr/>
        </p:nvSpPr>
        <p:spPr>
          <a:xfrm>
            <a:off x="4493623" y="3794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1994</a:t>
            </a:r>
            <a:endParaRPr lang="en-US" sz="1700" dirty="0"/>
          </a:p>
        </p:txBody>
      </p:sp>
      <p:sp>
        <p:nvSpPr>
          <p:cNvPr id="16" name="anim5_166"/>
          <p:cNvSpPr txBox="1"/>
          <p:nvPr/>
        </p:nvSpPr>
        <p:spPr>
          <a:xfrm>
            <a:off x="4356463" y="420624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Dec. 1281 y 1835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Regímenes para el sector privado y el público</a:t>
            </a:r>
            <a:endParaRPr lang="en-US" sz="1050" dirty="0"/>
          </a:p>
        </p:txBody>
      </p:sp>
      <p:sp>
        <p:nvSpPr>
          <p:cNvPr id="17" name="anim6_167"/>
          <p:cNvSpPr/>
          <p:nvPr/>
        </p:nvSpPr>
        <p:spPr>
          <a:xfrm>
            <a:off x="6360305" y="3493008"/>
            <a:ext cx="237744" cy="237744"/>
          </a:xfrm>
          <a:prstGeom prst="ellipse">
            <a:avLst/>
          </a:prstGeom>
          <a:solidFill>
            <a:srgbClr val="7E469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anim6_168"/>
          <p:cNvSpPr txBox="1"/>
          <p:nvPr/>
        </p:nvSpPr>
        <p:spPr>
          <a:xfrm>
            <a:off x="5839097" y="30449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2003</a:t>
            </a:r>
            <a:endParaRPr lang="en-US" sz="1700" dirty="0"/>
          </a:p>
        </p:txBody>
      </p:sp>
      <p:sp>
        <p:nvSpPr>
          <p:cNvPr id="19" name="anim6_169"/>
          <p:cNvSpPr txBox="1"/>
          <p:nvPr/>
        </p:nvSpPr>
        <p:spPr>
          <a:xfrm>
            <a:off x="5701937" y="178308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Ley 797 · DL 2090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Unifica el régimen y fija la lista taxativa</a:t>
            </a:r>
            <a:endParaRPr lang="en-US" sz="1050" dirty="0"/>
          </a:p>
        </p:txBody>
      </p:sp>
      <p:sp>
        <p:nvSpPr>
          <p:cNvPr id="20" name="anim7_170"/>
          <p:cNvSpPr/>
          <p:nvPr/>
        </p:nvSpPr>
        <p:spPr>
          <a:xfrm>
            <a:off x="7705779" y="3493008"/>
            <a:ext cx="237744" cy="237744"/>
          </a:xfrm>
          <a:prstGeom prst="ellipse">
            <a:avLst/>
          </a:prstGeom>
          <a:solidFill>
            <a:srgbClr val="7E469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anim7_171"/>
          <p:cNvSpPr txBox="1"/>
          <p:nvPr/>
        </p:nvSpPr>
        <p:spPr>
          <a:xfrm>
            <a:off x="7184571" y="3794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2014</a:t>
            </a:r>
            <a:endParaRPr lang="en-US" sz="1700" dirty="0"/>
          </a:p>
        </p:txBody>
      </p:sp>
      <p:sp>
        <p:nvSpPr>
          <p:cNvPr id="22" name="anim7_172"/>
          <p:cNvSpPr txBox="1"/>
          <p:nvPr/>
        </p:nvSpPr>
        <p:spPr>
          <a:xfrm>
            <a:off x="7047411" y="420624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Decreto 2655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Prorroga la vigencia hasta 2024</a:t>
            </a:r>
            <a:endParaRPr lang="en-US" sz="1050" dirty="0"/>
          </a:p>
        </p:txBody>
      </p:sp>
      <p:sp>
        <p:nvSpPr>
          <p:cNvPr id="23" name="anim8_173"/>
          <p:cNvSpPr/>
          <p:nvPr/>
        </p:nvSpPr>
        <p:spPr>
          <a:xfrm>
            <a:off x="9051254" y="3493008"/>
            <a:ext cx="237744" cy="237744"/>
          </a:xfrm>
          <a:prstGeom prst="ellipse">
            <a:avLst/>
          </a:prstGeom>
          <a:solidFill>
            <a:srgbClr val="7E469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anim8_174"/>
          <p:cNvSpPr txBox="1"/>
          <p:nvPr/>
        </p:nvSpPr>
        <p:spPr>
          <a:xfrm>
            <a:off x="8530046" y="30449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2015</a:t>
            </a:r>
            <a:endParaRPr lang="en-US" sz="1700" dirty="0"/>
          </a:p>
        </p:txBody>
      </p:sp>
      <p:sp>
        <p:nvSpPr>
          <p:cNvPr id="25" name="anim8_175"/>
          <p:cNvSpPr txBox="1"/>
          <p:nvPr/>
        </p:nvSpPr>
        <p:spPr>
          <a:xfrm>
            <a:off x="8392886" y="178308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Decreto 1886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Reglamento de seguridad minera subterránea</a:t>
            </a:r>
            <a:endParaRPr lang="en-US" sz="1050" dirty="0"/>
          </a:p>
        </p:txBody>
      </p:sp>
      <p:sp>
        <p:nvSpPr>
          <p:cNvPr id="26" name="anim9_176"/>
          <p:cNvSpPr/>
          <p:nvPr/>
        </p:nvSpPr>
        <p:spPr>
          <a:xfrm>
            <a:off x="10396728" y="3493008"/>
            <a:ext cx="237744" cy="237744"/>
          </a:xfrm>
          <a:prstGeom prst="ellipse">
            <a:avLst/>
          </a:prstGeom>
          <a:solidFill>
            <a:srgbClr val="7E469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anim9_177"/>
          <p:cNvSpPr txBox="1"/>
          <p:nvPr/>
        </p:nvSpPr>
        <p:spPr>
          <a:xfrm>
            <a:off x="9875520" y="3794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2024</a:t>
            </a:r>
            <a:endParaRPr lang="en-US" sz="1700" dirty="0"/>
          </a:p>
        </p:txBody>
      </p:sp>
      <p:sp>
        <p:nvSpPr>
          <p:cNvPr id="28" name="anim9_178"/>
          <p:cNvSpPr txBox="1"/>
          <p:nvPr/>
        </p:nvSpPr>
        <p:spPr>
          <a:xfrm>
            <a:off x="9738360" y="420624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Res. 6072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Protege derechos adquiridos y en curso</a:t>
            </a:r>
            <a:endParaRPr lang="en-US" sz="10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6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4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28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200"/>
                            </p:stCondLst>
                            <p:childTnLst>
                              <p:par>
                                <p:cTn id="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Decreto Ley 2090 de 2003 en cifras</a:t>
            </a:r>
            <a:endParaRPr lang="en-US" sz="3200" dirty="0"/>
          </a:p>
        </p:txBody>
      </p:sp>
      <p:sp>
        <p:nvSpPr>
          <p:cNvPr id="4" name="anim1_179"/>
          <p:cNvSpPr/>
          <p:nvPr/>
        </p:nvSpPr>
        <p:spPr>
          <a:xfrm>
            <a:off x="868680" y="196596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180"/>
          <p:cNvSpPr txBox="1"/>
          <p:nvPr/>
        </p:nvSpPr>
        <p:spPr>
          <a:xfrm>
            <a:off x="1051560" y="2103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55</a:t>
            </a:r>
            <a:endParaRPr lang="en-US" sz="3800" dirty="0"/>
          </a:p>
        </p:txBody>
      </p:sp>
      <p:sp>
        <p:nvSpPr>
          <p:cNvPr id="6" name="anim1_181"/>
          <p:cNvSpPr txBox="1"/>
          <p:nvPr/>
        </p:nvSpPr>
        <p:spPr>
          <a:xfrm>
            <a:off x="3063240" y="21031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años de edad mínima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reducible hasta 50 (1 año menos por cada 60 semanas extra)</a:t>
            </a:r>
            <a:endParaRPr lang="en-US" sz="1500" dirty="0"/>
          </a:p>
        </p:txBody>
      </p:sp>
      <p:sp>
        <p:nvSpPr>
          <p:cNvPr id="7" name="anim2_182"/>
          <p:cNvSpPr/>
          <p:nvPr/>
        </p:nvSpPr>
        <p:spPr>
          <a:xfrm>
            <a:off x="6035040" y="196596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anim2_183"/>
          <p:cNvSpPr txBox="1"/>
          <p:nvPr/>
        </p:nvSpPr>
        <p:spPr>
          <a:xfrm>
            <a:off x="6217920" y="2103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700</a:t>
            </a:r>
            <a:endParaRPr lang="en-US" sz="3800" dirty="0"/>
          </a:p>
        </p:txBody>
      </p:sp>
      <p:sp>
        <p:nvSpPr>
          <p:cNvPr id="9" name="anim2_184"/>
          <p:cNvSpPr txBox="1"/>
          <p:nvPr/>
        </p:nvSpPr>
        <p:spPr>
          <a:xfrm>
            <a:off x="8229600" y="21031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semanas en alto riesgo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14 años de labor, continuas o no</a:t>
            </a:r>
            <a:endParaRPr lang="en-US" sz="1500" dirty="0"/>
          </a:p>
        </p:txBody>
      </p:sp>
      <p:sp>
        <p:nvSpPr>
          <p:cNvPr id="10" name="anim3_185"/>
          <p:cNvSpPr/>
          <p:nvPr/>
        </p:nvSpPr>
        <p:spPr>
          <a:xfrm>
            <a:off x="868680" y="356616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anim3_186"/>
          <p:cNvSpPr txBox="1"/>
          <p:nvPr/>
        </p:nvSpPr>
        <p:spPr>
          <a:xfrm>
            <a:off x="1051560" y="37033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1.300</a:t>
            </a:r>
            <a:endParaRPr lang="en-US" sz="3800" dirty="0"/>
          </a:p>
        </p:txBody>
      </p:sp>
      <p:sp>
        <p:nvSpPr>
          <p:cNvPr id="12" name="anim3_187"/>
          <p:cNvSpPr txBox="1"/>
          <p:nvPr/>
        </p:nvSpPr>
        <p:spPr>
          <a:xfrm>
            <a:off x="3063240" y="37033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semanas totales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igual que el régimen general desde 2015</a:t>
            </a:r>
            <a:endParaRPr lang="en-US" sz="1500" dirty="0"/>
          </a:p>
        </p:txBody>
      </p:sp>
      <p:sp>
        <p:nvSpPr>
          <p:cNvPr id="13" name="anim4_188"/>
          <p:cNvSpPr/>
          <p:nvPr/>
        </p:nvSpPr>
        <p:spPr>
          <a:xfrm>
            <a:off x="6035040" y="356616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anim4_189"/>
          <p:cNvSpPr txBox="1"/>
          <p:nvPr/>
        </p:nvSpPr>
        <p:spPr>
          <a:xfrm>
            <a:off x="6217920" y="37033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+10 %</a:t>
            </a:r>
            <a:endParaRPr lang="en-US" sz="3800" dirty="0"/>
          </a:p>
        </p:txBody>
      </p:sp>
      <p:sp>
        <p:nvSpPr>
          <p:cNvPr id="15" name="anim4_190"/>
          <p:cNvSpPr txBox="1"/>
          <p:nvPr/>
        </p:nvSpPr>
        <p:spPr>
          <a:xfrm>
            <a:off x="8229600" y="37033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cotización del empleador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aporte adicional sobre el salario</a:t>
            </a:r>
            <a:endParaRPr lang="en-US" sz="1500" dirty="0"/>
          </a:p>
        </p:txBody>
      </p:sp>
      <p:sp>
        <p:nvSpPr>
          <p:cNvPr id="16" name="anim5_191"/>
          <p:cNvSpPr/>
          <p:nvPr/>
        </p:nvSpPr>
        <p:spPr>
          <a:xfrm>
            <a:off x="868680" y="5212080"/>
            <a:ext cx="10104120" cy="731520"/>
          </a:xfrm>
          <a:prstGeom prst="roundRect">
            <a:avLst>
              <a:gd name="adj" fmla="val 15000"/>
            </a:avLst>
          </a:prstGeom>
          <a:solidFill>
            <a:srgbClr val="F7EEF3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anim5_19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5376672"/>
            <a:ext cx="402336" cy="402336"/>
          </a:xfrm>
          <a:prstGeom prst="rect">
            <a:avLst/>
          </a:prstGeom>
        </p:spPr>
      </p:pic>
      <p:sp>
        <p:nvSpPr>
          <p:cNvPr id="18" name="anim5_193"/>
          <p:cNvSpPr txBox="1"/>
          <p:nvPr/>
        </p:nvSpPr>
        <p:spPr>
          <a:xfrm>
            <a:off x="1691640" y="5257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1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Límite temporal: </a:t>
            </a:r>
            <a:pPr indent="0" marL="0">
              <a:buNone/>
            </a:pPr>
            <a:r>
              <a:rPr lang="en-US" sz="130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solo admitió nuevos afiliados hasta el 31 de diciembre de 2024 y cubre únicamente la minería en socavón o subterránea.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6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Jurisprudencia constitucional</a:t>
            </a:r>
            <a:endParaRPr lang="en-US" sz="3200" dirty="0"/>
          </a:p>
        </p:txBody>
      </p:sp>
      <p:sp>
        <p:nvSpPr>
          <p:cNvPr id="4" name="anim1_194"/>
          <p:cNvSpPr/>
          <p:nvPr/>
        </p:nvSpPr>
        <p:spPr>
          <a:xfrm>
            <a:off x="868680" y="1965960"/>
            <a:ext cx="32004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195"/>
          <p:cNvSpPr/>
          <p:nvPr/>
        </p:nvSpPr>
        <p:spPr>
          <a:xfrm>
            <a:off x="1051560" y="21122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sp>
        <p:nvSpPr>
          <p:cNvPr id="6" name="anim1_196"/>
          <p:cNvSpPr txBox="1"/>
          <p:nvPr/>
        </p:nvSpPr>
        <p:spPr>
          <a:xfrm>
            <a:off x="1051560" y="211226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C-663/2007</a:t>
            </a:r>
            <a:endParaRPr lang="en-US" sz="1050" dirty="0"/>
          </a:p>
        </p:txBody>
      </p:sp>
      <p:sp>
        <p:nvSpPr>
          <p:cNvPr id="7" name="anim1_197"/>
          <p:cNvSpPr txBox="1"/>
          <p:nvPr/>
        </p:nvSpPr>
        <p:spPr>
          <a:xfrm>
            <a:off x="1051560" y="2441448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Régimen de transición: se suman semanas de cualquier actividad de alto riesgo.</a:t>
            </a:r>
            <a:endParaRPr lang="en-US" sz="1050" dirty="0"/>
          </a:p>
        </p:txBody>
      </p:sp>
      <p:sp>
        <p:nvSpPr>
          <p:cNvPr id="8" name="anim2_198"/>
          <p:cNvSpPr/>
          <p:nvPr/>
        </p:nvSpPr>
        <p:spPr>
          <a:xfrm>
            <a:off x="4251960" y="1965960"/>
            <a:ext cx="32004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nim2_199"/>
          <p:cNvSpPr/>
          <p:nvPr/>
        </p:nvSpPr>
        <p:spPr>
          <a:xfrm>
            <a:off x="4434840" y="21122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sp>
        <p:nvSpPr>
          <p:cNvPr id="10" name="anim2_200"/>
          <p:cNvSpPr txBox="1"/>
          <p:nvPr/>
        </p:nvSpPr>
        <p:spPr>
          <a:xfrm>
            <a:off x="4434840" y="211226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C-030/2009</a:t>
            </a:r>
            <a:endParaRPr lang="en-US" sz="1050" dirty="0"/>
          </a:p>
        </p:txBody>
      </p:sp>
      <p:sp>
        <p:nvSpPr>
          <p:cNvPr id="11" name="anim2_201"/>
          <p:cNvSpPr txBox="1"/>
          <p:nvPr/>
        </p:nvSpPr>
        <p:spPr>
          <a:xfrm>
            <a:off x="4434840" y="2441448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Traslado RAIS → régimen público: reabre el plazo y protege el saldo.</a:t>
            </a:r>
            <a:endParaRPr lang="en-US" sz="1050" dirty="0"/>
          </a:p>
        </p:txBody>
      </p:sp>
      <p:sp>
        <p:nvSpPr>
          <p:cNvPr id="12" name="anim3_202"/>
          <p:cNvSpPr/>
          <p:nvPr/>
        </p:nvSpPr>
        <p:spPr>
          <a:xfrm>
            <a:off x="868680" y="3291840"/>
            <a:ext cx="32004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anim3_203"/>
          <p:cNvSpPr/>
          <p:nvPr/>
        </p:nvSpPr>
        <p:spPr>
          <a:xfrm>
            <a:off x="1051560" y="343814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sp>
        <p:nvSpPr>
          <p:cNvPr id="14" name="anim3_204"/>
          <p:cNvSpPr txBox="1"/>
          <p:nvPr/>
        </p:nvSpPr>
        <p:spPr>
          <a:xfrm>
            <a:off x="1051560" y="343814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T-042/2010</a:t>
            </a:r>
            <a:endParaRPr lang="en-US" sz="1050" dirty="0"/>
          </a:p>
        </p:txBody>
      </p:sp>
      <p:sp>
        <p:nvSpPr>
          <p:cNvPr id="15" name="anim3_205"/>
          <p:cNvSpPr txBox="1"/>
          <p:nvPr/>
        </p:nvSpPr>
        <p:spPr>
          <a:xfrm>
            <a:off x="1051560" y="3767328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falta del aporte adicional no puede imputarse al trabajador.</a:t>
            </a:r>
            <a:endParaRPr lang="en-US" sz="1050" dirty="0"/>
          </a:p>
        </p:txBody>
      </p:sp>
      <p:sp>
        <p:nvSpPr>
          <p:cNvPr id="16" name="anim4_206"/>
          <p:cNvSpPr/>
          <p:nvPr/>
        </p:nvSpPr>
        <p:spPr>
          <a:xfrm>
            <a:off x="4251960" y="3291840"/>
            <a:ext cx="32004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anim4_207"/>
          <p:cNvSpPr/>
          <p:nvPr/>
        </p:nvSpPr>
        <p:spPr>
          <a:xfrm>
            <a:off x="4434840" y="343814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sp>
        <p:nvSpPr>
          <p:cNvPr id="18" name="anim4_208"/>
          <p:cNvSpPr txBox="1"/>
          <p:nvPr/>
        </p:nvSpPr>
        <p:spPr>
          <a:xfrm>
            <a:off x="4434840" y="343814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C-853/2013</a:t>
            </a:r>
            <a:endParaRPr lang="en-US" sz="1050" dirty="0"/>
          </a:p>
        </p:txBody>
      </p:sp>
      <p:sp>
        <p:nvSpPr>
          <p:cNvPr id="19" name="anim4_209"/>
          <p:cNvSpPr txBox="1"/>
          <p:nvPr/>
        </p:nvSpPr>
        <p:spPr>
          <a:xfrm>
            <a:off x="4434840" y="3767328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Lista taxativa exequible: ampliarla le corresponde al legislador.</a:t>
            </a:r>
            <a:endParaRPr lang="en-US" sz="1050" dirty="0"/>
          </a:p>
        </p:txBody>
      </p:sp>
      <p:sp>
        <p:nvSpPr>
          <p:cNvPr id="20" name="anim5_210"/>
          <p:cNvSpPr/>
          <p:nvPr/>
        </p:nvSpPr>
        <p:spPr>
          <a:xfrm>
            <a:off x="868680" y="4617720"/>
            <a:ext cx="32004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anim5_211"/>
          <p:cNvSpPr/>
          <p:nvPr/>
        </p:nvSpPr>
        <p:spPr>
          <a:xfrm>
            <a:off x="1051560" y="476402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sp>
        <p:nvSpPr>
          <p:cNvPr id="22" name="anim5_212"/>
          <p:cNvSpPr txBox="1"/>
          <p:nvPr/>
        </p:nvSpPr>
        <p:spPr>
          <a:xfrm>
            <a:off x="1051560" y="47640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C-651/2015</a:t>
            </a:r>
            <a:endParaRPr lang="en-US" sz="1050" dirty="0"/>
          </a:p>
        </p:txBody>
      </p:sp>
      <p:sp>
        <p:nvSpPr>
          <p:cNvPr id="23" name="anim5_213"/>
          <p:cNvSpPr txBox="1"/>
          <p:nvPr/>
        </p:nvSpPr>
        <p:spPr>
          <a:xfrm>
            <a:off x="1051560" y="5093208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Prórroga a 2024 exequible; los derechos adquiridos quedan a salvo.</a:t>
            </a:r>
            <a:endParaRPr lang="en-US" sz="1050" dirty="0"/>
          </a:p>
        </p:txBody>
      </p:sp>
      <p:sp>
        <p:nvSpPr>
          <p:cNvPr id="24" name="anim6_214"/>
          <p:cNvSpPr/>
          <p:nvPr/>
        </p:nvSpPr>
        <p:spPr>
          <a:xfrm>
            <a:off x="4251960" y="4617720"/>
            <a:ext cx="32004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anim6_215"/>
          <p:cNvSpPr/>
          <p:nvPr/>
        </p:nvSpPr>
        <p:spPr>
          <a:xfrm>
            <a:off x="4434840" y="476402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sp>
        <p:nvSpPr>
          <p:cNvPr id="26" name="anim6_216"/>
          <p:cNvSpPr txBox="1"/>
          <p:nvPr/>
        </p:nvSpPr>
        <p:spPr>
          <a:xfrm>
            <a:off x="4434840" y="47640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T-046/2024</a:t>
            </a:r>
            <a:endParaRPr lang="en-US" sz="1050" dirty="0"/>
          </a:p>
        </p:txBody>
      </p:sp>
      <p:sp>
        <p:nvSpPr>
          <p:cNvPr id="27" name="anim6_217"/>
          <p:cNvSpPr txBox="1"/>
          <p:nvPr/>
        </p:nvSpPr>
        <p:spPr>
          <a:xfrm>
            <a:off x="4434840" y="5093208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ARL no puede negar la calificación alegando falta de afiliación.</a:t>
            </a:r>
            <a:endParaRPr lang="en-US" sz="1050" dirty="0"/>
          </a:p>
        </p:txBody>
      </p:sp>
      <p:sp>
        <p:nvSpPr>
          <p:cNvPr id="28" name="anim7_218"/>
          <p:cNvSpPr/>
          <p:nvPr/>
        </p:nvSpPr>
        <p:spPr>
          <a:xfrm>
            <a:off x="7818120" y="1965960"/>
            <a:ext cx="3291840" cy="3794760"/>
          </a:xfrm>
          <a:prstGeom prst="roundRect">
            <a:avLst>
              <a:gd name="adj" fmla="val 3333"/>
            </a:avLst>
          </a:prstGeom>
          <a:solidFill>
            <a:srgbClr val="F1ECF6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anim7_219"/>
          <p:cNvSpPr/>
          <p:nvPr/>
        </p:nvSpPr>
        <p:spPr>
          <a:xfrm>
            <a:off x="8046720" y="2148840"/>
            <a:ext cx="566928" cy="566928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30" name="anim7_22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4121" y="2296241"/>
            <a:ext cx="272125" cy="272125"/>
          </a:xfrm>
          <a:prstGeom prst="rect">
            <a:avLst/>
          </a:prstGeom>
        </p:spPr>
      </p:pic>
      <p:sp>
        <p:nvSpPr>
          <p:cNvPr id="31" name="anim7_221"/>
          <p:cNvSpPr txBox="1"/>
          <p:nvPr/>
        </p:nvSpPr>
        <p:spPr>
          <a:xfrm>
            <a:off x="8732520" y="214884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E469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Principios que se desprenden</a:t>
            </a:r>
            <a:endParaRPr lang="en-US" sz="1250" dirty="0"/>
          </a:p>
        </p:txBody>
      </p:sp>
      <p:sp>
        <p:nvSpPr>
          <p:cNvPr id="32" name="anim7_222"/>
          <p:cNvSpPr txBox="1"/>
          <p:nvPr/>
        </p:nvSpPr>
        <p:spPr>
          <a:xfrm>
            <a:off x="8046720" y="288036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Medida de acción afirmativa con fin legítimo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Interpretación pro trabajador (favorabilidad)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Formalidades o fallas de terceros no frustran el derecho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Carácter único de la pensión de vejez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20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400"/>
                            </p:stCondLst>
                            <p:childTnLst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1_223"/>
          <p:cNvSpPr txBox="1"/>
          <p:nvPr/>
        </p:nvSpPr>
        <p:spPr>
          <a:xfrm>
            <a:off x="868680" y="155448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anim2_224"/>
          <p:cNvSpPr txBox="1"/>
          <p:nvPr/>
        </p:nvSpPr>
        <p:spPr>
          <a:xfrm>
            <a:off x="4754880" y="22402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E469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</a:t>
            </a:r>
            <a:endParaRPr lang="en-US" sz="1600" dirty="0"/>
          </a:p>
        </p:txBody>
      </p:sp>
      <p:sp>
        <p:nvSpPr>
          <p:cNvPr id="4" name="anim2_225"/>
          <p:cNvSpPr txBox="1"/>
          <p:nvPr/>
        </p:nvSpPr>
        <p:spPr>
          <a:xfrm>
            <a:off x="4754880" y="265176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Estándares internacionales de la OIT</a:t>
            </a:r>
            <a:endParaRPr lang="en-US" sz="3000" dirty="0"/>
          </a:p>
        </p:txBody>
      </p:sp>
      <p:sp>
        <p:nvSpPr>
          <p:cNvPr id="5" name="anim3_226"/>
          <p:cNvSpPr txBox="1"/>
          <p:nvPr/>
        </p:nvSpPr>
        <p:spPr>
          <a:xfrm>
            <a:off x="4754880" y="39776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Convenios y recomendaciones que fijan el parámetro de convencionalidad para la minería.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Instrumentos OIT aplicables</a:t>
            </a:r>
            <a:endParaRPr lang="en-US" sz="3200" dirty="0"/>
          </a:p>
        </p:txBody>
      </p:sp>
      <p:sp>
        <p:nvSpPr>
          <p:cNvPr id="4" name="anim1_227"/>
          <p:cNvSpPr/>
          <p:nvPr/>
        </p:nvSpPr>
        <p:spPr>
          <a:xfrm>
            <a:off x="868680" y="1920240"/>
            <a:ext cx="239572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228"/>
          <p:cNvSpPr txBox="1"/>
          <p:nvPr/>
        </p:nvSpPr>
        <p:spPr>
          <a:xfrm>
            <a:off x="105156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C176</a:t>
            </a:r>
            <a:endParaRPr lang="en-US" sz="2400" dirty="0"/>
          </a:p>
        </p:txBody>
      </p:sp>
      <p:sp>
        <p:nvSpPr>
          <p:cNvPr id="6" name="anim1_229"/>
          <p:cNvSpPr txBox="1"/>
          <p:nvPr/>
        </p:nvSpPr>
        <p:spPr>
          <a:xfrm>
            <a:off x="2423160" y="21031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1995</a:t>
            </a:r>
            <a:endParaRPr lang="en-US" sz="1100" dirty="0"/>
          </a:p>
        </p:txBody>
      </p:sp>
      <p:sp>
        <p:nvSpPr>
          <p:cNvPr id="7" name="anim1_230"/>
          <p:cNvSpPr txBox="1"/>
          <p:nvPr/>
        </p:nvSpPr>
        <p:spPr>
          <a:xfrm>
            <a:off x="1051560" y="257860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Seguridad y salud en las minas</a:t>
            </a:r>
            <a:endParaRPr lang="en-US" sz="1050" dirty="0"/>
          </a:p>
        </p:txBody>
      </p:sp>
      <p:sp>
        <p:nvSpPr>
          <p:cNvPr id="8" name="anim1_231"/>
          <p:cNvSpPr/>
          <p:nvPr/>
        </p:nvSpPr>
        <p:spPr>
          <a:xfrm>
            <a:off x="1051560" y="318211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sp>
        <p:nvSpPr>
          <p:cNvPr id="9" name="anim1_232"/>
          <p:cNvSpPr txBox="1"/>
          <p:nvPr/>
        </p:nvSpPr>
        <p:spPr>
          <a:xfrm>
            <a:off x="1051560" y="3182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ratificado</a:t>
            </a:r>
            <a:endParaRPr lang="en-US" sz="950" dirty="0"/>
          </a:p>
        </p:txBody>
      </p:sp>
      <p:sp>
        <p:nvSpPr>
          <p:cNvPr id="10" name="anim2_233"/>
          <p:cNvSpPr/>
          <p:nvPr/>
        </p:nvSpPr>
        <p:spPr>
          <a:xfrm>
            <a:off x="3447288" y="1920240"/>
            <a:ext cx="239572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anim2_234"/>
          <p:cNvSpPr txBox="1"/>
          <p:nvPr/>
        </p:nvSpPr>
        <p:spPr>
          <a:xfrm>
            <a:off x="3630168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C102</a:t>
            </a:r>
            <a:endParaRPr lang="en-US" sz="2400" dirty="0"/>
          </a:p>
        </p:txBody>
      </p:sp>
      <p:sp>
        <p:nvSpPr>
          <p:cNvPr id="12" name="anim2_235"/>
          <p:cNvSpPr txBox="1"/>
          <p:nvPr/>
        </p:nvSpPr>
        <p:spPr>
          <a:xfrm>
            <a:off x="5001768" y="21031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1952</a:t>
            </a:r>
            <a:endParaRPr lang="en-US" sz="1100" dirty="0"/>
          </a:p>
        </p:txBody>
      </p:sp>
      <p:sp>
        <p:nvSpPr>
          <p:cNvPr id="13" name="anim2_236"/>
          <p:cNvSpPr txBox="1"/>
          <p:nvPr/>
        </p:nvSpPr>
        <p:spPr>
          <a:xfrm>
            <a:off x="3630168" y="257860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Seguridad social (norma mínima)</a:t>
            </a:r>
            <a:endParaRPr lang="en-US" sz="1050" dirty="0"/>
          </a:p>
        </p:txBody>
      </p:sp>
      <p:sp>
        <p:nvSpPr>
          <p:cNvPr id="14" name="anim2_237"/>
          <p:cNvSpPr/>
          <p:nvPr/>
        </p:nvSpPr>
        <p:spPr>
          <a:xfrm>
            <a:off x="3630168" y="318211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sp>
        <p:nvSpPr>
          <p:cNvPr id="15" name="anim2_238"/>
          <p:cNvSpPr txBox="1"/>
          <p:nvPr/>
        </p:nvSpPr>
        <p:spPr>
          <a:xfrm>
            <a:off x="3630168" y="3182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ratificado</a:t>
            </a:r>
            <a:endParaRPr lang="en-US" sz="950" dirty="0"/>
          </a:p>
        </p:txBody>
      </p:sp>
      <p:sp>
        <p:nvSpPr>
          <p:cNvPr id="16" name="anim3_239"/>
          <p:cNvSpPr/>
          <p:nvPr/>
        </p:nvSpPr>
        <p:spPr>
          <a:xfrm>
            <a:off x="6025896" y="1920240"/>
            <a:ext cx="239572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anim3_240"/>
          <p:cNvSpPr txBox="1"/>
          <p:nvPr/>
        </p:nvSpPr>
        <p:spPr>
          <a:xfrm>
            <a:off x="6208776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C155</a:t>
            </a:r>
            <a:endParaRPr lang="en-US" sz="2400" dirty="0"/>
          </a:p>
        </p:txBody>
      </p:sp>
      <p:sp>
        <p:nvSpPr>
          <p:cNvPr id="18" name="anim3_241"/>
          <p:cNvSpPr txBox="1"/>
          <p:nvPr/>
        </p:nvSpPr>
        <p:spPr>
          <a:xfrm>
            <a:off x="7580376" y="21031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1981</a:t>
            </a:r>
            <a:endParaRPr lang="en-US" sz="1100" dirty="0"/>
          </a:p>
        </p:txBody>
      </p:sp>
      <p:sp>
        <p:nvSpPr>
          <p:cNvPr id="19" name="anim3_242"/>
          <p:cNvSpPr txBox="1"/>
          <p:nvPr/>
        </p:nvSpPr>
        <p:spPr>
          <a:xfrm>
            <a:off x="6208776" y="257860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Seguridad y salud de los trabajadores</a:t>
            </a:r>
            <a:endParaRPr lang="en-US" sz="1050" dirty="0"/>
          </a:p>
        </p:txBody>
      </p:sp>
      <p:sp>
        <p:nvSpPr>
          <p:cNvPr id="20" name="anim3_243"/>
          <p:cNvSpPr/>
          <p:nvPr/>
        </p:nvSpPr>
        <p:spPr>
          <a:xfrm>
            <a:off x="6208776" y="318211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sp>
        <p:nvSpPr>
          <p:cNvPr id="21" name="anim3_244"/>
          <p:cNvSpPr txBox="1"/>
          <p:nvPr/>
        </p:nvSpPr>
        <p:spPr>
          <a:xfrm>
            <a:off x="6208776" y="3182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ratificado</a:t>
            </a:r>
            <a:endParaRPr lang="en-US" sz="950" dirty="0"/>
          </a:p>
        </p:txBody>
      </p:sp>
      <p:sp>
        <p:nvSpPr>
          <p:cNvPr id="22" name="anim4_245"/>
          <p:cNvSpPr/>
          <p:nvPr/>
        </p:nvSpPr>
        <p:spPr>
          <a:xfrm>
            <a:off x="8604504" y="1920240"/>
            <a:ext cx="239572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anim4_246"/>
          <p:cNvSpPr txBox="1"/>
          <p:nvPr/>
        </p:nvSpPr>
        <p:spPr>
          <a:xfrm>
            <a:off x="8787384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C187</a:t>
            </a:r>
            <a:endParaRPr lang="en-US" sz="2400" dirty="0"/>
          </a:p>
        </p:txBody>
      </p:sp>
      <p:sp>
        <p:nvSpPr>
          <p:cNvPr id="24" name="anim4_247"/>
          <p:cNvSpPr txBox="1"/>
          <p:nvPr/>
        </p:nvSpPr>
        <p:spPr>
          <a:xfrm>
            <a:off x="10158984" y="21031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2006</a:t>
            </a:r>
            <a:endParaRPr lang="en-US" sz="1100" dirty="0"/>
          </a:p>
        </p:txBody>
      </p:sp>
      <p:sp>
        <p:nvSpPr>
          <p:cNvPr id="25" name="anim4_248"/>
          <p:cNvSpPr txBox="1"/>
          <p:nvPr/>
        </p:nvSpPr>
        <p:spPr>
          <a:xfrm>
            <a:off x="8787384" y="257860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Marco promocional de SST</a:t>
            </a:r>
            <a:endParaRPr lang="en-US" sz="1050" dirty="0"/>
          </a:p>
        </p:txBody>
      </p:sp>
      <p:sp>
        <p:nvSpPr>
          <p:cNvPr id="26" name="anim4_249"/>
          <p:cNvSpPr/>
          <p:nvPr/>
        </p:nvSpPr>
        <p:spPr>
          <a:xfrm>
            <a:off x="8787384" y="318211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sp>
        <p:nvSpPr>
          <p:cNvPr id="27" name="anim4_250"/>
          <p:cNvSpPr txBox="1"/>
          <p:nvPr/>
        </p:nvSpPr>
        <p:spPr>
          <a:xfrm>
            <a:off x="8787384" y="3182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ratificado</a:t>
            </a:r>
            <a:endParaRPr lang="en-US" sz="950" dirty="0"/>
          </a:p>
        </p:txBody>
      </p:sp>
      <p:sp>
        <p:nvSpPr>
          <p:cNvPr id="28" name="anim5_251"/>
          <p:cNvSpPr/>
          <p:nvPr/>
        </p:nvSpPr>
        <p:spPr>
          <a:xfrm>
            <a:off x="868680" y="3794760"/>
            <a:ext cx="239572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anim5_252"/>
          <p:cNvSpPr txBox="1"/>
          <p:nvPr/>
        </p:nvSpPr>
        <p:spPr>
          <a:xfrm>
            <a:off x="105156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C121</a:t>
            </a:r>
            <a:endParaRPr lang="en-US" sz="2400" dirty="0"/>
          </a:p>
        </p:txBody>
      </p:sp>
      <p:sp>
        <p:nvSpPr>
          <p:cNvPr id="30" name="anim5_253"/>
          <p:cNvSpPr txBox="1"/>
          <p:nvPr/>
        </p:nvSpPr>
        <p:spPr>
          <a:xfrm>
            <a:off x="2423160" y="397764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1964</a:t>
            </a:r>
            <a:endParaRPr lang="en-US" sz="1100" dirty="0"/>
          </a:p>
        </p:txBody>
      </p:sp>
      <p:sp>
        <p:nvSpPr>
          <p:cNvPr id="31" name="anim5_254"/>
          <p:cNvSpPr txBox="1"/>
          <p:nvPr/>
        </p:nvSpPr>
        <p:spPr>
          <a:xfrm>
            <a:off x="1051560" y="44531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Prestaciones por accidentes y enfermedades profesionales</a:t>
            </a:r>
            <a:endParaRPr lang="en-US" sz="1050" dirty="0"/>
          </a:p>
        </p:txBody>
      </p:sp>
      <p:sp>
        <p:nvSpPr>
          <p:cNvPr id="32" name="anim5_255"/>
          <p:cNvSpPr/>
          <p:nvPr/>
        </p:nvSpPr>
        <p:spPr>
          <a:xfrm>
            <a:off x="1051560" y="505663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sp>
        <p:nvSpPr>
          <p:cNvPr id="33" name="anim5_256"/>
          <p:cNvSpPr txBox="1"/>
          <p:nvPr/>
        </p:nvSpPr>
        <p:spPr>
          <a:xfrm>
            <a:off x="1051560" y="5056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ratificado</a:t>
            </a:r>
            <a:endParaRPr lang="en-US" sz="950" dirty="0"/>
          </a:p>
        </p:txBody>
      </p:sp>
      <p:sp>
        <p:nvSpPr>
          <p:cNvPr id="34" name="anim6_257"/>
          <p:cNvSpPr/>
          <p:nvPr/>
        </p:nvSpPr>
        <p:spPr>
          <a:xfrm>
            <a:off x="3447288" y="3794760"/>
            <a:ext cx="239572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anim6_258"/>
          <p:cNvSpPr txBox="1"/>
          <p:nvPr/>
        </p:nvSpPr>
        <p:spPr>
          <a:xfrm>
            <a:off x="363016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C81</a:t>
            </a:r>
            <a:endParaRPr lang="en-US" sz="2400" dirty="0"/>
          </a:p>
        </p:txBody>
      </p:sp>
      <p:sp>
        <p:nvSpPr>
          <p:cNvPr id="36" name="anim6_259"/>
          <p:cNvSpPr txBox="1"/>
          <p:nvPr/>
        </p:nvSpPr>
        <p:spPr>
          <a:xfrm>
            <a:off x="5001768" y="397764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1947</a:t>
            </a:r>
            <a:endParaRPr lang="en-US" sz="1100" dirty="0"/>
          </a:p>
        </p:txBody>
      </p:sp>
      <p:sp>
        <p:nvSpPr>
          <p:cNvPr id="37" name="anim6_260"/>
          <p:cNvSpPr txBox="1"/>
          <p:nvPr/>
        </p:nvSpPr>
        <p:spPr>
          <a:xfrm>
            <a:off x="3630168" y="44531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Inspección del trabajo</a:t>
            </a:r>
            <a:endParaRPr lang="en-US" sz="1050" dirty="0"/>
          </a:p>
        </p:txBody>
      </p:sp>
      <p:sp>
        <p:nvSpPr>
          <p:cNvPr id="38" name="anim6_261"/>
          <p:cNvSpPr/>
          <p:nvPr/>
        </p:nvSpPr>
        <p:spPr>
          <a:xfrm>
            <a:off x="3630168" y="505663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anim6_262"/>
          <p:cNvSpPr txBox="1"/>
          <p:nvPr/>
        </p:nvSpPr>
        <p:spPr>
          <a:xfrm>
            <a:off x="3630168" y="5056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Ratificado</a:t>
            </a:r>
            <a:endParaRPr lang="en-US" sz="950" dirty="0"/>
          </a:p>
        </p:txBody>
      </p:sp>
      <p:sp>
        <p:nvSpPr>
          <p:cNvPr id="40" name="anim7_263"/>
          <p:cNvSpPr/>
          <p:nvPr/>
        </p:nvSpPr>
        <p:spPr>
          <a:xfrm>
            <a:off x="6025896" y="3794760"/>
            <a:ext cx="2395728" cy="1691640"/>
          </a:xfrm>
          <a:prstGeom prst="roundRect">
            <a:avLst>
              <a:gd name="adj" fmla="val 6486"/>
            </a:avLst>
          </a:prstGeom>
          <a:solidFill>
            <a:srgbClr val="F1ECF6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anim7_264"/>
          <p:cNvSpPr txBox="1"/>
          <p:nvPr/>
        </p:nvSpPr>
        <p:spPr>
          <a:xfrm>
            <a:off x="620877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R183</a:t>
            </a:r>
            <a:endParaRPr lang="en-US" sz="2400" dirty="0"/>
          </a:p>
        </p:txBody>
      </p:sp>
      <p:sp>
        <p:nvSpPr>
          <p:cNvPr id="42" name="anim7_265"/>
          <p:cNvSpPr txBox="1"/>
          <p:nvPr/>
        </p:nvSpPr>
        <p:spPr>
          <a:xfrm>
            <a:off x="7580376" y="397764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1995</a:t>
            </a:r>
            <a:endParaRPr lang="en-US" sz="1100" dirty="0"/>
          </a:p>
        </p:txBody>
      </p:sp>
      <p:sp>
        <p:nvSpPr>
          <p:cNvPr id="43" name="anim7_266"/>
          <p:cNvSpPr txBox="1"/>
          <p:nvPr/>
        </p:nvSpPr>
        <p:spPr>
          <a:xfrm>
            <a:off x="6208776" y="44531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Recomendación: seguridad y salud en las minas</a:t>
            </a:r>
            <a:endParaRPr lang="en-US" sz="1050" dirty="0"/>
          </a:p>
        </p:txBody>
      </p:sp>
      <p:sp>
        <p:nvSpPr>
          <p:cNvPr id="44" name="anim7_267"/>
          <p:cNvSpPr/>
          <p:nvPr/>
        </p:nvSpPr>
        <p:spPr>
          <a:xfrm>
            <a:off x="6208776" y="505663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6B6868"/>
          </a:solidFill>
          <a:ln w="12700">
            <a:solidFill>
              <a:srgbClr val="6B6868"/>
            </a:solidFill>
            <a:prstDash val="solid"/>
          </a:ln>
        </p:spPr>
      </p:sp>
      <p:sp>
        <p:nvSpPr>
          <p:cNvPr id="45" name="anim7_268"/>
          <p:cNvSpPr txBox="1"/>
          <p:nvPr/>
        </p:nvSpPr>
        <p:spPr>
          <a:xfrm>
            <a:off x="6208776" y="5056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vinculante</a:t>
            </a:r>
            <a:endParaRPr lang="en-US" sz="950" dirty="0"/>
          </a:p>
        </p:txBody>
      </p:sp>
      <p:sp>
        <p:nvSpPr>
          <p:cNvPr id="46" name="anim8_269"/>
          <p:cNvSpPr/>
          <p:nvPr/>
        </p:nvSpPr>
        <p:spPr>
          <a:xfrm>
            <a:off x="8604504" y="3794760"/>
            <a:ext cx="2395728" cy="1691640"/>
          </a:xfrm>
          <a:prstGeom prst="roundRect">
            <a:avLst>
              <a:gd name="adj" fmla="val 6486"/>
            </a:avLst>
          </a:prstGeom>
          <a:solidFill>
            <a:srgbClr val="F1ECF6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7" name="anim8_270"/>
          <p:cNvSpPr txBox="1"/>
          <p:nvPr/>
        </p:nvSpPr>
        <p:spPr>
          <a:xfrm>
            <a:off x="878738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R202</a:t>
            </a:r>
            <a:endParaRPr lang="en-US" sz="2400" dirty="0"/>
          </a:p>
        </p:txBody>
      </p:sp>
      <p:sp>
        <p:nvSpPr>
          <p:cNvPr id="48" name="anim8_271"/>
          <p:cNvSpPr txBox="1"/>
          <p:nvPr/>
        </p:nvSpPr>
        <p:spPr>
          <a:xfrm>
            <a:off x="10158984" y="397764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2012</a:t>
            </a:r>
            <a:endParaRPr lang="en-US" sz="1100" dirty="0"/>
          </a:p>
        </p:txBody>
      </p:sp>
      <p:sp>
        <p:nvSpPr>
          <p:cNvPr id="49" name="anim8_272"/>
          <p:cNvSpPr txBox="1"/>
          <p:nvPr/>
        </p:nvSpPr>
        <p:spPr>
          <a:xfrm>
            <a:off x="8787384" y="44531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Recomendación: pisos de protección social</a:t>
            </a:r>
            <a:endParaRPr lang="en-US" sz="1050" dirty="0"/>
          </a:p>
        </p:txBody>
      </p:sp>
      <p:sp>
        <p:nvSpPr>
          <p:cNvPr id="50" name="anim8_273"/>
          <p:cNvSpPr/>
          <p:nvPr/>
        </p:nvSpPr>
        <p:spPr>
          <a:xfrm>
            <a:off x="8787384" y="505663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6B6868"/>
          </a:solidFill>
          <a:ln w="12700">
            <a:solidFill>
              <a:srgbClr val="6B6868"/>
            </a:solidFill>
            <a:prstDash val="solid"/>
          </a:ln>
        </p:spPr>
      </p:sp>
      <p:sp>
        <p:nvSpPr>
          <p:cNvPr id="51" name="anim8_274"/>
          <p:cNvSpPr txBox="1"/>
          <p:nvPr/>
        </p:nvSpPr>
        <p:spPr>
          <a:xfrm>
            <a:off x="8787384" y="5056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vinculante</a:t>
            </a:r>
            <a:endParaRPr lang="en-US" sz="950" dirty="0"/>
          </a:p>
        </p:txBody>
      </p:sp>
      <p:sp>
        <p:nvSpPr>
          <p:cNvPr id="52" name="anim9_275"/>
          <p:cNvSpPr txBox="1"/>
          <p:nvPr/>
        </p:nvSpPr>
        <p:spPr>
          <a:xfrm>
            <a:off x="868680" y="566928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Los convenios no ratificados sirven como criterio hermenéutico para valorar la convencionalidad material (art. 93 CP).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2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1600"/>
                            </p:stCondLst>
                            <p:childTnLst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400"/>
                            </p:stCondLst>
                            <p:childTnLst>
                              <p:par>
                                <p:cTn id="1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2800"/>
                            </p:stCondLst>
                            <p:childTnLst>
                              <p:par>
                                <p:cTn id="1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3200"/>
                            </p:stCondLst>
                            <p:childTnLst>
                              <p:par>
                                <p:cTn id="1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Principios que exige la OIT</a:t>
            </a:r>
            <a:endParaRPr lang="en-US" sz="3200" dirty="0"/>
          </a:p>
        </p:txBody>
      </p:sp>
      <p:sp>
        <p:nvSpPr>
          <p:cNvPr id="4" name="anim1_276"/>
          <p:cNvSpPr/>
          <p:nvPr/>
        </p:nvSpPr>
        <p:spPr>
          <a:xfrm>
            <a:off x="868680" y="1920240"/>
            <a:ext cx="777240" cy="777240"/>
          </a:xfrm>
          <a:prstGeom prst="ellipse">
            <a:avLst/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pic>
        <p:nvPicPr>
          <p:cNvPr id="5" name="anim1_27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122322"/>
            <a:ext cx="373075" cy="373075"/>
          </a:xfrm>
          <a:prstGeom prst="rect">
            <a:avLst/>
          </a:prstGeom>
        </p:spPr>
      </p:pic>
      <p:sp>
        <p:nvSpPr>
          <p:cNvPr id="6" name="anim1_278"/>
          <p:cNvSpPr txBox="1"/>
          <p:nvPr/>
        </p:nvSpPr>
        <p:spPr>
          <a:xfrm>
            <a:off x="182880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Suficiencia</a:t>
            </a:r>
            <a:endParaRPr lang="en-US" sz="1800" dirty="0"/>
          </a:p>
        </p:txBody>
      </p:sp>
      <p:sp>
        <p:nvSpPr>
          <p:cNvPr id="7" name="anim1_279"/>
          <p:cNvSpPr txBox="1"/>
          <p:nvPr/>
        </p:nvSpPr>
        <p:spPr>
          <a:xfrm>
            <a:off x="4206240" y="19202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Prestaciones que garanticen vida digna, no simbólicas (C102, C121).</a:t>
            </a:r>
            <a:endParaRPr lang="en-US" sz="1200" dirty="0"/>
          </a:p>
        </p:txBody>
      </p:sp>
      <p:sp>
        <p:nvSpPr>
          <p:cNvPr id="8" name="anim2_280"/>
          <p:cNvSpPr/>
          <p:nvPr/>
        </p:nvSpPr>
        <p:spPr>
          <a:xfrm>
            <a:off x="868680" y="2944368"/>
            <a:ext cx="777240" cy="77724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9" name="anim2_28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3146450"/>
            <a:ext cx="373075" cy="373075"/>
          </a:xfrm>
          <a:prstGeom prst="rect">
            <a:avLst/>
          </a:prstGeom>
        </p:spPr>
      </p:pic>
      <p:sp>
        <p:nvSpPr>
          <p:cNvPr id="10" name="anim2_282"/>
          <p:cNvSpPr txBox="1"/>
          <p:nvPr/>
        </p:nvSpPr>
        <p:spPr>
          <a:xfrm>
            <a:off x="1828800" y="294436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Universalidad</a:t>
            </a:r>
            <a:endParaRPr lang="en-US" sz="1800" dirty="0"/>
          </a:p>
        </p:txBody>
      </p:sp>
      <p:sp>
        <p:nvSpPr>
          <p:cNvPr id="11" name="anim2_283"/>
          <p:cNvSpPr txBox="1"/>
          <p:nvPr/>
        </p:nvSpPr>
        <p:spPr>
          <a:xfrm>
            <a:off x="4206240" y="294436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Protección a todo trabajador expuesto: contratistas, tercerizados e informales.</a:t>
            </a:r>
            <a:endParaRPr lang="en-US" sz="1200" dirty="0"/>
          </a:p>
        </p:txBody>
      </p:sp>
      <p:sp>
        <p:nvSpPr>
          <p:cNvPr id="12" name="anim3_284"/>
          <p:cNvSpPr/>
          <p:nvPr/>
        </p:nvSpPr>
        <p:spPr>
          <a:xfrm>
            <a:off x="868680" y="3968496"/>
            <a:ext cx="777240" cy="77724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3" name="anim3_28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70578"/>
            <a:ext cx="373075" cy="373075"/>
          </a:xfrm>
          <a:prstGeom prst="rect">
            <a:avLst/>
          </a:prstGeom>
        </p:spPr>
      </p:pic>
      <p:sp>
        <p:nvSpPr>
          <p:cNvPr id="14" name="anim3_286"/>
          <p:cNvSpPr txBox="1"/>
          <p:nvPr/>
        </p:nvSpPr>
        <p:spPr>
          <a:xfrm>
            <a:off x="1828800" y="3968496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Equidad</a:t>
            </a:r>
            <a:endParaRPr lang="en-US" sz="1800" dirty="0"/>
          </a:p>
        </p:txBody>
      </p:sp>
      <p:sp>
        <p:nvSpPr>
          <p:cNvPr id="15" name="anim3_287"/>
          <p:cNvSpPr txBox="1"/>
          <p:nvPr/>
        </p:nvSpPr>
        <p:spPr>
          <a:xfrm>
            <a:off x="4206240" y="396849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Trato diferenciado que compense el desgaste prematuro del minero.</a:t>
            </a:r>
            <a:endParaRPr lang="en-US" sz="1200" dirty="0"/>
          </a:p>
        </p:txBody>
      </p:sp>
      <p:sp>
        <p:nvSpPr>
          <p:cNvPr id="16" name="anim4_288"/>
          <p:cNvSpPr/>
          <p:nvPr/>
        </p:nvSpPr>
        <p:spPr>
          <a:xfrm>
            <a:off x="868680" y="4992624"/>
            <a:ext cx="777240" cy="77724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7" name="anim4_28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762" y="5194706"/>
            <a:ext cx="373075" cy="373075"/>
          </a:xfrm>
          <a:prstGeom prst="rect">
            <a:avLst/>
          </a:prstGeom>
        </p:spPr>
      </p:pic>
      <p:sp>
        <p:nvSpPr>
          <p:cNvPr id="18" name="anim4_290"/>
          <p:cNvSpPr txBox="1"/>
          <p:nvPr/>
        </p:nvSpPr>
        <p:spPr>
          <a:xfrm>
            <a:off x="1828800" y="4992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Efectividad</a:t>
            </a:r>
            <a:endParaRPr lang="en-US" sz="1800" dirty="0"/>
          </a:p>
        </p:txBody>
      </p:sp>
      <p:sp>
        <p:nvSpPr>
          <p:cNvPr id="19" name="anim4_291"/>
          <p:cNvSpPr txBox="1"/>
          <p:nvPr/>
        </p:nvSpPr>
        <p:spPr>
          <a:xfrm>
            <a:off x="4206240" y="4992624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Inspección, estadísticas y vigilancia para que la norma produzca efectos reales.</a:t>
            </a:r>
            <a:endParaRPr lang="en-US" sz="1200" dirty="0"/>
          </a:p>
        </p:txBody>
      </p:sp>
      <p:sp>
        <p:nvSpPr>
          <p:cNvPr id="20" name="anim5_292"/>
          <p:cNvSpPr/>
          <p:nvPr/>
        </p:nvSpPr>
        <p:spPr>
          <a:xfrm>
            <a:off x="8321040" y="1920240"/>
            <a:ext cx="2788920" cy="3931920"/>
          </a:xfrm>
          <a:prstGeom prst="roundRect">
            <a:avLst>
              <a:gd name="adj" fmla="val 3934"/>
            </a:avLst>
          </a:prstGeom>
          <a:solidFill>
            <a:srgbClr val="F7EEF3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anim5_293"/>
          <p:cNvSpPr/>
          <p:nvPr/>
        </p:nvSpPr>
        <p:spPr>
          <a:xfrm>
            <a:off x="9326880" y="2148840"/>
            <a:ext cx="777240" cy="777240"/>
          </a:xfrm>
          <a:prstGeom prst="ellipse">
            <a:avLst/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pic>
        <p:nvPicPr>
          <p:cNvPr id="22" name="anim5_29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962" y="2350922"/>
            <a:ext cx="373075" cy="373075"/>
          </a:xfrm>
          <a:prstGeom prst="rect">
            <a:avLst/>
          </a:prstGeom>
        </p:spPr>
      </p:pic>
      <p:sp>
        <p:nvSpPr>
          <p:cNvPr id="23" name="anim5_295"/>
          <p:cNvSpPr txBox="1"/>
          <p:nvPr/>
        </p:nvSpPr>
        <p:spPr>
          <a:xfrm>
            <a:off x="8412480" y="30175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11 % – 37 %</a:t>
            </a:r>
            <a:endParaRPr lang="en-US" sz="2400" dirty="0"/>
          </a:p>
        </p:txBody>
      </p:sp>
      <p:sp>
        <p:nvSpPr>
          <p:cNvPr id="24" name="anim5_296"/>
          <p:cNvSpPr txBox="1"/>
          <p:nvPr/>
        </p:nvSpPr>
        <p:spPr>
          <a:xfrm>
            <a:off x="8549640" y="35661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prevalencia de silicosis y tuberculosis en la minería artesanal</a:t>
            </a:r>
            <a:endParaRPr lang="en-US" sz="1100" dirty="0"/>
          </a:p>
        </p:txBody>
      </p:sp>
      <p:sp>
        <p:nvSpPr>
          <p:cNvPr id="25" name="anim6_297"/>
          <p:cNvSpPr txBox="1"/>
          <p:nvPr/>
        </p:nvSpPr>
        <p:spPr>
          <a:xfrm>
            <a:off x="8412480" y="43891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67,5 µg/l</a:t>
            </a:r>
            <a:endParaRPr lang="en-US" sz="2200" dirty="0"/>
          </a:p>
        </p:txBody>
      </p:sp>
      <p:sp>
        <p:nvSpPr>
          <p:cNvPr id="26" name="anim6_298"/>
          <p:cNvSpPr txBox="1"/>
          <p:nvPr/>
        </p:nvSpPr>
        <p:spPr>
          <a:xfrm>
            <a:off x="8549640" y="48920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mediana de mercurio en sangre, por encima de lo admitido por la OMS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20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6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0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1_299"/>
          <p:cNvSpPr txBox="1"/>
          <p:nvPr/>
        </p:nvSpPr>
        <p:spPr>
          <a:xfrm>
            <a:off x="868680" y="155448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anim2_300"/>
          <p:cNvSpPr txBox="1"/>
          <p:nvPr/>
        </p:nvSpPr>
        <p:spPr>
          <a:xfrm>
            <a:off x="4754880" y="22402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E469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</a:t>
            </a:r>
            <a:endParaRPr lang="en-US" sz="1600" dirty="0"/>
          </a:p>
        </p:txBody>
      </p:sp>
      <p:sp>
        <p:nvSpPr>
          <p:cNvPr id="4" name="anim2_301"/>
          <p:cNvSpPr txBox="1"/>
          <p:nvPr/>
        </p:nvSpPr>
        <p:spPr>
          <a:xfrm>
            <a:off x="4754880" y="265176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Análisis de convencionalidad</a:t>
            </a:r>
            <a:endParaRPr lang="en-US" sz="3000" dirty="0"/>
          </a:p>
        </p:txBody>
      </p:sp>
      <p:sp>
        <p:nvSpPr>
          <p:cNvPr id="5" name="anim3_302"/>
          <p:cNvSpPr txBox="1"/>
          <p:nvPr/>
        </p:nvSpPr>
        <p:spPr>
          <a:xfrm>
            <a:off x="4754880" y="39776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Contraste entre la norma colombiana y los estándares OIT: nivel de armonización, brechas y experiencias comparadas.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Nivel de armonización con la OIT</a:t>
            </a:r>
            <a:endParaRPr lang="en-US" sz="3200" dirty="0"/>
          </a:p>
        </p:txBody>
      </p:sp>
      <p:graphicFrame>
        <p:nvGraphicFramePr>
          <p:cNvPr id="18" name="anim1_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51560"/>
                <a:gridCol w="42062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Estándar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46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Nivel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469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Brecha principal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469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C176 · Minas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114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Baja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Sin ratificar; pensión especial limitada al socavón; falta participación y derecho de retiro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R183 · Minas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114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Baja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Criterios técnicos (ventilación, gases, polvo) no incorporados de forma sistemática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R202 · Pisos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114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Baja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No existe un piso de protección para mineros informales y artesanales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C102 · Seg. social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8A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Media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Hay prestaciones, pero sin cobertura universal ni suficiencia material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C155 · SST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8A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Media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SG-SST sin articulación entre MinTrabajo, ANM, ARL y autoridades sanitarias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C187 · Marco SST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8A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Media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No hay plan nacional de SST minera con metas e indicadores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C121 · Prestaciones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8A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Media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Calificación restrictiva de enfermedades de larga latencia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C81 · Inspección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Alta formal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83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Ratificado, pero con pocos inspectores especializados y visitas reactivas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anim2_chart" descr=""/>
          <p:cNvGraphicFramePr/>
          <p:nvPr/>
        </p:nvGraphicFramePr>
        <p:xfrm>
          <a:off x="8046720" y="1828800"/>
          <a:ext cx="3108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anim3_303"/>
          <p:cNvSpPr txBox="1"/>
          <p:nvPr/>
        </p:nvSpPr>
        <p:spPr>
          <a:xfrm>
            <a:off x="8046720" y="4983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01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Ninguno logra armonización alta en el plano material.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Brechas por criterio</a:t>
            </a:r>
            <a:endParaRPr lang="en-US" sz="3200" dirty="0"/>
          </a:p>
        </p:txBody>
      </p:sp>
      <p:sp>
        <p:nvSpPr>
          <p:cNvPr id="4" name="anim1_304"/>
          <p:cNvSpPr/>
          <p:nvPr/>
        </p:nvSpPr>
        <p:spPr>
          <a:xfrm>
            <a:off x="868680" y="1920240"/>
            <a:ext cx="4937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305"/>
          <p:cNvSpPr/>
          <p:nvPr/>
        </p:nvSpPr>
        <p:spPr>
          <a:xfrm>
            <a:off x="1069848" y="2121408"/>
            <a:ext cx="566928" cy="566928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6" name="anim1_30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249" y="2268809"/>
            <a:ext cx="272125" cy="272125"/>
          </a:xfrm>
          <a:prstGeom prst="rect">
            <a:avLst/>
          </a:prstGeom>
        </p:spPr>
      </p:pic>
      <p:sp>
        <p:nvSpPr>
          <p:cNvPr id="7" name="anim1_307"/>
          <p:cNvSpPr txBox="1"/>
          <p:nvPr/>
        </p:nvSpPr>
        <p:spPr>
          <a:xfrm>
            <a:off x="1783080" y="21214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Cobertura</a:t>
            </a:r>
            <a:endParaRPr lang="en-US" sz="1700" dirty="0"/>
          </a:p>
        </p:txBody>
      </p:sp>
      <p:sp>
        <p:nvSpPr>
          <p:cNvPr id="8" name="anim1_308"/>
          <p:cNvSpPr txBox="1"/>
          <p:nvPr/>
        </p:nvSpPr>
        <p:spPr>
          <a:xfrm>
            <a:off x="3611880" y="208483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~70 %</a:t>
            </a:r>
            <a:endParaRPr lang="en-US" sz="2400" dirty="0"/>
          </a:p>
        </p:txBody>
      </p:sp>
      <p:sp>
        <p:nvSpPr>
          <p:cNvPr id="9" name="anim1_309"/>
          <p:cNvSpPr txBox="1"/>
          <p:nvPr/>
        </p:nvSpPr>
        <p:spPr>
          <a:xfrm>
            <a:off x="1097280" y="281635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la minería es informal o artesanal: sin afiliación al Sistema General de Riesgos Laborales ni acceso a pensión.</a:t>
            </a:r>
            <a:endParaRPr lang="en-US" sz="1150" dirty="0"/>
          </a:p>
        </p:txBody>
      </p:sp>
      <p:sp>
        <p:nvSpPr>
          <p:cNvPr id="10" name="anim2_310"/>
          <p:cNvSpPr/>
          <p:nvPr/>
        </p:nvSpPr>
        <p:spPr>
          <a:xfrm>
            <a:off x="6035040" y="1920240"/>
            <a:ext cx="4937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anim2_311"/>
          <p:cNvSpPr/>
          <p:nvPr/>
        </p:nvSpPr>
        <p:spPr>
          <a:xfrm>
            <a:off x="6236208" y="2121408"/>
            <a:ext cx="566928" cy="566928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2" name="anim2_3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609" y="2268809"/>
            <a:ext cx="272125" cy="272125"/>
          </a:xfrm>
          <a:prstGeom prst="rect">
            <a:avLst/>
          </a:prstGeom>
        </p:spPr>
      </p:pic>
      <p:sp>
        <p:nvSpPr>
          <p:cNvPr id="13" name="anim2_313"/>
          <p:cNvSpPr txBox="1"/>
          <p:nvPr/>
        </p:nvSpPr>
        <p:spPr>
          <a:xfrm>
            <a:off x="6949440" y="21214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Acceso</a:t>
            </a:r>
            <a:endParaRPr lang="en-US" sz="1700" dirty="0"/>
          </a:p>
        </p:txBody>
      </p:sp>
      <p:sp>
        <p:nvSpPr>
          <p:cNvPr id="14" name="anim2_314"/>
          <p:cNvSpPr txBox="1"/>
          <p:nvPr/>
        </p:nvSpPr>
        <p:spPr>
          <a:xfrm>
            <a:off x="8778240" y="208483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700</a:t>
            </a:r>
            <a:endParaRPr lang="en-US" sz="2400" dirty="0"/>
          </a:p>
        </p:txBody>
      </p:sp>
      <p:sp>
        <p:nvSpPr>
          <p:cNvPr id="15" name="anim2_315"/>
          <p:cNvSpPr txBox="1"/>
          <p:nvPr/>
        </p:nvSpPr>
        <p:spPr>
          <a:xfrm>
            <a:off x="6263640" y="281635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semanas especiales difíciles de probar: no hay historia ocupacional única, hay mora patronal y las ARL alegan «falta de afiliación».</a:t>
            </a:r>
            <a:endParaRPr lang="en-US" sz="1150" dirty="0"/>
          </a:p>
        </p:txBody>
      </p:sp>
      <p:sp>
        <p:nvSpPr>
          <p:cNvPr id="16" name="anim3_316"/>
          <p:cNvSpPr/>
          <p:nvPr/>
        </p:nvSpPr>
        <p:spPr>
          <a:xfrm>
            <a:off x="868680" y="3931920"/>
            <a:ext cx="4937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anim3_317"/>
          <p:cNvSpPr/>
          <p:nvPr/>
        </p:nvSpPr>
        <p:spPr>
          <a:xfrm>
            <a:off x="1069848" y="4133088"/>
            <a:ext cx="566928" cy="566928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8" name="anim3_3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7249" y="4280489"/>
            <a:ext cx="272125" cy="272125"/>
          </a:xfrm>
          <a:prstGeom prst="rect">
            <a:avLst/>
          </a:prstGeom>
        </p:spPr>
      </p:pic>
      <p:sp>
        <p:nvSpPr>
          <p:cNvPr id="19" name="anim3_319"/>
          <p:cNvSpPr txBox="1"/>
          <p:nvPr/>
        </p:nvSpPr>
        <p:spPr>
          <a:xfrm>
            <a:off x="1783080" y="413308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Suficiencia</a:t>
            </a:r>
            <a:endParaRPr lang="en-US" sz="1700" dirty="0"/>
          </a:p>
        </p:txBody>
      </p:sp>
      <p:sp>
        <p:nvSpPr>
          <p:cNvPr id="20" name="anim3_320"/>
          <p:cNvSpPr txBox="1"/>
          <p:nvPr/>
        </p:nvSpPr>
        <p:spPr>
          <a:xfrm>
            <a:off x="3611880" y="409651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50–75 %</a:t>
            </a:r>
            <a:endParaRPr lang="en-US" sz="2400" dirty="0"/>
          </a:p>
        </p:txBody>
      </p:sp>
      <p:sp>
        <p:nvSpPr>
          <p:cNvPr id="21" name="anim3_321"/>
          <p:cNvSpPr txBox="1"/>
          <p:nvPr/>
        </p:nvSpPr>
        <p:spPr>
          <a:xfrm>
            <a:off x="1097280" y="482803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 salario base en incapacidades (Ley 776/2002): montos bajos para familias de alta vulnerabilidad.</a:t>
            </a:r>
            <a:endParaRPr lang="en-US" sz="1150" dirty="0"/>
          </a:p>
        </p:txBody>
      </p:sp>
      <p:sp>
        <p:nvSpPr>
          <p:cNvPr id="22" name="anim4_322"/>
          <p:cNvSpPr/>
          <p:nvPr/>
        </p:nvSpPr>
        <p:spPr>
          <a:xfrm>
            <a:off x="6035040" y="3931920"/>
            <a:ext cx="4937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anim4_323"/>
          <p:cNvSpPr/>
          <p:nvPr/>
        </p:nvSpPr>
        <p:spPr>
          <a:xfrm>
            <a:off x="6236208" y="4133088"/>
            <a:ext cx="566928" cy="566928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24" name="anim4_32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609" y="4280489"/>
            <a:ext cx="272125" cy="272125"/>
          </a:xfrm>
          <a:prstGeom prst="rect">
            <a:avLst/>
          </a:prstGeom>
        </p:spPr>
      </p:pic>
      <p:sp>
        <p:nvSpPr>
          <p:cNvPr id="25" name="anim4_325"/>
          <p:cNvSpPr txBox="1"/>
          <p:nvPr/>
        </p:nvSpPr>
        <p:spPr>
          <a:xfrm>
            <a:off x="6949440" y="413308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Equidad</a:t>
            </a:r>
            <a:endParaRPr lang="en-US" sz="1700" dirty="0"/>
          </a:p>
        </p:txBody>
      </p:sp>
      <p:sp>
        <p:nvSpPr>
          <p:cNvPr id="26" name="anim4_326"/>
          <p:cNvSpPr txBox="1"/>
          <p:nvPr/>
        </p:nvSpPr>
        <p:spPr>
          <a:xfrm>
            <a:off x="8778240" y="409651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Socavón</a:t>
            </a:r>
            <a:endParaRPr lang="en-US" sz="2400" dirty="0"/>
          </a:p>
        </p:txBody>
      </p:sp>
      <p:sp>
        <p:nvSpPr>
          <p:cNvPr id="27" name="anim4_327"/>
          <p:cNvSpPr txBox="1"/>
          <p:nvPr/>
        </p:nvSpPr>
        <p:spPr>
          <a:xfrm>
            <a:off x="6263640" y="482803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solamente: queda fuera la minería a cielo abierto expuesta a sílice o mercurio, y desde 2025 las nuevas generaciones.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2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Problemáticas de aplicación</a:t>
            </a:r>
            <a:endParaRPr lang="en-US" sz="3200" dirty="0"/>
          </a:p>
        </p:txBody>
      </p:sp>
      <p:sp>
        <p:nvSpPr>
          <p:cNvPr id="4" name="anim1_328"/>
          <p:cNvSpPr/>
          <p:nvPr/>
        </p:nvSpPr>
        <p:spPr>
          <a:xfrm>
            <a:off x="868680" y="2011680"/>
            <a:ext cx="658368" cy="658368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5" name="anim1_32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856" y="2182856"/>
            <a:ext cx="316017" cy="316017"/>
          </a:xfrm>
          <a:prstGeom prst="rect">
            <a:avLst/>
          </a:prstGeom>
        </p:spPr>
      </p:pic>
      <p:sp>
        <p:nvSpPr>
          <p:cNvPr id="6" name="anim1_330"/>
          <p:cNvSpPr txBox="1"/>
          <p:nvPr/>
        </p:nvSpPr>
        <p:spPr>
          <a:xfrm>
            <a:off x="1737360" y="192024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Incertidumbre después de 2024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se ha definido qué pasará con quienes ingresen a labores de alto riesgo desde 2025.</a:t>
            </a:r>
            <a:endParaRPr lang="en-US" sz="1400" dirty="0"/>
          </a:p>
        </p:txBody>
      </p:sp>
      <p:sp>
        <p:nvSpPr>
          <p:cNvPr id="7" name="anim2_331"/>
          <p:cNvSpPr/>
          <p:nvPr/>
        </p:nvSpPr>
        <p:spPr>
          <a:xfrm>
            <a:off x="6035040" y="2011680"/>
            <a:ext cx="658368" cy="658368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8" name="anim2_33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6216" y="2182856"/>
            <a:ext cx="316017" cy="316017"/>
          </a:xfrm>
          <a:prstGeom prst="rect">
            <a:avLst/>
          </a:prstGeom>
        </p:spPr>
      </p:pic>
      <p:sp>
        <p:nvSpPr>
          <p:cNvPr id="9" name="anim2_333"/>
          <p:cNvSpPr txBox="1"/>
          <p:nvPr/>
        </p:nvSpPr>
        <p:spPr>
          <a:xfrm>
            <a:off x="6903720" y="192024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Afiliados al RAIS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beneficio solo opera en el régimen público; en fondos privados depende del capital acumulado.</a:t>
            </a:r>
            <a:endParaRPr lang="en-US" sz="1400" dirty="0"/>
          </a:p>
        </p:txBody>
      </p:sp>
      <p:sp>
        <p:nvSpPr>
          <p:cNvPr id="10" name="anim3_334"/>
          <p:cNvSpPr/>
          <p:nvPr/>
        </p:nvSpPr>
        <p:spPr>
          <a:xfrm>
            <a:off x="868680" y="3337560"/>
            <a:ext cx="658368" cy="658368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1" name="anim3_33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856" y="3508736"/>
            <a:ext cx="316017" cy="316017"/>
          </a:xfrm>
          <a:prstGeom prst="rect">
            <a:avLst/>
          </a:prstGeom>
        </p:spPr>
      </p:pic>
      <p:sp>
        <p:nvSpPr>
          <p:cNvPr id="12" name="anim3_336"/>
          <p:cNvSpPr txBox="1"/>
          <p:nvPr/>
        </p:nvSpPr>
        <p:spPr>
          <a:xfrm>
            <a:off x="1737360" y="324612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Barreras probatorias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Certificaciones ausentes, aportes del 10 % no pagados y empleadores liquidados.</a:t>
            </a:r>
            <a:endParaRPr lang="en-US" sz="1400" dirty="0"/>
          </a:p>
        </p:txBody>
      </p:sp>
      <p:sp>
        <p:nvSpPr>
          <p:cNvPr id="13" name="anim4_337"/>
          <p:cNvSpPr/>
          <p:nvPr/>
        </p:nvSpPr>
        <p:spPr>
          <a:xfrm>
            <a:off x="6035040" y="3337560"/>
            <a:ext cx="658368" cy="658368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4" name="anim4_33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6216" y="3508736"/>
            <a:ext cx="316017" cy="316017"/>
          </a:xfrm>
          <a:prstGeom prst="rect">
            <a:avLst/>
          </a:prstGeom>
        </p:spPr>
      </p:pic>
      <p:sp>
        <p:nvSpPr>
          <p:cNvPr id="15" name="anim4_339"/>
          <p:cNvSpPr txBox="1"/>
          <p:nvPr/>
        </p:nvSpPr>
        <p:spPr>
          <a:xfrm>
            <a:off x="6903720" y="324612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Enfermedades de larga latencia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Silicosis, neumoconiosis y EPOC sin presunción de origen laboral ni registro de exposición.</a:t>
            </a:r>
            <a:endParaRPr lang="en-US" sz="1400" dirty="0"/>
          </a:p>
        </p:txBody>
      </p:sp>
      <p:sp>
        <p:nvSpPr>
          <p:cNvPr id="16" name="anim5_340"/>
          <p:cNvSpPr/>
          <p:nvPr/>
        </p:nvSpPr>
        <p:spPr>
          <a:xfrm>
            <a:off x="868680" y="4663440"/>
            <a:ext cx="658368" cy="658368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7" name="anim5_34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856" y="4834616"/>
            <a:ext cx="316017" cy="316017"/>
          </a:xfrm>
          <a:prstGeom prst="rect">
            <a:avLst/>
          </a:prstGeom>
        </p:spPr>
      </p:pic>
      <p:sp>
        <p:nvSpPr>
          <p:cNvPr id="18" name="anim5_342"/>
          <p:cNvSpPr txBox="1"/>
          <p:nvPr/>
        </p:nvSpPr>
        <p:spPr>
          <a:xfrm>
            <a:off x="1737360" y="457200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Fragmentación institucional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MinTrabajo, ANM, ARL, EPS y juntas de calificación actúan sin coordinación.</a:t>
            </a:r>
            <a:endParaRPr lang="en-US" sz="1400" dirty="0"/>
          </a:p>
        </p:txBody>
      </p:sp>
      <p:sp>
        <p:nvSpPr>
          <p:cNvPr id="19" name="anim6_343"/>
          <p:cNvSpPr/>
          <p:nvPr/>
        </p:nvSpPr>
        <p:spPr>
          <a:xfrm>
            <a:off x="6035040" y="4663440"/>
            <a:ext cx="658368" cy="658368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20" name="anim6_34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6216" y="4834616"/>
            <a:ext cx="316017" cy="316017"/>
          </a:xfrm>
          <a:prstGeom prst="rect">
            <a:avLst/>
          </a:prstGeom>
        </p:spPr>
      </p:pic>
      <p:sp>
        <p:nvSpPr>
          <p:cNvPr id="21" name="anim6_345"/>
          <p:cNvSpPr txBox="1"/>
          <p:nvPr/>
        </p:nvSpPr>
        <p:spPr>
          <a:xfrm>
            <a:off x="6903720" y="457200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Inspección débil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Pocos inspectores especializados; operativos reactivos después de los accidentes.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6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0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Experiencias comparadas</a:t>
            </a:r>
            <a:endParaRPr lang="en-US" sz="3200" dirty="0"/>
          </a:p>
        </p:txBody>
      </p:sp>
      <p:sp>
        <p:nvSpPr>
          <p:cNvPr id="4" name="anim1_346"/>
          <p:cNvSpPr/>
          <p:nvPr/>
        </p:nvSpPr>
        <p:spPr>
          <a:xfrm>
            <a:off x="868680" y="1920240"/>
            <a:ext cx="2286000" cy="397764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347"/>
          <p:cNvSpPr txBox="1"/>
          <p:nvPr/>
        </p:nvSpPr>
        <p:spPr>
          <a:xfrm>
            <a:off x="1051560" y="2057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Chile</a:t>
            </a:r>
            <a:endParaRPr lang="en-US" sz="1900" dirty="0"/>
          </a:p>
        </p:txBody>
      </p:sp>
      <p:sp>
        <p:nvSpPr>
          <p:cNvPr id="6" name="anim1_348"/>
          <p:cNvSpPr txBox="1"/>
          <p:nvPr/>
        </p:nvSpPr>
        <p:spPr>
          <a:xfrm>
            <a:off x="1051560" y="2514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Ratificó el C176 en 2023</a:t>
            </a:r>
            <a:endParaRPr lang="en-US" sz="1000" dirty="0"/>
          </a:p>
        </p:txBody>
      </p:sp>
      <p:sp>
        <p:nvSpPr>
          <p:cNvPr id="7" name="anim1_349"/>
          <p:cNvSpPr txBox="1"/>
          <p:nvPr/>
        </p:nvSpPr>
        <p:spPr>
          <a:xfrm>
            <a:off x="1051560" y="2926080"/>
            <a:ext cx="1965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Ley 16.744: cobertura universal de riesgos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SERNAGEOMIN inspecciona las faenas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Comités paritarios tras Copiapó (2010)</a:t>
            </a:r>
            <a:endParaRPr lang="en-US" sz="1050" dirty="0"/>
          </a:p>
        </p:txBody>
      </p:sp>
      <p:sp>
        <p:nvSpPr>
          <p:cNvPr id="8" name="anim1_350"/>
          <p:cNvSpPr/>
          <p:nvPr/>
        </p:nvSpPr>
        <p:spPr>
          <a:xfrm>
            <a:off x="1005840" y="489204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7EEF3"/>
          </a:solidFill>
          <a:ln w="12700">
            <a:solidFill>
              <a:srgbClr val="F7EEF3"/>
            </a:solidFill>
            <a:prstDash val="solid"/>
          </a:ln>
        </p:spPr>
      </p:sp>
      <p:sp>
        <p:nvSpPr>
          <p:cNvPr id="9" name="anim1_351"/>
          <p:cNvSpPr txBox="1"/>
          <p:nvPr/>
        </p:nvSpPr>
        <p:spPr>
          <a:xfrm>
            <a:off x="1097280" y="491947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21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Lección: </a:t>
            </a:r>
            <a:pPr indent="0" marL="0">
              <a:buNone/>
            </a:pPr>
            <a:r>
              <a:rPr lang="en-US" sz="100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Institucionalidad técnica especializada</a:t>
            </a:r>
            <a:endParaRPr lang="en-US" sz="1000" dirty="0"/>
          </a:p>
        </p:txBody>
      </p:sp>
      <p:sp>
        <p:nvSpPr>
          <p:cNvPr id="10" name="anim2_352"/>
          <p:cNvSpPr/>
          <p:nvPr/>
        </p:nvSpPr>
        <p:spPr>
          <a:xfrm>
            <a:off x="3337560" y="1920240"/>
            <a:ext cx="2286000" cy="397764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anim2_353"/>
          <p:cNvSpPr txBox="1"/>
          <p:nvPr/>
        </p:nvSpPr>
        <p:spPr>
          <a:xfrm>
            <a:off x="3520440" y="2057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216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Perú</a:t>
            </a:r>
            <a:endParaRPr lang="en-US" sz="1900" dirty="0"/>
          </a:p>
        </p:txBody>
      </p:sp>
      <p:sp>
        <p:nvSpPr>
          <p:cNvPr id="12" name="anim2_354"/>
          <p:cNvSpPr txBox="1"/>
          <p:nvPr/>
        </p:nvSpPr>
        <p:spPr>
          <a:xfrm>
            <a:off x="3520440" y="2514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Ratificó el C176 en 2008</a:t>
            </a:r>
            <a:endParaRPr lang="en-US" sz="1000" dirty="0"/>
          </a:p>
        </p:txBody>
      </p:sp>
      <p:sp>
        <p:nvSpPr>
          <p:cNvPr id="13" name="anim2_355"/>
          <p:cNvSpPr txBox="1"/>
          <p:nvPr/>
        </p:nvSpPr>
        <p:spPr>
          <a:xfrm>
            <a:off x="3520440" y="2926080"/>
            <a:ext cx="1965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Política nacional de SST minera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Ley 29783/2011: inspección obligatoria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Nacional de Seguridad en Minería (2020)</a:t>
            </a:r>
            <a:endParaRPr lang="en-US" sz="1050" dirty="0"/>
          </a:p>
        </p:txBody>
      </p:sp>
      <p:sp>
        <p:nvSpPr>
          <p:cNvPr id="14" name="anim2_356"/>
          <p:cNvSpPr/>
          <p:nvPr/>
        </p:nvSpPr>
        <p:spPr>
          <a:xfrm>
            <a:off x="3474720" y="489204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7EEF3"/>
          </a:solidFill>
          <a:ln w="12700">
            <a:solidFill>
              <a:srgbClr val="F7EEF3"/>
            </a:solidFill>
            <a:prstDash val="solid"/>
          </a:ln>
        </p:spPr>
      </p:sp>
      <p:sp>
        <p:nvSpPr>
          <p:cNvPr id="15" name="anim2_357"/>
          <p:cNvSpPr txBox="1"/>
          <p:nvPr/>
        </p:nvSpPr>
        <p:spPr>
          <a:xfrm>
            <a:off x="3566160" y="491947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21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Lección: </a:t>
            </a:r>
            <a:pPr indent="0" marL="0">
              <a:buNone/>
            </a:pPr>
            <a:r>
              <a:rPr lang="en-US" sz="100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Articulación tripartita Estado–empresas–trabajadores</a:t>
            </a:r>
            <a:endParaRPr lang="en-US" sz="1000" dirty="0"/>
          </a:p>
        </p:txBody>
      </p:sp>
      <p:sp>
        <p:nvSpPr>
          <p:cNvPr id="16" name="anim3_358"/>
          <p:cNvSpPr/>
          <p:nvPr/>
        </p:nvSpPr>
        <p:spPr>
          <a:xfrm>
            <a:off x="5806440" y="1920240"/>
            <a:ext cx="2286000" cy="397764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anim3_359"/>
          <p:cNvSpPr txBox="1"/>
          <p:nvPr/>
        </p:nvSpPr>
        <p:spPr>
          <a:xfrm>
            <a:off x="5989320" y="2057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E469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Sudáfrica</a:t>
            </a:r>
            <a:endParaRPr lang="en-US" sz="1900" dirty="0"/>
          </a:p>
        </p:txBody>
      </p:sp>
      <p:sp>
        <p:nvSpPr>
          <p:cNvPr id="18" name="anim3_360"/>
          <p:cNvSpPr txBox="1"/>
          <p:nvPr/>
        </p:nvSpPr>
        <p:spPr>
          <a:xfrm>
            <a:off x="5989320" y="2514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Ratificó el C176 en 2000</a:t>
            </a:r>
            <a:endParaRPr lang="en-US" sz="1000" dirty="0"/>
          </a:p>
        </p:txBody>
      </p:sp>
      <p:sp>
        <p:nvSpPr>
          <p:cNvPr id="19" name="anim3_361"/>
          <p:cNvSpPr txBox="1"/>
          <p:nvPr/>
        </p:nvSpPr>
        <p:spPr>
          <a:xfrm>
            <a:off x="5989320" y="2926080"/>
            <a:ext cx="1965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ODMWA (1973) y MHSA (1996)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Fondos de silicosis y tuberculosis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Acuerdo de 2018: 100.000 exmineros compensados</a:t>
            </a:r>
            <a:endParaRPr lang="en-US" sz="1050" dirty="0"/>
          </a:p>
        </p:txBody>
      </p:sp>
      <p:sp>
        <p:nvSpPr>
          <p:cNvPr id="20" name="anim3_362"/>
          <p:cNvSpPr/>
          <p:nvPr/>
        </p:nvSpPr>
        <p:spPr>
          <a:xfrm>
            <a:off x="5943600" y="489204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7EEF3"/>
          </a:solidFill>
          <a:ln w="12700">
            <a:solidFill>
              <a:srgbClr val="F7EEF3"/>
            </a:solidFill>
            <a:prstDash val="solid"/>
          </a:ln>
        </p:spPr>
      </p:sp>
      <p:sp>
        <p:nvSpPr>
          <p:cNvPr id="21" name="anim3_363"/>
          <p:cNvSpPr txBox="1"/>
          <p:nvPr/>
        </p:nvSpPr>
        <p:spPr>
          <a:xfrm>
            <a:off x="6035040" y="491947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21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Lección: </a:t>
            </a:r>
            <a:pPr indent="0" marL="0">
              <a:buNone/>
            </a:pPr>
            <a:r>
              <a:rPr lang="en-US" sz="100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Reparación de enfermedades de larga latencia</a:t>
            </a:r>
            <a:endParaRPr lang="en-US" sz="1000" dirty="0"/>
          </a:p>
        </p:txBody>
      </p:sp>
      <p:graphicFrame>
        <p:nvGraphicFramePr>
          <p:cNvPr id="22" name="anim4_chart" descr=""/>
          <p:cNvGraphicFramePr/>
          <p:nvPr/>
        </p:nvGraphicFramePr>
        <p:xfrm>
          <a:off x="8366760" y="1920240"/>
          <a:ext cx="27889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anim4_364"/>
          <p:cNvSpPr txBox="1"/>
          <p:nvPr/>
        </p:nvSpPr>
        <p:spPr>
          <a:xfrm>
            <a:off x="8366760" y="493776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1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–69 % en nueve años gracias al fortalecimiento normativo e institucional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2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Propuestas de armonización</a:t>
            </a:r>
            <a:endParaRPr lang="en-US" sz="3200" dirty="0"/>
          </a:p>
        </p:txBody>
      </p:sp>
      <p:sp>
        <p:nvSpPr>
          <p:cNvPr id="4" name="anim1_365"/>
          <p:cNvSpPr/>
          <p:nvPr/>
        </p:nvSpPr>
        <p:spPr>
          <a:xfrm>
            <a:off x="868680" y="1874520"/>
            <a:ext cx="32004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366"/>
          <p:cNvSpPr/>
          <p:nvPr/>
        </p:nvSpPr>
        <p:spPr>
          <a:xfrm>
            <a:off x="1033272" y="2148840"/>
            <a:ext cx="640080" cy="640080"/>
          </a:xfrm>
          <a:prstGeom prst="ellipse">
            <a:avLst/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pic>
        <p:nvPicPr>
          <p:cNvPr id="6" name="anim1_36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693" y="2315261"/>
            <a:ext cx="307238" cy="307238"/>
          </a:xfrm>
          <a:prstGeom prst="rect">
            <a:avLst/>
          </a:prstGeom>
        </p:spPr>
      </p:pic>
      <p:sp>
        <p:nvSpPr>
          <p:cNvPr id="7" name="anim1_368"/>
          <p:cNvSpPr txBox="1"/>
          <p:nvPr/>
        </p:nvSpPr>
        <p:spPr>
          <a:xfrm>
            <a:off x="1801368" y="19659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Ratificar los convenios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176, 102, 155 y 187, con mesas tripartitas</a:t>
            </a:r>
            <a:endParaRPr lang="en-US" sz="1200" dirty="0"/>
          </a:p>
        </p:txBody>
      </p:sp>
      <p:sp>
        <p:nvSpPr>
          <p:cNvPr id="8" name="anim2_369"/>
          <p:cNvSpPr/>
          <p:nvPr/>
        </p:nvSpPr>
        <p:spPr>
          <a:xfrm>
            <a:off x="4297680" y="1874520"/>
            <a:ext cx="32004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nim2_370"/>
          <p:cNvSpPr/>
          <p:nvPr/>
        </p:nvSpPr>
        <p:spPr>
          <a:xfrm>
            <a:off x="4462272" y="2148840"/>
            <a:ext cx="640080" cy="64008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10" name="anim2_37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693" y="2315261"/>
            <a:ext cx="307238" cy="307238"/>
          </a:xfrm>
          <a:prstGeom prst="rect">
            <a:avLst/>
          </a:prstGeom>
        </p:spPr>
      </p:pic>
      <p:sp>
        <p:nvSpPr>
          <p:cNvPr id="11" name="anim2_372"/>
          <p:cNvSpPr txBox="1"/>
          <p:nvPr/>
        </p:nvSpPr>
        <p:spPr>
          <a:xfrm>
            <a:off x="5230368" y="19659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Reformar el D. 2090/2003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Incluir cielo abierto, reducir las 700 semanas y prorrogar después de 2024</a:t>
            </a:r>
            <a:endParaRPr lang="en-US" sz="1200" dirty="0"/>
          </a:p>
        </p:txBody>
      </p:sp>
      <p:sp>
        <p:nvSpPr>
          <p:cNvPr id="12" name="anim3_373"/>
          <p:cNvSpPr/>
          <p:nvPr/>
        </p:nvSpPr>
        <p:spPr>
          <a:xfrm>
            <a:off x="7726680" y="1874520"/>
            <a:ext cx="32004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anim3_374"/>
          <p:cNvSpPr/>
          <p:nvPr/>
        </p:nvSpPr>
        <p:spPr>
          <a:xfrm>
            <a:off x="7891272" y="2148840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4" name="anim3_37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7693" y="2315261"/>
            <a:ext cx="307238" cy="307238"/>
          </a:xfrm>
          <a:prstGeom prst="rect">
            <a:avLst/>
          </a:prstGeom>
        </p:spPr>
      </p:pic>
      <p:sp>
        <p:nvSpPr>
          <p:cNvPr id="15" name="anim3_376"/>
          <p:cNvSpPr txBox="1"/>
          <p:nvPr/>
        </p:nvSpPr>
        <p:spPr>
          <a:xfrm>
            <a:off x="8659368" y="19659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Inspección minera especializada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Convenio MinTrabajo–ANM y registro público de sanciones</a:t>
            </a:r>
            <a:endParaRPr lang="en-US" sz="1200" dirty="0"/>
          </a:p>
        </p:txBody>
      </p:sp>
      <p:sp>
        <p:nvSpPr>
          <p:cNvPr id="16" name="anim4_377"/>
          <p:cNvSpPr/>
          <p:nvPr/>
        </p:nvSpPr>
        <p:spPr>
          <a:xfrm>
            <a:off x="868680" y="3246120"/>
            <a:ext cx="32004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anim4_378"/>
          <p:cNvSpPr/>
          <p:nvPr/>
        </p:nvSpPr>
        <p:spPr>
          <a:xfrm>
            <a:off x="1033272" y="3520440"/>
            <a:ext cx="640080" cy="640080"/>
          </a:xfrm>
          <a:prstGeom prst="ellipse">
            <a:avLst/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pic>
        <p:nvPicPr>
          <p:cNvPr id="18" name="anim4_37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693" y="3686861"/>
            <a:ext cx="307238" cy="307238"/>
          </a:xfrm>
          <a:prstGeom prst="rect">
            <a:avLst/>
          </a:prstGeom>
        </p:spPr>
      </p:pic>
      <p:sp>
        <p:nvSpPr>
          <p:cNvPr id="19" name="anim4_380"/>
          <p:cNvSpPr txBox="1"/>
          <p:nvPr/>
        </p:nvSpPr>
        <p:spPr>
          <a:xfrm>
            <a:off x="1801368" y="3337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 ocupacional única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Registro electrónico de exposición a agentes nocivos</a:t>
            </a:r>
            <a:endParaRPr lang="en-US" sz="1200" dirty="0"/>
          </a:p>
        </p:txBody>
      </p:sp>
      <p:sp>
        <p:nvSpPr>
          <p:cNvPr id="20" name="anim5_381"/>
          <p:cNvSpPr/>
          <p:nvPr/>
        </p:nvSpPr>
        <p:spPr>
          <a:xfrm>
            <a:off x="4297680" y="3246120"/>
            <a:ext cx="32004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anim5_382"/>
          <p:cNvSpPr/>
          <p:nvPr/>
        </p:nvSpPr>
        <p:spPr>
          <a:xfrm>
            <a:off x="4462272" y="3520440"/>
            <a:ext cx="640080" cy="64008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22" name="anim5_38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8693" y="3686861"/>
            <a:ext cx="307238" cy="307238"/>
          </a:xfrm>
          <a:prstGeom prst="rect">
            <a:avLst/>
          </a:prstGeom>
        </p:spPr>
      </p:pic>
      <p:sp>
        <p:nvSpPr>
          <p:cNvPr id="23" name="anim5_384"/>
          <p:cNvSpPr txBox="1"/>
          <p:nvPr/>
        </p:nvSpPr>
        <p:spPr>
          <a:xfrm>
            <a:off x="5230368" y="3337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Presunciones en el D. 1477/2014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Origen laboral de silicosis, neumoconiosis y EPOC</a:t>
            </a:r>
            <a:endParaRPr lang="en-US" sz="1200" dirty="0"/>
          </a:p>
        </p:txBody>
      </p:sp>
      <p:sp>
        <p:nvSpPr>
          <p:cNvPr id="24" name="anim6_385"/>
          <p:cNvSpPr/>
          <p:nvPr/>
        </p:nvSpPr>
        <p:spPr>
          <a:xfrm>
            <a:off x="7726680" y="3246120"/>
            <a:ext cx="32004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anim6_386"/>
          <p:cNvSpPr/>
          <p:nvPr/>
        </p:nvSpPr>
        <p:spPr>
          <a:xfrm>
            <a:off x="7891272" y="3520440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26" name="anim6_38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7693" y="3686861"/>
            <a:ext cx="307238" cy="307238"/>
          </a:xfrm>
          <a:prstGeom prst="rect">
            <a:avLst/>
          </a:prstGeom>
        </p:spPr>
      </p:pic>
      <p:sp>
        <p:nvSpPr>
          <p:cNvPr id="27" name="anim6_388"/>
          <p:cNvSpPr txBox="1"/>
          <p:nvPr/>
        </p:nvSpPr>
        <p:spPr>
          <a:xfrm>
            <a:off x="8659368" y="3337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Piso de protección minero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Seguro subsidiado para mineros informales (R202)</a:t>
            </a:r>
            <a:endParaRPr lang="en-US" sz="1200" dirty="0"/>
          </a:p>
        </p:txBody>
      </p:sp>
      <p:sp>
        <p:nvSpPr>
          <p:cNvPr id="28" name="anim7_389"/>
          <p:cNvSpPr/>
          <p:nvPr/>
        </p:nvSpPr>
        <p:spPr>
          <a:xfrm>
            <a:off x="868680" y="4617720"/>
            <a:ext cx="32004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anim7_390"/>
          <p:cNvSpPr/>
          <p:nvPr/>
        </p:nvSpPr>
        <p:spPr>
          <a:xfrm>
            <a:off x="1033272" y="4892040"/>
            <a:ext cx="640080" cy="640080"/>
          </a:xfrm>
          <a:prstGeom prst="ellipse">
            <a:avLst/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pic>
        <p:nvPicPr>
          <p:cNvPr id="30" name="anim7_39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9693" y="5058461"/>
            <a:ext cx="307238" cy="307238"/>
          </a:xfrm>
          <a:prstGeom prst="rect">
            <a:avLst/>
          </a:prstGeom>
        </p:spPr>
      </p:pic>
      <p:sp>
        <p:nvSpPr>
          <p:cNvPr id="31" name="anim7_392"/>
          <p:cNvSpPr txBox="1"/>
          <p:nvPr/>
        </p:nvSpPr>
        <p:spPr>
          <a:xfrm>
            <a:off x="1801368" y="47091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Prestaciones suficientes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Montos mínimos garantizados y Fondo Solidario de Protección Minera</a:t>
            </a:r>
            <a:endParaRPr lang="en-US" sz="1200" dirty="0"/>
          </a:p>
        </p:txBody>
      </p:sp>
      <p:sp>
        <p:nvSpPr>
          <p:cNvPr id="32" name="anim8_393"/>
          <p:cNvSpPr/>
          <p:nvPr/>
        </p:nvSpPr>
        <p:spPr>
          <a:xfrm>
            <a:off x="4297680" y="4617720"/>
            <a:ext cx="32004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anim8_394"/>
          <p:cNvSpPr/>
          <p:nvPr/>
        </p:nvSpPr>
        <p:spPr>
          <a:xfrm>
            <a:off x="4462272" y="4892040"/>
            <a:ext cx="640080" cy="64008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pic>
        <p:nvPicPr>
          <p:cNvPr id="34" name="anim8_39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28693" y="5058461"/>
            <a:ext cx="307238" cy="307238"/>
          </a:xfrm>
          <a:prstGeom prst="rect">
            <a:avLst/>
          </a:prstGeom>
        </p:spPr>
      </p:pic>
      <p:sp>
        <p:nvSpPr>
          <p:cNvPr id="35" name="anim8_396"/>
          <p:cNvSpPr txBox="1"/>
          <p:nvPr/>
        </p:nvSpPr>
        <p:spPr>
          <a:xfrm>
            <a:off x="5230368" y="47091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Participación y derecho de retiro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Delegados de SST y retiro ante peligro inminente (C176)</a:t>
            </a:r>
            <a:endParaRPr lang="en-US" sz="1200" dirty="0"/>
          </a:p>
        </p:txBody>
      </p:sp>
      <p:sp>
        <p:nvSpPr>
          <p:cNvPr id="36" name="anim9_397"/>
          <p:cNvSpPr/>
          <p:nvPr/>
        </p:nvSpPr>
        <p:spPr>
          <a:xfrm>
            <a:off x="7726680" y="4617720"/>
            <a:ext cx="32004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anim9_398"/>
          <p:cNvSpPr/>
          <p:nvPr/>
        </p:nvSpPr>
        <p:spPr>
          <a:xfrm>
            <a:off x="7891272" y="4892040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38" name="anim9_39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57693" y="5058461"/>
            <a:ext cx="307238" cy="307238"/>
          </a:xfrm>
          <a:prstGeom prst="rect">
            <a:avLst/>
          </a:prstGeom>
        </p:spPr>
      </p:pic>
      <p:sp>
        <p:nvSpPr>
          <p:cNvPr id="39" name="anim9_400"/>
          <p:cNvSpPr txBox="1"/>
          <p:nvPr/>
        </p:nvSpPr>
        <p:spPr>
          <a:xfrm>
            <a:off x="8659368" y="47091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interinstitucional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Cruce de datos entre ANM, MinTrabajo, UGPP, ARL y EPS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20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400"/>
                            </p:stCondLst>
                            <p:childTnLst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800"/>
                            </p:stCondLst>
                            <p:childTnLst>
                              <p:par>
                                <p:cTn id="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3200"/>
                            </p:stCondLst>
                            <p:childTnLst>
                              <p:par>
                                <p:cTn id="10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4" name="anim1_401"/>
          <p:cNvSpPr/>
          <p:nvPr/>
        </p:nvSpPr>
        <p:spPr>
          <a:xfrm>
            <a:off x="868680" y="1874520"/>
            <a:ext cx="10241280" cy="1234440"/>
          </a:xfrm>
          <a:prstGeom prst="roundRect">
            <a:avLst>
              <a:gd name="adj" fmla="val 8889"/>
            </a:avLst>
          </a:prstGeom>
          <a:solidFill>
            <a:srgbClr val="F7EEF3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nim1_402"/>
          <p:cNvSpPr txBox="1"/>
          <p:nvPr/>
        </p:nvSpPr>
        <p:spPr>
          <a:xfrm>
            <a:off x="1143000" y="1920240"/>
            <a:ext cx="9692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Desarrollo formal considerable, </a:t>
            </a:r>
            <a:pPr algn="ctr" indent="0" marL="0">
              <a:buNone/>
            </a:pPr>
            <a:r>
              <a:rPr lang="en-US" sz="2400" dirty="0">
                <a:solidFill>
                  <a:srgbClr val="E0114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eficacia material insuficiente.</a:t>
            </a:r>
            <a:endParaRPr lang="en-US" sz="2400" dirty="0"/>
          </a:p>
        </p:txBody>
      </p:sp>
      <p:sp>
        <p:nvSpPr>
          <p:cNvPr id="6" name="anim2_403"/>
          <p:cNvSpPr/>
          <p:nvPr/>
        </p:nvSpPr>
        <p:spPr>
          <a:xfrm>
            <a:off x="868680" y="3383280"/>
            <a:ext cx="32461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anim2_404"/>
          <p:cNvSpPr/>
          <p:nvPr/>
        </p:nvSpPr>
        <p:spPr>
          <a:xfrm>
            <a:off x="1069848" y="3566160"/>
            <a:ext cx="548640" cy="548640"/>
          </a:xfrm>
          <a:prstGeom prst="ellipse">
            <a:avLst/>
          </a:prstGeom>
          <a:solidFill>
            <a:srgbClr val="E0114F"/>
          </a:solidFill>
          <a:ln w="12700">
            <a:solidFill>
              <a:srgbClr val="E0114F"/>
            </a:solidFill>
            <a:prstDash val="solid"/>
          </a:ln>
        </p:spPr>
      </p:sp>
      <p:sp>
        <p:nvSpPr>
          <p:cNvPr id="8" name="anim2_405"/>
          <p:cNvSpPr txBox="1"/>
          <p:nvPr/>
        </p:nvSpPr>
        <p:spPr>
          <a:xfrm>
            <a:off x="1069848" y="3566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</a:t>
            </a:r>
            <a:endParaRPr lang="en-US" sz="1400" dirty="0"/>
          </a:p>
        </p:txBody>
      </p:sp>
      <p:sp>
        <p:nvSpPr>
          <p:cNvPr id="9" name="anim2_406"/>
          <p:cNvSpPr txBox="1"/>
          <p:nvPr/>
        </p:nvSpPr>
        <p:spPr>
          <a:xfrm>
            <a:off x="173736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Régimen colombiano</a:t>
            </a:r>
            <a:endParaRPr lang="en-US" sz="1400" dirty="0"/>
          </a:p>
        </p:txBody>
      </p:sp>
      <p:sp>
        <p:nvSpPr>
          <p:cNvPr id="10" name="anim2_407"/>
          <p:cNvSpPr txBox="1"/>
          <p:nvPr/>
        </p:nvSpPr>
        <p:spPr>
          <a:xfrm>
            <a:off x="1069848" y="42519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D. 2090/2003 es el principal instrumento, pero se limita a la minería subterránea y sigue una lógica formal: el acceso depende de la afiliación, los aportes y la prueba de la exposición.</a:t>
            </a:r>
            <a:endParaRPr lang="en-US" sz="1100" dirty="0"/>
          </a:p>
        </p:txBody>
      </p:sp>
      <p:sp>
        <p:nvSpPr>
          <p:cNvPr id="11" name="anim3_408"/>
          <p:cNvSpPr/>
          <p:nvPr/>
        </p:nvSpPr>
        <p:spPr>
          <a:xfrm>
            <a:off x="4343400" y="3383280"/>
            <a:ext cx="32461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anim3_409"/>
          <p:cNvSpPr/>
          <p:nvPr/>
        </p:nvSpPr>
        <p:spPr>
          <a:xfrm>
            <a:off x="4544568" y="3566160"/>
            <a:ext cx="548640" cy="54864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sp>
        <p:nvSpPr>
          <p:cNvPr id="13" name="anim3_410"/>
          <p:cNvSpPr txBox="1"/>
          <p:nvPr/>
        </p:nvSpPr>
        <p:spPr>
          <a:xfrm>
            <a:off x="4544568" y="3566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II</a:t>
            </a:r>
            <a:endParaRPr lang="en-US" sz="1400" dirty="0"/>
          </a:p>
        </p:txBody>
      </p:sp>
      <p:sp>
        <p:nvSpPr>
          <p:cNvPr id="14" name="anim3_411"/>
          <p:cNvSpPr txBox="1"/>
          <p:nvPr/>
        </p:nvSpPr>
        <p:spPr>
          <a:xfrm>
            <a:off x="521208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Estándares OIT</a:t>
            </a:r>
            <a:endParaRPr lang="en-US" sz="1400" dirty="0"/>
          </a:p>
        </p:txBody>
      </p:sp>
      <p:sp>
        <p:nvSpPr>
          <p:cNvPr id="15" name="anim3_412"/>
          <p:cNvSpPr txBox="1"/>
          <p:nvPr/>
        </p:nvSpPr>
        <p:spPr>
          <a:xfrm>
            <a:off x="4544568" y="42519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C176, C102, C155, C187, C121, C81, R183 y R202 deben leerse como un sistema que articula prevención, inspección, cobertura y prestaciones suficientes.</a:t>
            </a:r>
            <a:endParaRPr lang="en-US" sz="1100" dirty="0"/>
          </a:p>
        </p:txBody>
      </p:sp>
      <p:sp>
        <p:nvSpPr>
          <p:cNvPr id="16" name="anim4_413"/>
          <p:cNvSpPr/>
          <p:nvPr/>
        </p:nvSpPr>
        <p:spPr>
          <a:xfrm>
            <a:off x="7818120" y="3383280"/>
            <a:ext cx="32461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anim4_414"/>
          <p:cNvSpPr/>
          <p:nvPr/>
        </p:nvSpPr>
        <p:spPr>
          <a:xfrm>
            <a:off x="8019288" y="3566160"/>
            <a:ext cx="548640" cy="54864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sp>
        <p:nvSpPr>
          <p:cNvPr id="18" name="anim4_415"/>
          <p:cNvSpPr txBox="1"/>
          <p:nvPr/>
        </p:nvSpPr>
        <p:spPr>
          <a:xfrm>
            <a:off x="8019288" y="3566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III</a:t>
            </a:r>
            <a:endParaRPr lang="en-US" sz="1400" dirty="0"/>
          </a:p>
        </p:txBody>
      </p:sp>
      <p:sp>
        <p:nvSpPr>
          <p:cNvPr id="19" name="anim4_416"/>
          <p:cNvSpPr txBox="1"/>
          <p:nvPr/>
        </p:nvSpPr>
        <p:spPr>
          <a:xfrm>
            <a:off x="868680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Convencionalidad</a:t>
            </a:r>
            <a:endParaRPr lang="en-US" sz="1400" dirty="0"/>
          </a:p>
        </p:txBody>
      </p:sp>
      <p:sp>
        <p:nvSpPr>
          <p:cNvPr id="20" name="anim4_417"/>
          <p:cNvSpPr txBox="1"/>
          <p:nvPr/>
        </p:nvSpPr>
        <p:spPr>
          <a:xfrm>
            <a:off x="8019288" y="42519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Las brechas se concentran en cobertura, acceso, suficiencia y equidad; la pensión del minero no puede separarse de la prevención y la formalización.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20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241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A3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Hacia un modelo integral</a:t>
            </a:r>
            <a:endParaRPr lang="en-US" sz="3200" dirty="0"/>
          </a:p>
        </p:txBody>
      </p:sp>
      <p:sp>
        <p:nvSpPr>
          <p:cNvPr id="4" name="anim1_418"/>
          <p:cNvSpPr/>
          <p:nvPr/>
        </p:nvSpPr>
        <p:spPr>
          <a:xfrm>
            <a:off x="2743200" y="3063240"/>
            <a:ext cx="1828800" cy="1828800"/>
          </a:xfrm>
          <a:prstGeom prst="ellipse">
            <a:avLst/>
          </a:prstGeom>
          <a:solidFill>
            <a:srgbClr val="C72163"/>
          </a:solidFill>
          <a:ln w="12700">
            <a:solidFill>
              <a:srgbClr val="C72163"/>
            </a:solidFill>
            <a:prstDash val="solid"/>
          </a:ln>
        </p:spPr>
      </p:sp>
      <p:sp>
        <p:nvSpPr>
          <p:cNvPr id="5" name="anim1_419"/>
          <p:cNvSpPr txBox="1"/>
          <p:nvPr/>
        </p:nvSpPr>
        <p:spPr>
          <a:xfrm>
            <a:off x="2834640" y="342900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Pensión del minero</a:t>
            </a:r>
            <a:endParaRPr lang="en-US" sz="1400" dirty="0"/>
          </a:p>
        </p:txBody>
      </p:sp>
      <p:sp>
        <p:nvSpPr>
          <p:cNvPr id="6" name="anim2_420"/>
          <p:cNvSpPr/>
          <p:nvPr/>
        </p:nvSpPr>
        <p:spPr>
          <a:xfrm>
            <a:off x="4892040" y="3657600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7" name="anim2_42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461" y="3824021"/>
            <a:ext cx="307238" cy="307238"/>
          </a:xfrm>
          <a:prstGeom prst="rect">
            <a:avLst/>
          </a:prstGeom>
        </p:spPr>
      </p:pic>
      <p:sp>
        <p:nvSpPr>
          <p:cNvPr id="8" name="anim2_422"/>
          <p:cNvSpPr txBox="1"/>
          <p:nvPr/>
        </p:nvSpPr>
        <p:spPr>
          <a:xfrm>
            <a:off x="5623560" y="3703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Inspección</a:t>
            </a:r>
            <a:endParaRPr lang="en-US" sz="1150" dirty="0"/>
          </a:p>
        </p:txBody>
      </p:sp>
      <p:sp>
        <p:nvSpPr>
          <p:cNvPr id="9" name="anim3_423"/>
          <p:cNvSpPr/>
          <p:nvPr/>
        </p:nvSpPr>
        <p:spPr>
          <a:xfrm>
            <a:off x="4114800" y="5003819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0" name="anim3_4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1221" y="5170240"/>
            <a:ext cx="307238" cy="307238"/>
          </a:xfrm>
          <a:prstGeom prst="rect">
            <a:avLst/>
          </a:prstGeom>
        </p:spPr>
      </p:pic>
      <p:sp>
        <p:nvSpPr>
          <p:cNvPr id="11" name="anim3_425"/>
          <p:cNvSpPr txBox="1"/>
          <p:nvPr/>
        </p:nvSpPr>
        <p:spPr>
          <a:xfrm>
            <a:off x="3657600" y="5689619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Vigilancia médica</a:t>
            </a:r>
            <a:endParaRPr lang="en-US" sz="1150" dirty="0"/>
          </a:p>
        </p:txBody>
      </p:sp>
      <p:sp>
        <p:nvSpPr>
          <p:cNvPr id="12" name="anim4_426"/>
          <p:cNvSpPr/>
          <p:nvPr/>
        </p:nvSpPr>
        <p:spPr>
          <a:xfrm>
            <a:off x="2560320" y="5003819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3" name="anim4_4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6741" y="5170240"/>
            <a:ext cx="307238" cy="307238"/>
          </a:xfrm>
          <a:prstGeom prst="rect">
            <a:avLst/>
          </a:prstGeom>
        </p:spPr>
      </p:pic>
      <p:sp>
        <p:nvSpPr>
          <p:cNvPr id="14" name="anim4_428"/>
          <p:cNvSpPr txBox="1"/>
          <p:nvPr/>
        </p:nvSpPr>
        <p:spPr>
          <a:xfrm>
            <a:off x="2103120" y="5689619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Formalización</a:t>
            </a:r>
            <a:endParaRPr lang="en-US" sz="1150" dirty="0"/>
          </a:p>
        </p:txBody>
      </p:sp>
      <p:sp>
        <p:nvSpPr>
          <p:cNvPr id="15" name="anim5_429"/>
          <p:cNvSpPr/>
          <p:nvPr/>
        </p:nvSpPr>
        <p:spPr>
          <a:xfrm>
            <a:off x="1783080" y="3657600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6" name="anim5_43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9501" y="3824021"/>
            <a:ext cx="307238" cy="307238"/>
          </a:xfrm>
          <a:prstGeom prst="rect">
            <a:avLst/>
          </a:prstGeom>
        </p:spPr>
      </p:pic>
      <p:sp>
        <p:nvSpPr>
          <p:cNvPr id="17" name="anim5_431"/>
          <p:cNvSpPr txBox="1"/>
          <p:nvPr/>
        </p:nvSpPr>
        <p:spPr>
          <a:xfrm>
            <a:off x="365760" y="3703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Prevención</a:t>
            </a:r>
            <a:endParaRPr lang="en-US" sz="1150" dirty="0"/>
          </a:p>
        </p:txBody>
      </p:sp>
      <p:sp>
        <p:nvSpPr>
          <p:cNvPr id="18" name="anim6_432"/>
          <p:cNvSpPr/>
          <p:nvPr/>
        </p:nvSpPr>
        <p:spPr>
          <a:xfrm>
            <a:off x="2560320" y="2311381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19" name="anim6_43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6741" y="2477802"/>
            <a:ext cx="307238" cy="307238"/>
          </a:xfrm>
          <a:prstGeom prst="rect">
            <a:avLst/>
          </a:prstGeom>
        </p:spPr>
      </p:pic>
      <p:sp>
        <p:nvSpPr>
          <p:cNvPr id="20" name="anim6_434"/>
          <p:cNvSpPr txBox="1"/>
          <p:nvPr/>
        </p:nvSpPr>
        <p:spPr>
          <a:xfrm>
            <a:off x="2103120" y="1854181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Registro de exposición</a:t>
            </a:r>
            <a:endParaRPr lang="en-US" sz="1150" dirty="0"/>
          </a:p>
        </p:txBody>
      </p:sp>
      <p:sp>
        <p:nvSpPr>
          <p:cNvPr id="21" name="anim7_435"/>
          <p:cNvSpPr/>
          <p:nvPr/>
        </p:nvSpPr>
        <p:spPr>
          <a:xfrm>
            <a:off x="4114800" y="2311381"/>
            <a:ext cx="640080" cy="640080"/>
          </a:xfrm>
          <a:prstGeom prst="ellipse">
            <a:avLst/>
          </a:prstGeom>
          <a:solidFill>
            <a:srgbClr val="7E4691"/>
          </a:solidFill>
          <a:ln w="12700">
            <a:solidFill>
              <a:srgbClr val="7E4691"/>
            </a:solidFill>
            <a:prstDash val="solid"/>
          </a:ln>
        </p:spPr>
      </p:sp>
      <p:pic>
        <p:nvPicPr>
          <p:cNvPr id="22" name="anim7_43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1221" y="2477802"/>
            <a:ext cx="307238" cy="307238"/>
          </a:xfrm>
          <a:prstGeom prst="rect">
            <a:avLst/>
          </a:prstGeom>
        </p:spPr>
      </p:pic>
      <p:sp>
        <p:nvSpPr>
          <p:cNvPr id="23" name="anim7_437"/>
          <p:cNvSpPr txBox="1"/>
          <p:nvPr/>
        </p:nvSpPr>
        <p:spPr>
          <a:xfrm>
            <a:off x="3657600" y="1854181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Compensación</a:t>
            </a:r>
            <a:endParaRPr lang="en-US" sz="1150" dirty="0"/>
          </a:p>
        </p:txBody>
      </p:sp>
      <p:sp>
        <p:nvSpPr>
          <p:cNvPr id="24" name="anim8_438"/>
          <p:cNvSpPr/>
          <p:nvPr/>
        </p:nvSpPr>
        <p:spPr>
          <a:xfrm>
            <a:off x="6949440" y="1920240"/>
            <a:ext cx="4160520" cy="3977640"/>
          </a:xfrm>
          <a:prstGeom prst="roundRect">
            <a:avLst>
              <a:gd name="adj" fmla="val 2759"/>
            </a:avLst>
          </a:prstGeom>
          <a:solidFill>
            <a:srgbClr val="F1ECF6"/>
          </a:solidFill>
          <a:ln w="9525">
            <a:solidFill>
              <a:srgbClr val="E6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anim8_439"/>
          <p:cNvSpPr txBox="1"/>
          <p:nvPr/>
        </p:nvSpPr>
        <p:spPr>
          <a:xfrm>
            <a:off x="7178040" y="2057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469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Agenda mínima de armonización</a:t>
            </a:r>
            <a:endParaRPr lang="en-US" sz="1400" dirty="0"/>
          </a:p>
        </p:txBody>
      </p:sp>
      <p:sp>
        <p:nvSpPr>
          <p:cNvPr id="26" name="anim9_440"/>
          <p:cNvSpPr txBox="1"/>
          <p:nvPr/>
        </p:nvSpPr>
        <p:spPr>
          <a:xfrm>
            <a:off x="7178040" y="2560320"/>
            <a:ext cx="3794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Revisar el Decreto Ley 2090 de 2003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Ampliar el concepto de minería de alto riesgo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Reforzar la inspección laboral y minera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Crear un registro nacional de exposición ocupacional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Mejorar la calificación de enfermedades laborales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Incluir a los mineros informales en el Sistema General de Riesgos Laborales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3A38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Crear protección social mínima fuera del sistema contributivo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4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2800"/>
                            </p:stCondLst>
                            <p:childTnLst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3200"/>
                            </p:stCondLst>
                            <p:childTnLst>
                              <p:par>
                                <p:cTn id="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1_441"/>
          <p:cNvSpPr txBox="1"/>
          <p:nvPr/>
        </p:nvSpPr>
        <p:spPr>
          <a:xfrm>
            <a:off x="2926080" y="5806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¡Gracias!  ·  Preguntas del jurado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Sustentación trabajo de grado – UPB</dc:title>
  <dc:subject>PptxGenJS Presentation</dc:subject>
  <dc:creator>Daniel Ricardo Angarita Rincón · Gustavo Andrés Martínez Cepeda</dc:creator>
  <cp:lastModifiedBy>Daniel Ricardo Angarita Rincón · Gustavo Andrés Martínez Cepeda</cp:lastModifiedBy>
  <cp:revision>1</cp:revision>
  <dcterms:created xsi:type="dcterms:W3CDTF">2026-09-30T05:40:11Z</dcterms:created>
  <dcterms:modified xsi:type="dcterms:W3CDTF">2026-09-30T05:40:11Z</dcterms:modified>
</cp:coreProperties>
</file>