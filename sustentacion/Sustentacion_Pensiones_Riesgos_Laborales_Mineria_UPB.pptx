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5E5B5B"/>
                </a:solidFill>
                <a:latin typeface="Montserrat"/>
              </a:defRPr>
            </a:pPr>
            <a:r>
              <a:rPr sz="1600" b="0" i="0" u="none" strike="noStrike">
                <a:solidFill>
                  <a:srgbClr val="5E5B5B"/>
                </a:solidFill>
                <a:latin typeface="Montserrat"/>
              </a:rPr>
              <a:t>Peso de la minería en el mundo (OIT, 2011)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Minería</c:v>
                </c:pt>
              </c:strCache>
            </c:strRef>
          </c:tx>
          <c:spPr>
            <a:solidFill>
              <a:srgbClr val="7E469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2800" u="none">
                    <a:solidFill>
                      <a:srgbClr val="3A3838"/>
                    </a:solidFill>
                    <a:latin typeface="Montserrat Extra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E469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114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Fuerza laboral</c:v>
                  </c:pt>
                  <c:pt idx="1">
                    <c:v>Accidentes fatales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2800" u="none">
                  <a:solidFill>
                    <a:srgbClr val="3A3838"/>
                  </a:solidFill>
                  <a:latin typeface="Montserrat Extra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A3838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5E5B5B"/>
                </a:solidFill>
                <a:latin typeface="Montserrat"/>
              </a:defRPr>
            </a:pPr>
            <a:r>
              <a:rPr sz="1600" b="0" i="0" u="none" strike="noStrike">
                <a:solidFill>
                  <a:srgbClr val="5E5B5B"/>
                </a:solidFill>
                <a:latin typeface="Montserrat"/>
              </a:rPr>
              <a:t>8 estándares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Nivel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114F"/>
              </a:solidFill>
              <a:effectLst/>
            </c:spPr>
          </c:dPt>
          <c:dPt>
            <c:idx val="1"/>
            <c:bubble3D val="0"/>
            <c:spPr>
              <a:solidFill>
                <a:srgbClr val="D98200"/>
              </a:solidFill>
              <a:effectLst/>
            </c:spPr>
          </c:dPt>
          <c:dPt>
            <c:idx val="2"/>
            <c:bubble3D val="0"/>
            <c:spPr>
              <a:solidFill>
                <a:srgbClr val="2E8B57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FFFFFF"/>
                      </a:solidFill>
                      <a:latin typeface="Montserrat ExtraBold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FFFFFF"/>
                      </a:solidFill>
                      <a:latin typeface="Montserrat ExtraBold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FFFFFF"/>
                      </a:solidFill>
                      <a:latin typeface="Montserrat ExtraBold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Baja</c:v>
                </c:pt>
                <c:pt idx="1">
                  <c:v>Media</c:v>
                </c:pt>
                <c:pt idx="2">
                  <c:v>Alta formal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3A3838"/>
              </a:solidFill>
              <a:latin typeface="Montserrat"/>
              <a:cs typeface="Montserra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 al jurado. Presentación de los autores y de la directora. Título: análisis de convencionalidad del régimen de pensiones por riesgos laborales en minería frente a los estándares OIT.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estructura: contexto y problema, diseño de la investigación, los tres bloques de resultados (uno por objetivo específico), propuestas y conclusiones.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del contexto colombiano tomadas del documento (ANM 2022, Triana 2026, MinTrabajo 2017, IDEAM 2018). Remarcar que el problema no es solo de accidentes sino de enfermedades de larga latencia.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OIT (2011): la minería emplea cerca del 1 % de la fuerza laboral mundial pero concentra alrededor del 8 % de los accidentes fatales; unas 15.000 muertes al año. El Convenio 176 solo tiene 35 ratificaciones.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pregunta completa. Explicar que los cuatro criterios (cobertura, acceso, suficiencia y equidad) son el eje del análisis de convencionalidad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general se desarrolla en tres objetivos específicos; cada uno corresponde a un bloque de resultados: I caracterizar, II examinar, III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razones: vacío académico en control de convencionalidad aplicado a SST minera; desfase entre normas formales y siniestralidad; utilidad para políticas públicas.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Enfoque cualitativo, alcance descriptivo-explicativo, diseño documental-jurídico-comparativo. No hay población ni muestra; los datos estadísticos se usan solo como respaldo documental.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 objetivo específico: caracterizar el régimen.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línea de tiempo. Enfatizar: el D. 2090/2003 unificó el régimen; la vigencia para nuevos afiliados se prorrogó hasta el 31-dic-2024; la Res. 6072/2024 protege a quienes estaban vinculados a esa fecha.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Requisitos: 55 años (reducibles hasta 50 con 60 semanas especiales adicionales por año), 700 semanas en alto riesgo, 1.300 semanas totales, cotización adicional del 10 % a cargo del empleador. Solo cubre la minería en socavón o subterránea.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Corte ha consolidado una línea protectora: interpretación favorable al trabajador y rechazo de que fallas de terceros (empleadores, administradoras) frustren el acceso a la pensión.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objetivo específico: examinar los estándares OIT aplicables.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Colombia solo ha ratificado el Convenio 81 (inspección). Los demás operan como criterios orientadores e interpretativos (art. 93 CP), no como obligaciones convencionales.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principios con los que se evalúa el régimen. La efectividad se agrega como criterio material: una norma que no se cumple no protege.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Tercer objetivo específico: comparar la norma colombiana con los estándares OIT.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Síntesis de la Tabla 2. Ningún estándar alcanza armonización alta en el cumplimiento material; el C81 solo en el plano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brechas centrales. Cobertura: informalidad superior al 50 % (ANM) y cercana al 70 % (Rubiano et al.). Acceso: pruebas y afiliación. Suficiencia: incapacidades del 50–75 % del salario base (Ley 776/2002). Equidad: solo socavón y cierre a nuevos afiliados en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Vacíos prácticos que explican por qué la protección formal no llega al minero. RAIS: el beneficio solo opera en el régimen público. Barreras probatorias: certificaciones ausentes, aportes del 10 % no pagados, empleadores liquidados.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Chile: institucionalidad técnica (SERNAGEOMIN, SUSESO, mutuales); los fallecidos bajaron de 45 en 2010 a 14 en 2019. Perú: ratificó el C176 y creó un plan nacional tripartito. Sudáfrica: ODMWA 1973, MHSA 1996 y fondos de silicosis y TB; acuerdo de 2018 para 100.000 exmineros.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Reforma del D. 2090: incluir minería a cielo abierto con exposición a sílice o mercurio, reducir las 700 semanas, prorrogar más allá de 2024 y ajustar las pensiones. D. 1477: presunción de origen laboral de silicosis, neumoconiosis y EPOC tras cierto tiempo en minas.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Inspección especializada vía convenio MinTrabajo–ANM, registro público de sanciones y unidades móviles de ARL/EPS. Historia ocupacional única integrada al SISPRO. Delegados de SST y derecho de retiro ante peligro inminente (C176). Cruce de datos entre ANM, MinTrabajo, UGPP, ARL y 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fuerza: el régimen tiene un desarrollo formal considerable, pero su eficacia material es insuficiente. I: el D. 2090 se limita a la minería subterránea y el acceso depende de afiliación, aportes y prueba. II: los instrumentos OIT forman un sistema. III: brechas en cobertura, acceso, suficiencia y equidad.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no basta una pensión especial de vejez si no hay prevención, inspección, vigilancia epidemiológica y registro de exposición. Agenda completa: revisar el DL 2090/2003, ampliar el concepto de minería de alto riesgo, reforzar la inspección, crear un registro nacional de exposición, mejorar la calificación, incluir a los informales y crear protección social mínima.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al jurado y a la directora. Abrir el espacio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4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17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7552" y="2286000"/>
            <a:ext cx="64008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ANÁLISIS DE LA CONVENCIONALIDAD DE LA NORMATIVIDAD COLOMBIANA APLICABLE AL RÉGIMEN DE PENSIONES POR RIESGOS LABORALES DE LOS TRABAJADORES DE LA MINERÍA EN COLOMBIA SEGÚN LOS ESTÁNDARES DE LA OIT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987552" y="4425696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Daniel Ricardo Angarita Rincón · Gustavo Andrés Martínez Cepeda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Directora: Yudy Tatiana Fuentes Agudelo, Mg. en Derecho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Trabajo de grado para optar al título de Abogado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Ruta de la sustentación</a:t>
            </a:r>
            <a:endParaRPr lang="en-US" sz="3400" dirty="0"/>
          </a:p>
        </p:txBody>
      </p:sp>
      <p:sp>
        <p:nvSpPr>
          <p:cNvPr id="4" name="anim1_1"/>
          <p:cNvSpPr/>
          <p:nvPr/>
        </p:nvSpPr>
        <p:spPr>
          <a:xfrm>
            <a:off x="868680" y="1920240"/>
            <a:ext cx="324612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im1_2"/>
          <p:cNvSpPr/>
          <p:nvPr/>
        </p:nvSpPr>
        <p:spPr>
          <a:xfrm>
            <a:off x="1033272" y="2139696"/>
            <a:ext cx="731520" cy="73152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6" name="anim1_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67" y="2329891"/>
            <a:ext cx="351130" cy="351130"/>
          </a:xfrm>
          <a:prstGeom prst="rect">
            <a:avLst/>
          </a:prstGeom>
        </p:spPr>
      </p:pic>
      <p:sp>
        <p:nvSpPr>
          <p:cNvPr id="7" name="anim1_4"/>
          <p:cNvSpPr txBox="1"/>
          <p:nvPr/>
        </p:nvSpPr>
        <p:spPr>
          <a:xfrm>
            <a:off x="1920240" y="2029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anim1_5"/>
          <p:cNvSpPr txBox="1"/>
          <p:nvPr/>
        </p:nvSpPr>
        <p:spPr>
          <a:xfrm>
            <a:off x="1920240" y="23591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 y problema</a:t>
            </a:r>
            <a:endParaRPr lang="en-US" sz="1600" dirty="0"/>
          </a:p>
        </p:txBody>
      </p:sp>
      <p:sp>
        <p:nvSpPr>
          <p:cNvPr id="9" name="anim2_6"/>
          <p:cNvSpPr/>
          <p:nvPr/>
        </p:nvSpPr>
        <p:spPr>
          <a:xfrm>
            <a:off x="4297680" y="1920240"/>
            <a:ext cx="324612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nim2_7"/>
          <p:cNvSpPr/>
          <p:nvPr/>
        </p:nvSpPr>
        <p:spPr>
          <a:xfrm>
            <a:off x="4462272" y="2139696"/>
            <a:ext cx="731520" cy="73152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1" name="anim2_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467" y="2329891"/>
            <a:ext cx="351130" cy="351130"/>
          </a:xfrm>
          <a:prstGeom prst="rect">
            <a:avLst/>
          </a:prstGeom>
        </p:spPr>
      </p:pic>
      <p:sp>
        <p:nvSpPr>
          <p:cNvPr id="12" name="anim2_9"/>
          <p:cNvSpPr txBox="1"/>
          <p:nvPr/>
        </p:nvSpPr>
        <p:spPr>
          <a:xfrm>
            <a:off x="5349240" y="2029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anim2_10"/>
          <p:cNvSpPr txBox="1"/>
          <p:nvPr/>
        </p:nvSpPr>
        <p:spPr>
          <a:xfrm>
            <a:off x="5349240" y="23591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y objetivos</a:t>
            </a:r>
            <a:endParaRPr lang="en-US" sz="1600" dirty="0"/>
          </a:p>
        </p:txBody>
      </p:sp>
      <p:sp>
        <p:nvSpPr>
          <p:cNvPr id="14" name="anim3_11"/>
          <p:cNvSpPr/>
          <p:nvPr/>
        </p:nvSpPr>
        <p:spPr>
          <a:xfrm>
            <a:off x="7726680" y="1920240"/>
            <a:ext cx="324612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nim3_12"/>
          <p:cNvSpPr/>
          <p:nvPr/>
        </p:nvSpPr>
        <p:spPr>
          <a:xfrm>
            <a:off x="7891272" y="2139696"/>
            <a:ext cx="731520" cy="73152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6" name="anim3_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467" y="2329891"/>
            <a:ext cx="351130" cy="351130"/>
          </a:xfrm>
          <a:prstGeom prst="rect">
            <a:avLst/>
          </a:prstGeom>
        </p:spPr>
      </p:pic>
      <p:sp>
        <p:nvSpPr>
          <p:cNvPr id="17" name="anim3_14"/>
          <p:cNvSpPr txBox="1"/>
          <p:nvPr/>
        </p:nvSpPr>
        <p:spPr>
          <a:xfrm>
            <a:off x="8778240" y="2029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anim3_15"/>
          <p:cNvSpPr txBox="1"/>
          <p:nvPr/>
        </p:nvSpPr>
        <p:spPr>
          <a:xfrm>
            <a:off x="8778240" y="23591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Metodología</a:t>
            </a:r>
            <a:endParaRPr lang="en-US" sz="1600" dirty="0"/>
          </a:p>
        </p:txBody>
      </p:sp>
      <p:sp>
        <p:nvSpPr>
          <p:cNvPr id="19" name="anim4_16"/>
          <p:cNvSpPr/>
          <p:nvPr/>
        </p:nvSpPr>
        <p:spPr>
          <a:xfrm>
            <a:off x="868680" y="3264408"/>
            <a:ext cx="324612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anim4_17"/>
          <p:cNvSpPr/>
          <p:nvPr/>
        </p:nvSpPr>
        <p:spPr>
          <a:xfrm>
            <a:off x="1033272" y="3483864"/>
            <a:ext cx="731520" cy="73152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21" name="anim4_1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467" y="3674059"/>
            <a:ext cx="351130" cy="351130"/>
          </a:xfrm>
          <a:prstGeom prst="rect">
            <a:avLst/>
          </a:prstGeom>
        </p:spPr>
      </p:pic>
      <p:sp>
        <p:nvSpPr>
          <p:cNvPr id="22" name="anim4_19"/>
          <p:cNvSpPr txBox="1"/>
          <p:nvPr/>
        </p:nvSpPr>
        <p:spPr>
          <a:xfrm>
            <a:off x="1920240" y="33741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anim4_20"/>
          <p:cNvSpPr txBox="1"/>
          <p:nvPr/>
        </p:nvSpPr>
        <p:spPr>
          <a:xfrm>
            <a:off x="1920240" y="3703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Régimen colombiano</a:t>
            </a:r>
            <a:endParaRPr lang="en-US" sz="1600" dirty="0"/>
          </a:p>
        </p:txBody>
      </p:sp>
      <p:sp>
        <p:nvSpPr>
          <p:cNvPr id="24" name="anim5_21"/>
          <p:cNvSpPr/>
          <p:nvPr/>
        </p:nvSpPr>
        <p:spPr>
          <a:xfrm>
            <a:off x="4297680" y="3264408"/>
            <a:ext cx="324612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anim5_22"/>
          <p:cNvSpPr/>
          <p:nvPr/>
        </p:nvSpPr>
        <p:spPr>
          <a:xfrm>
            <a:off x="4462272" y="3483864"/>
            <a:ext cx="731520" cy="73152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26" name="anim5_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467" y="3674059"/>
            <a:ext cx="351130" cy="351130"/>
          </a:xfrm>
          <a:prstGeom prst="rect">
            <a:avLst/>
          </a:prstGeom>
        </p:spPr>
      </p:pic>
      <p:sp>
        <p:nvSpPr>
          <p:cNvPr id="27" name="anim5_24"/>
          <p:cNvSpPr txBox="1"/>
          <p:nvPr/>
        </p:nvSpPr>
        <p:spPr>
          <a:xfrm>
            <a:off x="5349240" y="33741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anim5_25"/>
          <p:cNvSpPr txBox="1"/>
          <p:nvPr/>
        </p:nvSpPr>
        <p:spPr>
          <a:xfrm>
            <a:off x="5349240" y="3703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Estándares OIT</a:t>
            </a:r>
            <a:endParaRPr lang="en-US" sz="1600" dirty="0"/>
          </a:p>
        </p:txBody>
      </p:sp>
      <p:sp>
        <p:nvSpPr>
          <p:cNvPr id="29" name="anim6_26"/>
          <p:cNvSpPr/>
          <p:nvPr/>
        </p:nvSpPr>
        <p:spPr>
          <a:xfrm>
            <a:off x="7726680" y="3264408"/>
            <a:ext cx="324612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anim6_27"/>
          <p:cNvSpPr/>
          <p:nvPr/>
        </p:nvSpPr>
        <p:spPr>
          <a:xfrm>
            <a:off x="7891272" y="3483864"/>
            <a:ext cx="731520" cy="73152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31" name="anim6_2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1467" y="3674059"/>
            <a:ext cx="351130" cy="351130"/>
          </a:xfrm>
          <a:prstGeom prst="rect">
            <a:avLst/>
          </a:prstGeom>
        </p:spPr>
      </p:pic>
      <p:sp>
        <p:nvSpPr>
          <p:cNvPr id="32" name="anim6_29"/>
          <p:cNvSpPr txBox="1"/>
          <p:nvPr/>
        </p:nvSpPr>
        <p:spPr>
          <a:xfrm>
            <a:off x="8778240" y="33741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anim6_30"/>
          <p:cNvSpPr txBox="1"/>
          <p:nvPr/>
        </p:nvSpPr>
        <p:spPr>
          <a:xfrm>
            <a:off x="8778240" y="3703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 convencionalidad</a:t>
            </a:r>
            <a:endParaRPr lang="en-US" sz="1600" dirty="0"/>
          </a:p>
        </p:txBody>
      </p:sp>
      <p:sp>
        <p:nvSpPr>
          <p:cNvPr id="34" name="anim7_31"/>
          <p:cNvSpPr/>
          <p:nvPr/>
        </p:nvSpPr>
        <p:spPr>
          <a:xfrm>
            <a:off x="868680" y="4608576"/>
            <a:ext cx="324612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anim7_32"/>
          <p:cNvSpPr/>
          <p:nvPr/>
        </p:nvSpPr>
        <p:spPr>
          <a:xfrm>
            <a:off x="1033272" y="4828032"/>
            <a:ext cx="731520" cy="73152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36" name="anim7_3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467" y="5018227"/>
            <a:ext cx="351130" cy="351130"/>
          </a:xfrm>
          <a:prstGeom prst="rect">
            <a:avLst/>
          </a:prstGeom>
        </p:spPr>
      </p:pic>
      <p:sp>
        <p:nvSpPr>
          <p:cNvPr id="37" name="anim7_34"/>
          <p:cNvSpPr txBox="1"/>
          <p:nvPr/>
        </p:nvSpPr>
        <p:spPr>
          <a:xfrm>
            <a:off x="1920240" y="47183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anim7_35"/>
          <p:cNvSpPr txBox="1"/>
          <p:nvPr/>
        </p:nvSpPr>
        <p:spPr>
          <a:xfrm>
            <a:off x="1920240" y="50474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Experiencias comparadas</a:t>
            </a:r>
            <a:endParaRPr lang="en-US" sz="1600" dirty="0"/>
          </a:p>
        </p:txBody>
      </p:sp>
      <p:sp>
        <p:nvSpPr>
          <p:cNvPr id="39" name="anim8_36"/>
          <p:cNvSpPr/>
          <p:nvPr/>
        </p:nvSpPr>
        <p:spPr>
          <a:xfrm>
            <a:off x="4297680" y="4608576"/>
            <a:ext cx="324612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anim8_37"/>
          <p:cNvSpPr/>
          <p:nvPr/>
        </p:nvSpPr>
        <p:spPr>
          <a:xfrm>
            <a:off x="4462272" y="4828032"/>
            <a:ext cx="731520" cy="73152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41" name="anim8_3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2467" y="5018227"/>
            <a:ext cx="351130" cy="351130"/>
          </a:xfrm>
          <a:prstGeom prst="rect">
            <a:avLst/>
          </a:prstGeom>
        </p:spPr>
      </p:pic>
      <p:sp>
        <p:nvSpPr>
          <p:cNvPr id="42" name="anim8_39"/>
          <p:cNvSpPr txBox="1"/>
          <p:nvPr/>
        </p:nvSpPr>
        <p:spPr>
          <a:xfrm>
            <a:off x="5349240" y="47183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anim8_40"/>
          <p:cNvSpPr txBox="1"/>
          <p:nvPr/>
        </p:nvSpPr>
        <p:spPr>
          <a:xfrm>
            <a:off x="5349240" y="50474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Propuestas</a:t>
            </a:r>
            <a:endParaRPr lang="en-US" sz="1600" dirty="0"/>
          </a:p>
        </p:txBody>
      </p:sp>
      <p:sp>
        <p:nvSpPr>
          <p:cNvPr id="44" name="anim9_41"/>
          <p:cNvSpPr/>
          <p:nvPr/>
        </p:nvSpPr>
        <p:spPr>
          <a:xfrm>
            <a:off x="7726680" y="4608576"/>
            <a:ext cx="324612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anim9_42"/>
          <p:cNvSpPr/>
          <p:nvPr/>
        </p:nvSpPr>
        <p:spPr>
          <a:xfrm>
            <a:off x="7891272" y="4828032"/>
            <a:ext cx="731520" cy="73152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46" name="anim9_4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1467" y="5018227"/>
            <a:ext cx="351130" cy="351130"/>
          </a:xfrm>
          <a:prstGeom prst="rect">
            <a:avLst/>
          </a:prstGeom>
        </p:spPr>
      </p:pic>
      <p:sp>
        <p:nvSpPr>
          <p:cNvPr id="47" name="anim9_44"/>
          <p:cNvSpPr txBox="1"/>
          <p:nvPr/>
        </p:nvSpPr>
        <p:spPr>
          <a:xfrm>
            <a:off x="8778240" y="47183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anim9_45"/>
          <p:cNvSpPr txBox="1"/>
          <p:nvPr/>
        </p:nvSpPr>
        <p:spPr>
          <a:xfrm>
            <a:off x="8778240" y="50474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6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4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800"/>
                            </p:stCondLst>
                            <p:childTnLst>
                              <p:par>
                                <p:cTn id="1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32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La minería: una actividad de alto riesgo</a:t>
            </a:r>
            <a:endParaRPr lang="en-US" sz="3400" dirty="0"/>
          </a:p>
        </p:txBody>
      </p:sp>
      <p:sp>
        <p:nvSpPr>
          <p:cNvPr id="4" name="anim1_46"/>
          <p:cNvSpPr/>
          <p:nvPr/>
        </p:nvSpPr>
        <p:spPr>
          <a:xfrm>
            <a:off x="868680" y="1874520"/>
            <a:ext cx="2395728" cy="283464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im1_47"/>
          <p:cNvSpPr/>
          <p:nvPr/>
        </p:nvSpPr>
        <p:spPr>
          <a:xfrm>
            <a:off x="1700784" y="2057400"/>
            <a:ext cx="731520" cy="73152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6" name="anim1_4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979" y="2247595"/>
            <a:ext cx="351130" cy="351130"/>
          </a:xfrm>
          <a:prstGeom prst="rect">
            <a:avLst/>
          </a:prstGeom>
        </p:spPr>
      </p:pic>
      <p:sp>
        <p:nvSpPr>
          <p:cNvPr id="7" name="anim1_49"/>
          <p:cNvSpPr txBox="1"/>
          <p:nvPr/>
        </p:nvSpPr>
        <p:spPr>
          <a:xfrm>
            <a:off x="914400" y="283464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+120</a:t>
            </a:r>
            <a:endParaRPr lang="en-US" sz="3600" dirty="0"/>
          </a:p>
        </p:txBody>
      </p:sp>
      <p:sp>
        <p:nvSpPr>
          <p:cNvPr id="8" name="anim1_50"/>
          <p:cNvSpPr txBox="1"/>
          <p:nvPr/>
        </p:nvSpPr>
        <p:spPr>
          <a:xfrm>
            <a:off x="1005840" y="356616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emergencias mineras al año (ANM, 2022)</a:t>
            </a:r>
            <a:endParaRPr lang="en-US" sz="1500" dirty="0"/>
          </a:p>
        </p:txBody>
      </p:sp>
      <p:sp>
        <p:nvSpPr>
          <p:cNvPr id="9" name="anim2_51"/>
          <p:cNvSpPr/>
          <p:nvPr/>
        </p:nvSpPr>
        <p:spPr>
          <a:xfrm>
            <a:off x="3447288" y="1874520"/>
            <a:ext cx="2395728" cy="283464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nim2_52"/>
          <p:cNvSpPr/>
          <p:nvPr/>
        </p:nvSpPr>
        <p:spPr>
          <a:xfrm>
            <a:off x="4279392" y="2057400"/>
            <a:ext cx="731520" cy="73152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1" name="anim2_5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587" y="2247595"/>
            <a:ext cx="351130" cy="351130"/>
          </a:xfrm>
          <a:prstGeom prst="rect">
            <a:avLst/>
          </a:prstGeom>
        </p:spPr>
      </p:pic>
      <p:sp>
        <p:nvSpPr>
          <p:cNvPr id="12" name="anim2_54"/>
          <p:cNvSpPr txBox="1"/>
          <p:nvPr/>
        </p:nvSpPr>
        <p:spPr>
          <a:xfrm>
            <a:off x="3493008" y="283464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1.364</a:t>
            </a:r>
            <a:endParaRPr lang="en-US" sz="3600" dirty="0"/>
          </a:p>
        </p:txBody>
      </p:sp>
      <p:sp>
        <p:nvSpPr>
          <p:cNvPr id="13" name="anim2_55"/>
          <p:cNvSpPr txBox="1"/>
          <p:nvPr/>
        </p:nvSpPr>
        <p:spPr>
          <a:xfrm>
            <a:off x="3584448" y="356616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mineros muertos entre 2005 y 2018</a:t>
            </a:r>
            <a:endParaRPr lang="en-US" sz="1500" dirty="0"/>
          </a:p>
        </p:txBody>
      </p:sp>
      <p:sp>
        <p:nvSpPr>
          <p:cNvPr id="14" name="anim3_56"/>
          <p:cNvSpPr/>
          <p:nvPr/>
        </p:nvSpPr>
        <p:spPr>
          <a:xfrm>
            <a:off x="6025896" y="1874520"/>
            <a:ext cx="2395728" cy="283464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nim3_57"/>
          <p:cNvSpPr/>
          <p:nvPr/>
        </p:nvSpPr>
        <p:spPr>
          <a:xfrm>
            <a:off x="6858000" y="2057400"/>
            <a:ext cx="731520" cy="73152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6" name="anim3_5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195" y="2247595"/>
            <a:ext cx="351130" cy="351130"/>
          </a:xfrm>
          <a:prstGeom prst="rect">
            <a:avLst/>
          </a:prstGeom>
        </p:spPr>
      </p:pic>
      <p:sp>
        <p:nvSpPr>
          <p:cNvPr id="17" name="anim3_59"/>
          <p:cNvSpPr txBox="1"/>
          <p:nvPr/>
        </p:nvSpPr>
        <p:spPr>
          <a:xfrm>
            <a:off x="6071616" y="283464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90 %</a:t>
            </a:r>
            <a:endParaRPr lang="en-US" sz="3600" dirty="0"/>
          </a:p>
        </p:txBody>
      </p:sp>
      <p:sp>
        <p:nvSpPr>
          <p:cNvPr id="18" name="anim3_60"/>
          <p:cNvSpPr txBox="1"/>
          <p:nvPr/>
        </p:nvSpPr>
        <p:spPr>
          <a:xfrm>
            <a:off x="6163056" y="356616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mineros artesanales de Antioquia expuestos a sílice</a:t>
            </a:r>
            <a:endParaRPr lang="en-US" sz="1500" dirty="0"/>
          </a:p>
        </p:txBody>
      </p:sp>
      <p:sp>
        <p:nvSpPr>
          <p:cNvPr id="19" name="anim4_61"/>
          <p:cNvSpPr/>
          <p:nvPr/>
        </p:nvSpPr>
        <p:spPr>
          <a:xfrm>
            <a:off x="8604504" y="1874520"/>
            <a:ext cx="2395728" cy="283464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anim4_62"/>
          <p:cNvSpPr/>
          <p:nvPr/>
        </p:nvSpPr>
        <p:spPr>
          <a:xfrm>
            <a:off x="9436608" y="2057400"/>
            <a:ext cx="731520" cy="73152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21" name="anim4_6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803" y="2247595"/>
            <a:ext cx="351130" cy="351130"/>
          </a:xfrm>
          <a:prstGeom prst="rect">
            <a:avLst/>
          </a:prstGeom>
        </p:spPr>
      </p:pic>
      <p:sp>
        <p:nvSpPr>
          <p:cNvPr id="22" name="anim4_64"/>
          <p:cNvSpPr txBox="1"/>
          <p:nvPr/>
        </p:nvSpPr>
        <p:spPr>
          <a:xfrm>
            <a:off x="8650224" y="283464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66.000</a:t>
            </a:r>
            <a:endParaRPr lang="en-US" sz="3600" dirty="0"/>
          </a:p>
        </p:txBody>
      </p:sp>
      <p:sp>
        <p:nvSpPr>
          <p:cNvPr id="23" name="anim4_65"/>
          <p:cNvSpPr txBox="1"/>
          <p:nvPr/>
        </p:nvSpPr>
        <p:spPr>
          <a:xfrm>
            <a:off x="8741664" y="356616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 expuestas al mercurio</a:t>
            </a:r>
            <a:endParaRPr lang="en-US" sz="1500" dirty="0"/>
          </a:p>
        </p:txBody>
      </p:sp>
      <p:sp>
        <p:nvSpPr>
          <p:cNvPr id="24" name="anim5_66"/>
          <p:cNvSpPr txBox="1"/>
          <p:nvPr/>
        </p:nvSpPr>
        <p:spPr>
          <a:xfrm>
            <a:off x="868680" y="48920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21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Sutatausa (2023): </a:t>
            </a:r>
            <a:pPr indent="0" marL="0">
              <a:buNone/>
            </a:pPr>
            <a:r>
              <a:rPr lang="en-US" sz="17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 mineros muertos. Uno cada 3,75 días entre 2005 y 2018: la norma existe, pero no llega a los territorios.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Un problema de escala mundial</a:t>
            </a:r>
            <a:endParaRPr lang="en-US" sz="3400" dirty="0"/>
          </a:p>
        </p:txBody>
      </p:sp>
      <p:graphicFrame>
        <p:nvGraphicFramePr>
          <p:cNvPr id="4" name="anim1_chart" descr=""/>
          <p:cNvGraphicFramePr/>
          <p:nvPr/>
        </p:nvGraphicFramePr>
        <p:xfrm>
          <a:off x="868680" y="1828800"/>
          <a:ext cx="54864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nim2_67"/>
          <p:cNvSpPr/>
          <p:nvPr/>
        </p:nvSpPr>
        <p:spPr>
          <a:xfrm>
            <a:off x="6720840" y="1920240"/>
            <a:ext cx="438912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nim2_68"/>
          <p:cNvSpPr txBox="1"/>
          <p:nvPr/>
        </p:nvSpPr>
        <p:spPr>
          <a:xfrm>
            <a:off x="6858000" y="2011680"/>
            <a:ext cx="1783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15.000</a:t>
            </a:r>
            <a:endParaRPr lang="en-US" sz="3000" dirty="0"/>
          </a:p>
        </p:txBody>
      </p:sp>
      <p:sp>
        <p:nvSpPr>
          <p:cNvPr id="7" name="anim2_69"/>
          <p:cNvSpPr txBox="1"/>
          <p:nvPr/>
        </p:nvSpPr>
        <p:spPr>
          <a:xfrm>
            <a:off x="8732520" y="2011680"/>
            <a:ext cx="2240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muertes de mineros al año</a:t>
            </a:r>
            <a:endParaRPr lang="en-US" sz="1600" dirty="0"/>
          </a:p>
        </p:txBody>
      </p:sp>
      <p:sp>
        <p:nvSpPr>
          <p:cNvPr id="8" name="anim3_70"/>
          <p:cNvSpPr/>
          <p:nvPr/>
        </p:nvSpPr>
        <p:spPr>
          <a:xfrm>
            <a:off x="6720840" y="3264408"/>
            <a:ext cx="438912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nim3_71"/>
          <p:cNvSpPr txBox="1"/>
          <p:nvPr/>
        </p:nvSpPr>
        <p:spPr>
          <a:xfrm>
            <a:off x="6858000" y="3355848"/>
            <a:ext cx="1783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35</a:t>
            </a:r>
            <a:endParaRPr lang="en-US" sz="3000" dirty="0"/>
          </a:p>
        </p:txBody>
      </p:sp>
      <p:sp>
        <p:nvSpPr>
          <p:cNvPr id="10" name="anim3_72"/>
          <p:cNvSpPr txBox="1"/>
          <p:nvPr/>
        </p:nvSpPr>
        <p:spPr>
          <a:xfrm>
            <a:off x="8732520" y="3355848"/>
            <a:ext cx="2240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países ratificaron el C176</a:t>
            </a:r>
            <a:endParaRPr lang="en-US" sz="1600" dirty="0"/>
          </a:p>
        </p:txBody>
      </p:sp>
      <p:sp>
        <p:nvSpPr>
          <p:cNvPr id="11" name="anim4_73"/>
          <p:cNvSpPr/>
          <p:nvPr/>
        </p:nvSpPr>
        <p:spPr>
          <a:xfrm>
            <a:off x="6720840" y="4608576"/>
            <a:ext cx="4389120" cy="1161288"/>
          </a:xfrm>
          <a:prstGeom prst="roundRect">
            <a:avLst>
              <a:gd name="adj" fmla="val 9449"/>
            </a:avLst>
          </a:prstGeom>
          <a:solidFill>
            <a:srgbClr val="F7EEF3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nim4_74"/>
          <p:cNvSpPr txBox="1"/>
          <p:nvPr/>
        </p:nvSpPr>
        <p:spPr>
          <a:xfrm>
            <a:off x="6858000" y="4700016"/>
            <a:ext cx="1783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anim4_75"/>
          <p:cNvSpPr txBox="1"/>
          <p:nvPr/>
        </p:nvSpPr>
        <p:spPr>
          <a:xfrm>
            <a:off x="8732520" y="4700016"/>
            <a:ext cx="2240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convenios clave ratificados por Colombia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Pregunta de investigación</a:t>
            </a:r>
            <a:endParaRPr lang="en-US" sz="3400" dirty="0"/>
          </a:p>
        </p:txBody>
      </p:sp>
      <p:sp>
        <p:nvSpPr>
          <p:cNvPr id="4" name="anim1_76"/>
          <p:cNvSpPr/>
          <p:nvPr/>
        </p:nvSpPr>
        <p:spPr>
          <a:xfrm>
            <a:off x="868680" y="1874520"/>
            <a:ext cx="10241280" cy="2377440"/>
          </a:xfrm>
          <a:prstGeom prst="roundRect">
            <a:avLst>
              <a:gd name="adj" fmla="val 4615"/>
            </a:avLst>
          </a:prstGeom>
          <a:solidFill>
            <a:srgbClr val="F7EEF3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im1_77"/>
          <p:cNvSpPr/>
          <p:nvPr/>
        </p:nvSpPr>
        <p:spPr>
          <a:xfrm>
            <a:off x="1143000" y="2514600"/>
            <a:ext cx="1097280" cy="1097280"/>
          </a:xfrm>
          <a:prstGeom prst="ellipse">
            <a:avLst/>
          </a:prstGeom>
          <a:solidFill>
            <a:srgbClr val="E0114F"/>
          </a:solidFill>
          <a:ln w="12700">
            <a:solidFill>
              <a:srgbClr val="E0114F"/>
            </a:solidFill>
            <a:prstDash val="solid"/>
          </a:ln>
        </p:spPr>
      </p:sp>
      <p:pic>
        <p:nvPicPr>
          <p:cNvPr id="6" name="anim1_7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293" y="2799893"/>
            <a:ext cx="526694" cy="526694"/>
          </a:xfrm>
          <a:prstGeom prst="rect">
            <a:avLst/>
          </a:prstGeom>
        </p:spPr>
      </p:pic>
      <p:sp>
        <p:nvSpPr>
          <p:cNvPr id="7" name="anim1_79"/>
          <p:cNvSpPr txBox="1"/>
          <p:nvPr/>
        </p:nvSpPr>
        <p:spPr>
          <a:xfrm>
            <a:off x="2514600" y="1965960"/>
            <a:ext cx="8412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¿En qué medida la normatividad colombiana sobre pensiones por riesgos laborales en minería cumple los estándares OIT de cobertura, acceso, suficiencia y equidad?</a:t>
            </a:r>
            <a:endParaRPr lang="en-US" sz="2500" dirty="0"/>
          </a:p>
        </p:txBody>
      </p:sp>
      <p:sp>
        <p:nvSpPr>
          <p:cNvPr id="8" name="anim2_80"/>
          <p:cNvSpPr/>
          <p:nvPr/>
        </p:nvSpPr>
        <p:spPr>
          <a:xfrm>
            <a:off x="868680" y="4617720"/>
            <a:ext cx="822960" cy="82296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9" name="anim2_8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4831690"/>
            <a:ext cx="395021" cy="395021"/>
          </a:xfrm>
          <a:prstGeom prst="rect">
            <a:avLst/>
          </a:prstGeom>
        </p:spPr>
      </p:pic>
      <p:sp>
        <p:nvSpPr>
          <p:cNvPr id="10" name="anim2_82"/>
          <p:cNvSpPr txBox="1"/>
          <p:nvPr/>
        </p:nvSpPr>
        <p:spPr>
          <a:xfrm>
            <a:off x="1783080" y="4617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Cobertura</a:t>
            </a:r>
            <a:endParaRPr lang="en-US" sz="1900" dirty="0"/>
          </a:p>
        </p:txBody>
      </p:sp>
      <p:sp>
        <p:nvSpPr>
          <p:cNvPr id="11" name="anim3_83"/>
          <p:cNvSpPr/>
          <p:nvPr/>
        </p:nvSpPr>
        <p:spPr>
          <a:xfrm>
            <a:off x="3474720" y="4617720"/>
            <a:ext cx="822960" cy="82296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2" name="anim3_8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690" y="4831690"/>
            <a:ext cx="395021" cy="395021"/>
          </a:xfrm>
          <a:prstGeom prst="rect">
            <a:avLst/>
          </a:prstGeom>
        </p:spPr>
      </p:pic>
      <p:sp>
        <p:nvSpPr>
          <p:cNvPr id="13" name="anim3_85"/>
          <p:cNvSpPr txBox="1"/>
          <p:nvPr/>
        </p:nvSpPr>
        <p:spPr>
          <a:xfrm>
            <a:off x="4389120" y="4617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Acceso</a:t>
            </a:r>
            <a:endParaRPr lang="en-US" sz="1900" dirty="0"/>
          </a:p>
        </p:txBody>
      </p:sp>
      <p:sp>
        <p:nvSpPr>
          <p:cNvPr id="14" name="anim4_86"/>
          <p:cNvSpPr/>
          <p:nvPr/>
        </p:nvSpPr>
        <p:spPr>
          <a:xfrm>
            <a:off x="6080760" y="4617720"/>
            <a:ext cx="822960" cy="82296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5" name="anim4_8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730" y="4831690"/>
            <a:ext cx="395021" cy="395021"/>
          </a:xfrm>
          <a:prstGeom prst="rect">
            <a:avLst/>
          </a:prstGeom>
        </p:spPr>
      </p:pic>
      <p:sp>
        <p:nvSpPr>
          <p:cNvPr id="16" name="anim4_88"/>
          <p:cNvSpPr txBox="1"/>
          <p:nvPr/>
        </p:nvSpPr>
        <p:spPr>
          <a:xfrm>
            <a:off x="6995160" y="4617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Suficiencia</a:t>
            </a:r>
            <a:endParaRPr lang="en-US" sz="1900" dirty="0"/>
          </a:p>
        </p:txBody>
      </p:sp>
      <p:sp>
        <p:nvSpPr>
          <p:cNvPr id="17" name="anim5_89"/>
          <p:cNvSpPr/>
          <p:nvPr/>
        </p:nvSpPr>
        <p:spPr>
          <a:xfrm>
            <a:off x="8686800" y="4617720"/>
            <a:ext cx="822960" cy="82296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8" name="anim5_9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0770" y="4831690"/>
            <a:ext cx="395021" cy="395021"/>
          </a:xfrm>
          <a:prstGeom prst="rect">
            <a:avLst/>
          </a:prstGeom>
        </p:spPr>
      </p:pic>
      <p:sp>
        <p:nvSpPr>
          <p:cNvPr id="19" name="anim5_91"/>
          <p:cNvSpPr txBox="1"/>
          <p:nvPr/>
        </p:nvSpPr>
        <p:spPr>
          <a:xfrm>
            <a:off x="9601200" y="4617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Equidad</a:t>
            </a:r>
            <a:endParaRPr lang="en-US" sz="1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Objetivos</a:t>
            </a:r>
            <a:endParaRPr lang="en-US" sz="3400" dirty="0"/>
          </a:p>
        </p:txBody>
      </p:sp>
      <p:sp>
        <p:nvSpPr>
          <p:cNvPr id="4" name="anim1_92"/>
          <p:cNvSpPr/>
          <p:nvPr/>
        </p:nvSpPr>
        <p:spPr>
          <a:xfrm>
            <a:off x="868680" y="1828800"/>
            <a:ext cx="10241280" cy="1325880"/>
          </a:xfrm>
          <a:prstGeom prst="roundRect">
            <a:avLst>
              <a:gd name="adj" fmla="val 8276"/>
            </a:avLst>
          </a:prstGeom>
          <a:solidFill>
            <a:srgbClr val="F1ECF6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im1_93"/>
          <p:cNvSpPr txBox="1"/>
          <p:nvPr/>
        </p:nvSpPr>
        <p:spPr>
          <a:xfrm>
            <a:off x="1143000" y="1874520"/>
            <a:ext cx="9738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469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General: </a:t>
            </a:r>
            <a:pPr indent="0" marL="0">
              <a:buNone/>
            </a:pPr>
            <a:r>
              <a:rPr lang="en-US" sz="18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analizar la convencionalidad de la normatividad colombiana del régimen de pensiones por riesgos laborales en minería a la luz de los estándares de la OIT.</a:t>
            </a:r>
            <a:endParaRPr lang="en-US" sz="1800" dirty="0"/>
          </a:p>
        </p:txBody>
      </p:sp>
      <p:sp>
        <p:nvSpPr>
          <p:cNvPr id="6" name="anim2_94"/>
          <p:cNvSpPr/>
          <p:nvPr/>
        </p:nvSpPr>
        <p:spPr>
          <a:xfrm>
            <a:off x="868680" y="3383280"/>
            <a:ext cx="32461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2_95"/>
          <p:cNvSpPr/>
          <p:nvPr/>
        </p:nvSpPr>
        <p:spPr>
          <a:xfrm>
            <a:off x="1097280" y="3584448"/>
            <a:ext cx="731520" cy="731520"/>
          </a:xfrm>
          <a:prstGeom prst="ellipse">
            <a:avLst/>
          </a:prstGeom>
          <a:solidFill>
            <a:srgbClr val="E0114F"/>
          </a:solidFill>
          <a:ln w="12700">
            <a:solidFill>
              <a:srgbClr val="E0114F"/>
            </a:solidFill>
            <a:prstDash val="solid"/>
          </a:ln>
        </p:spPr>
      </p:sp>
      <p:pic>
        <p:nvPicPr>
          <p:cNvPr id="8" name="anim2_9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475" y="3774643"/>
            <a:ext cx="351130" cy="351130"/>
          </a:xfrm>
          <a:prstGeom prst="rect">
            <a:avLst/>
          </a:prstGeom>
        </p:spPr>
      </p:pic>
      <p:sp>
        <p:nvSpPr>
          <p:cNvPr id="9" name="anim2_97"/>
          <p:cNvSpPr txBox="1"/>
          <p:nvPr/>
        </p:nvSpPr>
        <p:spPr>
          <a:xfrm>
            <a:off x="2971800" y="356616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dirty="0">
                <a:solidFill>
                  <a:srgbClr val="E6DDE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</a:t>
            </a:r>
            <a:endParaRPr lang="en-US" sz="3200" dirty="0"/>
          </a:p>
        </p:txBody>
      </p:sp>
      <p:sp>
        <p:nvSpPr>
          <p:cNvPr id="10" name="anim2_98"/>
          <p:cNvSpPr txBox="1"/>
          <p:nvPr/>
        </p:nvSpPr>
        <p:spPr>
          <a:xfrm>
            <a:off x="1097280" y="4407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Caracterizar</a:t>
            </a:r>
            <a:endParaRPr lang="en-US" sz="2100" dirty="0"/>
          </a:p>
        </p:txBody>
      </p:sp>
      <p:sp>
        <p:nvSpPr>
          <p:cNvPr id="11" name="anim2_99"/>
          <p:cNvSpPr txBox="1"/>
          <p:nvPr/>
        </p:nvSpPr>
        <p:spPr>
          <a:xfrm>
            <a:off x="1097280" y="48920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régimen pensional por riesgos laborales del sector minero.</a:t>
            </a:r>
            <a:endParaRPr lang="en-US" sz="1600" dirty="0"/>
          </a:p>
        </p:txBody>
      </p:sp>
      <p:sp>
        <p:nvSpPr>
          <p:cNvPr id="12" name="anim3_100"/>
          <p:cNvSpPr/>
          <p:nvPr/>
        </p:nvSpPr>
        <p:spPr>
          <a:xfrm>
            <a:off x="4343400" y="3383280"/>
            <a:ext cx="32461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nim3_101"/>
          <p:cNvSpPr/>
          <p:nvPr/>
        </p:nvSpPr>
        <p:spPr>
          <a:xfrm>
            <a:off x="4572000" y="3584448"/>
            <a:ext cx="731520" cy="73152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4" name="anim3_10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195" y="3774643"/>
            <a:ext cx="351130" cy="351130"/>
          </a:xfrm>
          <a:prstGeom prst="rect">
            <a:avLst/>
          </a:prstGeom>
        </p:spPr>
      </p:pic>
      <p:sp>
        <p:nvSpPr>
          <p:cNvPr id="15" name="anim3_103"/>
          <p:cNvSpPr txBox="1"/>
          <p:nvPr/>
        </p:nvSpPr>
        <p:spPr>
          <a:xfrm>
            <a:off x="6446520" y="356616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dirty="0">
                <a:solidFill>
                  <a:srgbClr val="E6DDE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II</a:t>
            </a:r>
            <a:endParaRPr lang="en-US" sz="3200" dirty="0"/>
          </a:p>
        </p:txBody>
      </p:sp>
      <p:sp>
        <p:nvSpPr>
          <p:cNvPr id="16" name="anim3_104"/>
          <p:cNvSpPr txBox="1"/>
          <p:nvPr/>
        </p:nvSpPr>
        <p:spPr>
          <a:xfrm>
            <a:off x="4572000" y="4407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Examinar</a:t>
            </a:r>
            <a:endParaRPr lang="en-US" sz="2100" dirty="0"/>
          </a:p>
        </p:txBody>
      </p:sp>
      <p:sp>
        <p:nvSpPr>
          <p:cNvPr id="17" name="anim3_105"/>
          <p:cNvSpPr txBox="1"/>
          <p:nvPr/>
        </p:nvSpPr>
        <p:spPr>
          <a:xfrm>
            <a:off x="4572000" y="48920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estándares de la OIT aplicables a ese régimen.</a:t>
            </a:r>
            <a:endParaRPr lang="en-US" sz="1600" dirty="0"/>
          </a:p>
        </p:txBody>
      </p:sp>
      <p:sp>
        <p:nvSpPr>
          <p:cNvPr id="18" name="anim4_106"/>
          <p:cNvSpPr/>
          <p:nvPr/>
        </p:nvSpPr>
        <p:spPr>
          <a:xfrm>
            <a:off x="7818120" y="3383280"/>
            <a:ext cx="32461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nim4_107"/>
          <p:cNvSpPr/>
          <p:nvPr/>
        </p:nvSpPr>
        <p:spPr>
          <a:xfrm>
            <a:off x="8046720" y="3584448"/>
            <a:ext cx="731520" cy="73152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20" name="anim4_10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15" y="3774643"/>
            <a:ext cx="351130" cy="351130"/>
          </a:xfrm>
          <a:prstGeom prst="rect">
            <a:avLst/>
          </a:prstGeom>
        </p:spPr>
      </p:pic>
      <p:sp>
        <p:nvSpPr>
          <p:cNvPr id="21" name="anim4_109"/>
          <p:cNvSpPr txBox="1"/>
          <p:nvPr/>
        </p:nvSpPr>
        <p:spPr>
          <a:xfrm>
            <a:off x="9921240" y="356616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dirty="0">
                <a:solidFill>
                  <a:srgbClr val="E6DDE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III</a:t>
            </a:r>
            <a:endParaRPr lang="en-US" sz="3200" dirty="0"/>
          </a:p>
        </p:txBody>
      </p:sp>
      <p:sp>
        <p:nvSpPr>
          <p:cNvPr id="22" name="anim4_110"/>
          <p:cNvSpPr txBox="1"/>
          <p:nvPr/>
        </p:nvSpPr>
        <p:spPr>
          <a:xfrm>
            <a:off x="8046720" y="4407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Comparar</a:t>
            </a:r>
            <a:endParaRPr lang="en-US" sz="2100" dirty="0"/>
          </a:p>
        </p:txBody>
      </p:sp>
      <p:sp>
        <p:nvSpPr>
          <p:cNvPr id="23" name="anim4_111"/>
          <p:cNvSpPr txBox="1"/>
          <p:nvPr/>
        </p:nvSpPr>
        <p:spPr>
          <a:xfrm>
            <a:off x="8046720" y="48920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norma colombiana con los estándares de la OIT.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¿Por qué esta investigación?</a:t>
            </a:r>
            <a:endParaRPr lang="en-US" sz="3400" dirty="0"/>
          </a:p>
        </p:txBody>
      </p:sp>
      <p:sp>
        <p:nvSpPr>
          <p:cNvPr id="4" name="anim1_112"/>
          <p:cNvSpPr/>
          <p:nvPr/>
        </p:nvSpPr>
        <p:spPr>
          <a:xfrm>
            <a:off x="868680" y="1874520"/>
            <a:ext cx="3246120" cy="40233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im1_113"/>
          <p:cNvSpPr/>
          <p:nvPr/>
        </p:nvSpPr>
        <p:spPr>
          <a:xfrm>
            <a:off x="1984248" y="2103120"/>
            <a:ext cx="1005840" cy="1005840"/>
          </a:xfrm>
          <a:prstGeom prst="ellipse">
            <a:avLst/>
          </a:prstGeom>
          <a:solidFill>
            <a:srgbClr val="E0114F"/>
          </a:solidFill>
          <a:ln w="12700">
            <a:solidFill>
              <a:srgbClr val="E0114F"/>
            </a:solidFill>
            <a:prstDash val="solid"/>
          </a:ln>
        </p:spPr>
      </p:sp>
      <p:pic>
        <p:nvPicPr>
          <p:cNvPr id="6" name="anim1_11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766" y="2364638"/>
            <a:ext cx="482803" cy="482803"/>
          </a:xfrm>
          <a:prstGeom prst="rect">
            <a:avLst/>
          </a:prstGeom>
        </p:spPr>
      </p:pic>
      <p:sp>
        <p:nvSpPr>
          <p:cNvPr id="7" name="anim1_115"/>
          <p:cNvSpPr txBox="1"/>
          <p:nvPr/>
        </p:nvSpPr>
        <p:spPr>
          <a:xfrm>
            <a:off x="1051560" y="3246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Teórica</a:t>
            </a:r>
            <a:endParaRPr lang="en-US" sz="2200" dirty="0"/>
          </a:p>
        </p:txBody>
      </p:sp>
      <p:sp>
        <p:nvSpPr>
          <p:cNvPr id="8" name="anim1_116"/>
          <p:cNvSpPr txBox="1"/>
          <p:nvPr/>
        </p:nvSpPr>
        <p:spPr>
          <a:xfrm>
            <a:off x="1097280" y="384048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Hay un vacío en el control de convencionalidad aplicado a la seguridad y salud en el trabajo minero.</a:t>
            </a:r>
            <a:endParaRPr lang="en-US" sz="1600" dirty="0"/>
          </a:p>
        </p:txBody>
      </p:sp>
      <p:sp>
        <p:nvSpPr>
          <p:cNvPr id="9" name="anim2_117"/>
          <p:cNvSpPr/>
          <p:nvPr/>
        </p:nvSpPr>
        <p:spPr>
          <a:xfrm>
            <a:off x="4343400" y="1874520"/>
            <a:ext cx="3246120" cy="40233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nim2_118"/>
          <p:cNvSpPr/>
          <p:nvPr/>
        </p:nvSpPr>
        <p:spPr>
          <a:xfrm>
            <a:off x="5458968" y="2103120"/>
            <a:ext cx="1005840" cy="100584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1" name="anim2_1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486" y="2364638"/>
            <a:ext cx="482803" cy="482803"/>
          </a:xfrm>
          <a:prstGeom prst="rect">
            <a:avLst/>
          </a:prstGeom>
        </p:spPr>
      </p:pic>
      <p:sp>
        <p:nvSpPr>
          <p:cNvPr id="12" name="anim2_120"/>
          <p:cNvSpPr txBox="1"/>
          <p:nvPr/>
        </p:nvSpPr>
        <p:spPr>
          <a:xfrm>
            <a:off x="4526280" y="3246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Práctica</a:t>
            </a:r>
            <a:endParaRPr lang="en-US" sz="2200" dirty="0"/>
          </a:p>
        </p:txBody>
      </p:sp>
      <p:sp>
        <p:nvSpPr>
          <p:cNvPr id="13" name="anim2_121"/>
          <p:cNvSpPr txBox="1"/>
          <p:nvPr/>
        </p:nvSpPr>
        <p:spPr>
          <a:xfrm>
            <a:off x="4572000" y="384048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Leyes avanzadas en el papel no garantizan menos accidentes: hay que medir su efectividad real.</a:t>
            </a:r>
            <a:endParaRPr lang="en-US" sz="1600" dirty="0"/>
          </a:p>
        </p:txBody>
      </p:sp>
      <p:sp>
        <p:nvSpPr>
          <p:cNvPr id="14" name="anim3_122"/>
          <p:cNvSpPr/>
          <p:nvPr/>
        </p:nvSpPr>
        <p:spPr>
          <a:xfrm>
            <a:off x="7818120" y="1874520"/>
            <a:ext cx="3246120" cy="40233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nim3_123"/>
          <p:cNvSpPr/>
          <p:nvPr/>
        </p:nvSpPr>
        <p:spPr>
          <a:xfrm>
            <a:off x="8933688" y="2103120"/>
            <a:ext cx="1005840" cy="100584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6" name="anim3_1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206" y="2364638"/>
            <a:ext cx="482803" cy="482803"/>
          </a:xfrm>
          <a:prstGeom prst="rect">
            <a:avLst/>
          </a:prstGeom>
        </p:spPr>
      </p:pic>
      <p:sp>
        <p:nvSpPr>
          <p:cNvPr id="17" name="anim3_125"/>
          <p:cNvSpPr txBox="1"/>
          <p:nvPr/>
        </p:nvSpPr>
        <p:spPr>
          <a:xfrm>
            <a:off x="8001000" y="3246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Social</a:t>
            </a:r>
            <a:endParaRPr lang="en-US" sz="2200" dirty="0"/>
          </a:p>
        </p:txBody>
      </p:sp>
      <p:sp>
        <p:nvSpPr>
          <p:cNvPr id="18" name="anim3_126"/>
          <p:cNvSpPr txBox="1"/>
          <p:nvPr/>
        </p:nvSpPr>
        <p:spPr>
          <a:xfrm>
            <a:off x="8046720" y="384048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Aporta insumos para políticas públicas y un régimen de seguridad social más equitativo.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Metodología</a:t>
            </a:r>
            <a:endParaRPr lang="en-US" sz="3400" dirty="0"/>
          </a:p>
        </p:txBody>
      </p:sp>
      <p:sp>
        <p:nvSpPr>
          <p:cNvPr id="4" name="anim1_127"/>
          <p:cNvSpPr/>
          <p:nvPr/>
        </p:nvSpPr>
        <p:spPr>
          <a:xfrm>
            <a:off x="1600200" y="1828800"/>
            <a:ext cx="914400" cy="91440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5" name="anim1_1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944" y="2066544"/>
            <a:ext cx="438912" cy="438912"/>
          </a:xfrm>
          <a:prstGeom prst="rect">
            <a:avLst/>
          </a:prstGeom>
        </p:spPr>
      </p:pic>
      <p:sp>
        <p:nvSpPr>
          <p:cNvPr id="6" name="anim1_129"/>
          <p:cNvSpPr/>
          <p:nvPr/>
        </p:nvSpPr>
        <p:spPr>
          <a:xfrm>
            <a:off x="2743200" y="2148840"/>
            <a:ext cx="502920" cy="274320"/>
          </a:xfrm>
          <a:prstGeom prst="rightArrow">
            <a:avLst/>
          </a:prstGeom>
          <a:solidFill>
            <a:srgbClr val="E6DDE3"/>
          </a:solidFill>
          <a:ln w="12700">
            <a:solidFill>
              <a:srgbClr val="E6DDE3"/>
            </a:solidFill>
            <a:prstDash val="solid"/>
          </a:ln>
        </p:spPr>
      </p:sp>
      <p:sp>
        <p:nvSpPr>
          <p:cNvPr id="7" name="anim1_130"/>
          <p:cNvSpPr txBox="1"/>
          <p:nvPr/>
        </p:nvSpPr>
        <p:spPr>
          <a:xfrm>
            <a:off x="868680" y="28163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Enfoque</a:t>
            </a:r>
            <a:endParaRPr lang="en-US" sz="1900" dirty="0"/>
          </a:p>
        </p:txBody>
      </p:sp>
      <p:sp>
        <p:nvSpPr>
          <p:cNvPr id="8" name="anim1_131"/>
          <p:cNvSpPr txBox="1"/>
          <p:nvPr/>
        </p:nvSpPr>
        <p:spPr>
          <a:xfrm>
            <a:off x="91440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Cualitativo</a:t>
            </a:r>
            <a:endParaRPr lang="en-US" sz="1500" dirty="0"/>
          </a:p>
        </p:txBody>
      </p:sp>
      <p:sp>
        <p:nvSpPr>
          <p:cNvPr id="9" name="anim2_132"/>
          <p:cNvSpPr/>
          <p:nvPr/>
        </p:nvSpPr>
        <p:spPr>
          <a:xfrm>
            <a:off x="4206240" y="1828800"/>
            <a:ext cx="914400" cy="91440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0" name="anim2_1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2066544"/>
            <a:ext cx="438912" cy="438912"/>
          </a:xfrm>
          <a:prstGeom prst="rect">
            <a:avLst/>
          </a:prstGeom>
        </p:spPr>
      </p:pic>
      <p:sp>
        <p:nvSpPr>
          <p:cNvPr id="11" name="anim2_134"/>
          <p:cNvSpPr/>
          <p:nvPr/>
        </p:nvSpPr>
        <p:spPr>
          <a:xfrm>
            <a:off x="5349240" y="2148840"/>
            <a:ext cx="502920" cy="274320"/>
          </a:xfrm>
          <a:prstGeom prst="rightArrow">
            <a:avLst/>
          </a:prstGeom>
          <a:solidFill>
            <a:srgbClr val="E6DDE3"/>
          </a:solidFill>
          <a:ln w="12700">
            <a:solidFill>
              <a:srgbClr val="E6DDE3"/>
            </a:solidFill>
            <a:prstDash val="solid"/>
          </a:ln>
        </p:spPr>
      </p:sp>
      <p:sp>
        <p:nvSpPr>
          <p:cNvPr id="12" name="anim2_135"/>
          <p:cNvSpPr txBox="1"/>
          <p:nvPr/>
        </p:nvSpPr>
        <p:spPr>
          <a:xfrm>
            <a:off x="3474720" y="28163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Alcance</a:t>
            </a:r>
            <a:endParaRPr lang="en-US" sz="1900" dirty="0"/>
          </a:p>
        </p:txBody>
      </p:sp>
      <p:sp>
        <p:nvSpPr>
          <p:cNvPr id="13" name="anim2_136"/>
          <p:cNvSpPr txBox="1"/>
          <p:nvPr/>
        </p:nvSpPr>
        <p:spPr>
          <a:xfrm>
            <a:off x="352044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Descriptivo y explicativo</a:t>
            </a:r>
            <a:endParaRPr lang="en-US" sz="1500" dirty="0"/>
          </a:p>
        </p:txBody>
      </p:sp>
      <p:sp>
        <p:nvSpPr>
          <p:cNvPr id="14" name="anim3_137"/>
          <p:cNvSpPr/>
          <p:nvPr/>
        </p:nvSpPr>
        <p:spPr>
          <a:xfrm>
            <a:off x="6812280" y="1828800"/>
            <a:ext cx="914400" cy="91440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5" name="anim3_13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2066544"/>
            <a:ext cx="438912" cy="438912"/>
          </a:xfrm>
          <a:prstGeom prst="rect">
            <a:avLst/>
          </a:prstGeom>
        </p:spPr>
      </p:pic>
      <p:sp>
        <p:nvSpPr>
          <p:cNvPr id="16" name="anim3_139"/>
          <p:cNvSpPr/>
          <p:nvPr/>
        </p:nvSpPr>
        <p:spPr>
          <a:xfrm>
            <a:off x="7955280" y="2148840"/>
            <a:ext cx="502920" cy="274320"/>
          </a:xfrm>
          <a:prstGeom prst="rightArrow">
            <a:avLst/>
          </a:prstGeom>
          <a:solidFill>
            <a:srgbClr val="E6DDE3"/>
          </a:solidFill>
          <a:ln w="12700">
            <a:solidFill>
              <a:srgbClr val="E6DDE3"/>
            </a:solidFill>
            <a:prstDash val="solid"/>
          </a:ln>
        </p:spPr>
      </p:sp>
      <p:sp>
        <p:nvSpPr>
          <p:cNvPr id="17" name="anim3_140"/>
          <p:cNvSpPr txBox="1"/>
          <p:nvPr/>
        </p:nvSpPr>
        <p:spPr>
          <a:xfrm>
            <a:off x="6080760" y="28163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Diseño</a:t>
            </a:r>
            <a:endParaRPr lang="en-US" sz="1900" dirty="0"/>
          </a:p>
        </p:txBody>
      </p:sp>
      <p:sp>
        <p:nvSpPr>
          <p:cNvPr id="18" name="anim3_141"/>
          <p:cNvSpPr txBox="1"/>
          <p:nvPr/>
        </p:nvSpPr>
        <p:spPr>
          <a:xfrm>
            <a:off x="612648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Documental, jurídico y comparativo</a:t>
            </a:r>
            <a:endParaRPr lang="en-US" sz="1500" dirty="0"/>
          </a:p>
        </p:txBody>
      </p:sp>
      <p:sp>
        <p:nvSpPr>
          <p:cNvPr id="19" name="anim4_142"/>
          <p:cNvSpPr/>
          <p:nvPr/>
        </p:nvSpPr>
        <p:spPr>
          <a:xfrm>
            <a:off x="9418320" y="1828800"/>
            <a:ext cx="914400" cy="91440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20" name="anim4_14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4" y="2066544"/>
            <a:ext cx="438912" cy="438912"/>
          </a:xfrm>
          <a:prstGeom prst="rect">
            <a:avLst/>
          </a:prstGeom>
        </p:spPr>
      </p:pic>
      <p:sp>
        <p:nvSpPr>
          <p:cNvPr id="21" name="anim4_144"/>
          <p:cNvSpPr txBox="1"/>
          <p:nvPr/>
        </p:nvSpPr>
        <p:spPr>
          <a:xfrm>
            <a:off x="8686800" y="28163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Técnica</a:t>
            </a:r>
            <a:endParaRPr lang="en-US" sz="1900" dirty="0"/>
          </a:p>
        </p:txBody>
      </p:sp>
      <p:sp>
        <p:nvSpPr>
          <p:cNvPr id="22" name="anim4_145"/>
          <p:cNvSpPr txBox="1"/>
          <p:nvPr/>
        </p:nvSpPr>
        <p:spPr>
          <a:xfrm>
            <a:off x="873252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Revisión documental sistemática</a:t>
            </a:r>
            <a:endParaRPr lang="en-US" sz="1500" dirty="0"/>
          </a:p>
        </p:txBody>
      </p:sp>
      <p:sp>
        <p:nvSpPr>
          <p:cNvPr id="23" name="anim5_146"/>
          <p:cNvSpPr/>
          <p:nvPr/>
        </p:nvSpPr>
        <p:spPr>
          <a:xfrm>
            <a:off x="868680" y="4160520"/>
            <a:ext cx="4983480" cy="1783080"/>
          </a:xfrm>
          <a:prstGeom prst="roundRect">
            <a:avLst>
              <a:gd name="adj" fmla="val 6154"/>
            </a:avLst>
          </a:prstGeom>
          <a:solidFill>
            <a:srgbClr val="F7EEF3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anim5_147"/>
          <p:cNvSpPr txBox="1"/>
          <p:nvPr/>
        </p:nvSpPr>
        <p:spPr>
          <a:xfrm>
            <a:off x="1097280" y="4279392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C721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Fuentes primarias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Leyes y decretos colombianos, convenios OIT y jurisprudencia de las altas cortes.</a:t>
            </a:r>
            <a:endParaRPr lang="en-US" sz="1600" dirty="0"/>
          </a:p>
        </p:txBody>
      </p:sp>
      <p:sp>
        <p:nvSpPr>
          <p:cNvPr id="25" name="anim6_148"/>
          <p:cNvSpPr/>
          <p:nvPr/>
        </p:nvSpPr>
        <p:spPr>
          <a:xfrm>
            <a:off x="6126480" y="4160520"/>
            <a:ext cx="4983480" cy="1783080"/>
          </a:xfrm>
          <a:prstGeom prst="roundRect">
            <a:avLst>
              <a:gd name="adj" fmla="val 6154"/>
            </a:avLst>
          </a:prstGeom>
          <a:solidFill>
            <a:srgbClr val="F1ECF6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anim6_149"/>
          <p:cNvSpPr txBox="1"/>
          <p:nvPr/>
        </p:nvSpPr>
        <p:spPr>
          <a:xfrm>
            <a:off x="6355080" y="4279392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7E469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Fuentes secundarias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Doctrina, artículos indexados, tesis e informes de la OIT y la ANM.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1_150"/>
          <p:cNvSpPr txBox="1"/>
          <p:nvPr/>
        </p:nvSpPr>
        <p:spPr>
          <a:xfrm>
            <a:off x="868680" y="155448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anim2_151"/>
          <p:cNvSpPr txBox="1"/>
          <p:nvPr/>
        </p:nvSpPr>
        <p:spPr>
          <a:xfrm>
            <a:off x="4754880" y="2103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7E469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</a:t>
            </a:r>
            <a:endParaRPr lang="en-US" sz="1800" dirty="0"/>
          </a:p>
        </p:txBody>
      </p:sp>
      <p:sp>
        <p:nvSpPr>
          <p:cNvPr id="4" name="anim2_152"/>
          <p:cNvSpPr txBox="1"/>
          <p:nvPr/>
        </p:nvSpPr>
        <p:spPr>
          <a:xfrm>
            <a:off x="4754880" y="25603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Caracterización del régimen colombiano</a:t>
            </a:r>
            <a:endParaRPr lang="en-US" sz="3400" dirty="0"/>
          </a:p>
        </p:txBody>
      </p:sp>
      <p:sp>
        <p:nvSpPr>
          <p:cNvPr id="5" name="anim3_153"/>
          <p:cNvSpPr txBox="1"/>
          <p:nvPr/>
        </p:nvSpPr>
        <p:spPr>
          <a:xfrm>
            <a:off x="4754880" y="402336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Pensión especial de vejez por alto riesgo: evolución, normas y jurisprudencia.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Evolución normativa del régimen</a:t>
            </a:r>
            <a:endParaRPr lang="en-US" sz="3400" dirty="0"/>
          </a:p>
        </p:txBody>
      </p:sp>
      <p:sp>
        <p:nvSpPr>
          <p:cNvPr id="4" name="anim1_154"/>
          <p:cNvSpPr/>
          <p:nvPr/>
        </p:nvSpPr>
        <p:spPr>
          <a:xfrm>
            <a:off x="1371600" y="3794760"/>
            <a:ext cx="8869680" cy="0"/>
          </a:xfrm>
          <a:prstGeom prst="line">
            <a:avLst/>
          </a:prstGeom>
          <a:noFill/>
          <a:ln w="38100">
            <a:solidFill>
              <a:srgbClr val="E6DDE3"/>
            </a:solidFill>
            <a:prstDash val="solid"/>
          </a:ln>
        </p:spPr>
      </p:sp>
      <p:sp>
        <p:nvSpPr>
          <p:cNvPr id="5" name="anim2_155"/>
          <p:cNvSpPr/>
          <p:nvPr/>
        </p:nvSpPr>
        <p:spPr>
          <a:xfrm>
            <a:off x="1234440" y="3657600"/>
            <a:ext cx="274320" cy="274320"/>
          </a:xfrm>
          <a:prstGeom prst="ellipse">
            <a:avLst/>
          </a:prstGeom>
          <a:solidFill>
            <a:srgbClr val="C721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anim2_156"/>
          <p:cNvSpPr txBox="1"/>
          <p:nvPr/>
        </p:nvSpPr>
        <p:spPr>
          <a:xfrm>
            <a:off x="640080" y="31546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1966</a:t>
            </a:r>
            <a:endParaRPr lang="en-US" sz="2200" dirty="0"/>
          </a:p>
        </p:txBody>
      </p:sp>
      <p:sp>
        <p:nvSpPr>
          <p:cNvPr id="7" name="anim2_157"/>
          <p:cNvSpPr txBox="1"/>
          <p:nvPr/>
        </p:nvSpPr>
        <p:spPr>
          <a:xfrm>
            <a:off x="274320" y="1920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Decreto 3041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Primera regulación</a:t>
            </a:r>
            <a:endParaRPr lang="en-US" sz="1500" dirty="0"/>
          </a:p>
        </p:txBody>
      </p:sp>
      <p:sp>
        <p:nvSpPr>
          <p:cNvPr id="8" name="anim3_158"/>
          <p:cNvSpPr/>
          <p:nvPr/>
        </p:nvSpPr>
        <p:spPr>
          <a:xfrm>
            <a:off x="2501537" y="3657600"/>
            <a:ext cx="274320" cy="274320"/>
          </a:xfrm>
          <a:prstGeom prst="ellipse">
            <a:avLst/>
          </a:prstGeom>
          <a:solidFill>
            <a:srgbClr val="C721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nim3_159"/>
          <p:cNvSpPr txBox="1"/>
          <p:nvPr/>
        </p:nvSpPr>
        <p:spPr>
          <a:xfrm>
            <a:off x="1907177" y="39959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1990</a:t>
            </a:r>
            <a:endParaRPr lang="en-US" sz="2200" dirty="0"/>
          </a:p>
        </p:txBody>
      </p:sp>
      <p:sp>
        <p:nvSpPr>
          <p:cNvPr id="10" name="anim3_160"/>
          <p:cNvSpPr txBox="1"/>
          <p:nvPr/>
        </p:nvSpPr>
        <p:spPr>
          <a:xfrm>
            <a:off x="1541417" y="4480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Decreto 758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Ajusta requisitos</a:t>
            </a:r>
            <a:endParaRPr lang="en-US" sz="1500" dirty="0"/>
          </a:p>
        </p:txBody>
      </p:sp>
      <p:sp>
        <p:nvSpPr>
          <p:cNvPr id="11" name="anim4_161"/>
          <p:cNvSpPr/>
          <p:nvPr/>
        </p:nvSpPr>
        <p:spPr>
          <a:xfrm>
            <a:off x="3768634" y="3657600"/>
            <a:ext cx="274320" cy="274320"/>
          </a:xfrm>
          <a:prstGeom prst="ellipse">
            <a:avLst/>
          </a:prstGeom>
          <a:solidFill>
            <a:srgbClr val="C721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nim4_162"/>
          <p:cNvSpPr txBox="1"/>
          <p:nvPr/>
        </p:nvSpPr>
        <p:spPr>
          <a:xfrm>
            <a:off x="3174274" y="31546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1993</a:t>
            </a:r>
            <a:endParaRPr lang="en-US" sz="2200" dirty="0"/>
          </a:p>
        </p:txBody>
      </p:sp>
      <p:sp>
        <p:nvSpPr>
          <p:cNvPr id="13" name="anim4_163"/>
          <p:cNvSpPr txBox="1"/>
          <p:nvPr/>
        </p:nvSpPr>
        <p:spPr>
          <a:xfrm>
            <a:off x="2808514" y="1920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Ley 100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Faculta al Gobierno (art. 139)</a:t>
            </a:r>
            <a:endParaRPr lang="en-US" sz="1500" dirty="0"/>
          </a:p>
        </p:txBody>
      </p:sp>
      <p:sp>
        <p:nvSpPr>
          <p:cNvPr id="14" name="anim5_164"/>
          <p:cNvSpPr/>
          <p:nvPr/>
        </p:nvSpPr>
        <p:spPr>
          <a:xfrm>
            <a:off x="5035731" y="3657600"/>
            <a:ext cx="274320" cy="274320"/>
          </a:xfrm>
          <a:prstGeom prst="ellipse">
            <a:avLst/>
          </a:prstGeom>
          <a:solidFill>
            <a:srgbClr val="C721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anim5_165"/>
          <p:cNvSpPr txBox="1"/>
          <p:nvPr/>
        </p:nvSpPr>
        <p:spPr>
          <a:xfrm>
            <a:off x="4441371" y="39959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1994</a:t>
            </a:r>
            <a:endParaRPr lang="en-US" sz="2200" dirty="0"/>
          </a:p>
        </p:txBody>
      </p:sp>
      <p:sp>
        <p:nvSpPr>
          <p:cNvPr id="16" name="anim5_166"/>
          <p:cNvSpPr txBox="1"/>
          <p:nvPr/>
        </p:nvSpPr>
        <p:spPr>
          <a:xfrm>
            <a:off x="4075611" y="4480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Dec. 1281 y 1835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 privado y público</a:t>
            </a:r>
            <a:endParaRPr lang="en-US" sz="1500" dirty="0"/>
          </a:p>
        </p:txBody>
      </p:sp>
      <p:sp>
        <p:nvSpPr>
          <p:cNvPr id="17" name="anim6_167"/>
          <p:cNvSpPr/>
          <p:nvPr/>
        </p:nvSpPr>
        <p:spPr>
          <a:xfrm>
            <a:off x="6302829" y="3657600"/>
            <a:ext cx="274320" cy="274320"/>
          </a:xfrm>
          <a:prstGeom prst="ellipse">
            <a:avLst/>
          </a:prstGeom>
          <a:solidFill>
            <a:srgbClr val="7E469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anim6_168"/>
          <p:cNvSpPr txBox="1"/>
          <p:nvPr/>
        </p:nvSpPr>
        <p:spPr>
          <a:xfrm>
            <a:off x="5708469" y="31546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2003</a:t>
            </a:r>
            <a:endParaRPr lang="en-US" sz="2200" dirty="0"/>
          </a:p>
        </p:txBody>
      </p:sp>
      <p:sp>
        <p:nvSpPr>
          <p:cNvPr id="19" name="anim6_169"/>
          <p:cNvSpPr txBox="1"/>
          <p:nvPr/>
        </p:nvSpPr>
        <p:spPr>
          <a:xfrm>
            <a:off x="5342709" y="1920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DL 2090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Unifica el régimen</a:t>
            </a:r>
            <a:endParaRPr lang="en-US" sz="1500" dirty="0"/>
          </a:p>
        </p:txBody>
      </p:sp>
      <p:sp>
        <p:nvSpPr>
          <p:cNvPr id="20" name="anim7_170"/>
          <p:cNvSpPr/>
          <p:nvPr/>
        </p:nvSpPr>
        <p:spPr>
          <a:xfrm>
            <a:off x="7569926" y="3657600"/>
            <a:ext cx="274320" cy="274320"/>
          </a:xfrm>
          <a:prstGeom prst="ellipse">
            <a:avLst/>
          </a:prstGeom>
          <a:solidFill>
            <a:srgbClr val="7E469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anim7_171"/>
          <p:cNvSpPr txBox="1"/>
          <p:nvPr/>
        </p:nvSpPr>
        <p:spPr>
          <a:xfrm>
            <a:off x="6975566" y="39959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2014</a:t>
            </a:r>
            <a:endParaRPr lang="en-US" sz="2200" dirty="0"/>
          </a:p>
        </p:txBody>
      </p:sp>
      <p:sp>
        <p:nvSpPr>
          <p:cNvPr id="22" name="anim7_172"/>
          <p:cNvSpPr txBox="1"/>
          <p:nvPr/>
        </p:nvSpPr>
        <p:spPr>
          <a:xfrm>
            <a:off x="6609806" y="4480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Decreto 2655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Prórroga hasta 2024</a:t>
            </a:r>
            <a:endParaRPr lang="en-US" sz="1500" dirty="0"/>
          </a:p>
        </p:txBody>
      </p:sp>
      <p:sp>
        <p:nvSpPr>
          <p:cNvPr id="23" name="anim8_173"/>
          <p:cNvSpPr/>
          <p:nvPr/>
        </p:nvSpPr>
        <p:spPr>
          <a:xfrm>
            <a:off x="8837023" y="3657600"/>
            <a:ext cx="274320" cy="274320"/>
          </a:xfrm>
          <a:prstGeom prst="ellipse">
            <a:avLst/>
          </a:prstGeom>
          <a:solidFill>
            <a:srgbClr val="7E469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anim8_174"/>
          <p:cNvSpPr txBox="1"/>
          <p:nvPr/>
        </p:nvSpPr>
        <p:spPr>
          <a:xfrm>
            <a:off x="8242663" y="31546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2015</a:t>
            </a:r>
            <a:endParaRPr lang="en-US" sz="2200" dirty="0"/>
          </a:p>
        </p:txBody>
      </p:sp>
      <p:sp>
        <p:nvSpPr>
          <p:cNvPr id="25" name="anim8_175"/>
          <p:cNvSpPr txBox="1"/>
          <p:nvPr/>
        </p:nvSpPr>
        <p:spPr>
          <a:xfrm>
            <a:off x="7876903" y="1920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Decreto 1886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minera subterránea</a:t>
            </a:r>
            <a:endParaRPr lang="en-US" sz="1500" dirty="0"/>
          </a:p>
        </p:txBody>
      </p:sp>
      <p:sp>
        <p:nvSpPr>
          <p:cNvPr id="26" name="anim9_176"/>
          <p:cNvSpPr/>
          <p:nvPr/>
        </p:nvSpPr>
        <p:spPr>
          <a:xfrm>
            <a:off x="10104120" y="3657600"/>
            <a:ext cx="274320" cy="274320"/>
          </a:xfrm>
          <a:prstGeom prst="ellipse">
            <a:avLst/>
          </a:prstGeom>
          <a:solidFill>
            <a:srgbClr val="7E469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anim9_177"/>
          <p:cNvSpPr txBox="1"/>
          <p:nvPr/>
        </p:nvSpPr>
        <p:spPr>
          <a:xfrm>
            <a:off x="9509760" y="39959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2024</a:t>
            </a:r>
            <a:endParaRPr lang="en-US" sz="2200" dirty="0"/>
          </a:p>
        </p:txBody>
      </p:sp>
      <p:sp>
        <p:nvSpPr>
          <p:cNvPr id="28" name="anim9_178"/>
          <p:cNvSpPr txBox="1"/>
          <p:nvPr/>
        </p:nvSpPr>
        <p:spPr>
          <a:xfrm>
            <a:off x="9144000" y="4480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Res. 6072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Protege derechos adquiridos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6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4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8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2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Decreto Ley 2090 de 2003 en cifras</a:t>
            </a:r>
            <a:endParaRPr lang="en-US" sz="3400" dirty="0"/>
          </a:p>
        </p:txBody>
      </p:sp>
      <p:sp>
        <p:nvSpPr>
          <p:cNvPr id="4" name="anim1_179"/>
          <p:cNvSpPr/>
          <p:nvPr/>
        </p:nvSpPr>
        <p:spPr>
          <a:xfrm>
            <a:off x="868680" y="1828800"/>
            <a:ext cx="493776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im1_180"/>
          <p:cNvSpPr txBox="1"/>
          <p:nvPr/>
        </p:nvSpPr>
        <p:spPr>
          <a:xfrm>
            <a:off x="1005840" y="1965960"/>
            <a:ext cx="2103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55</a:t>
            </a:r>
            <a:endParaRPr lang="en-US" sz="4200" dirty="0"/>
          </a:p>
        </p:txBody>
      </p:sp>
      <p:sp>
        <p:nvSpPr>
          <p:cNvPr id="6" name="anim1_181"/>
          <p:cNvSpPr txBox="1"/>
          <p:nvPr/>
        </p:nvSpPr>
        <p:spPr>
          <a:xfrm>
            <a:off x="3200400" y="1965960"/>
            <a:ext cx="2514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años de edad mínima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reducible hasta 50</a:t>
            </a:r>
            <a:endParaRPr lang="en-US" sz="1900" dirty="0"/>
          </a:p>
        </p:txBody>
      </p:sp>
      <p:sp>
        <p:nvSpPr>
          <p:cNvPr id="7" name="anim2_182"/>
          <p:cNvSpPr/>
          <p:nvPr/>
        </p:nvSpPr>
        <p:spPr>
          <a:xfrm>
            <a:off x="6035040" y="1828800"/>
            <a:ext cx="493776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nim2_183"/>
          <p:cNvSpPr txBox="1"/>
          <p:nvPr/>
        </p:nvSpPr>
        <p:spPr>
          <a:xfrm>
            <a:off x="6172200" y="1965960"/>
            <a:ext cx="2103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700</a:t>
            </a:r>
            <a:endParaRPr lang="en-US" sz="4200" dirty="0"/>
          </a:p>
        </p:txBody>
      </p:sp>
      <p:sp>
        <p:nvSpPr>
          <p:cNvPr id="9" name="anim2_184"/>
          <p:cNvSpPr txBox="1"/>
          <p:nvPr/>
        </p:nvSpPr>
        <p:spPr>
          <a:xfrm>
            <a:off x="8366760" y="1965960"/>
            <a:ext cx="2514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semanas en alto riesgo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14 años de labor</a:t>
            </a:r>
            <a:endParaRPr lang="en-US" sz="1900" dirty="0"/>
          </a:p>
        </p:txBody>
      </p:sp>
      <p:sp>
        <p:nvSpPr>
          <p:cNvPr id="10" name="anim3_185"/>
          <p:cNvSpPr/>
          <p:nvPr/>
        </p:nvSpPr>
        <p:spPr>
          <a:xfrm>
            <a:off x="868680" y="3474720"/>
            <a:ext cx="493776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nim3_186"/>
          <p:cNvSpPr txBox="1"/>
          <p:nvPr/>
        </p:nvSpPr>
        <p:spPr>
          <a:xfrm>
            <a:off x="1005840" y="3611880"/>
            <a:ext cx="2103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1.300</a:t>
            </a:r>
            <a:endParaRPr lang="en-US" sz="4200" dirty="0"/>
          </a:p>
        </p:txBody>
      </p:sp>
      <p:sp>
        <p:nvSpPr>
          <p:cNvPr id="12" name="anim3_187"/>
          <p:cNvSpPr txBox="1"/>
          <p:nvPr/>
        </p:nvSpPr>
        <p:spPr>
          <a:xfrm>
            <a:off x="3200400" y="3611880"/>
            <a:ext cx="2514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semanas totales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igual al régimen general</a:t>
            </a:r>
            <a:endParaRPr lang="en-US" sz="1900" dirty="0"/>
          </a:p>
        </p:txBody>
      </p:sp>
      <p:sp>
        <p:nvSpPr>
          <p:cNvPr id="13" name="anim4_188"/>
          <p:cNvSpPr/>
          <p:nvPr/>
        </p:nvSpPr>
        <p:spPr>
          <a:xfrm>
            <a:off x="6035040" y="3474720"/>
            <a:ext cx="493776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nim4_189"/>
          <p:cNvSpPr txBox="1"/>
          <p:nvPr/>
        </p:nvSpPr>
        <p:spPr>
          <a:xfrm>
            <a:off x="6172200" y="3611880"/>
            <a:ext cx="2103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+10 %</a:t>
            </a:r>
            <a:endParaRPr lang="en-US" sz="4200" dirty="0"/>
          </a:p>
        </p:txBody>
      </p:sp>
      <p:sp>
        <p:nvSpPr>
          <p:cNvPr id="15" name="anim4_190"/>
          <p:cNvSpPr txBox="1"/>
          <p:nvPr/>
        </p:nvSpPr>
        <p:spPr>
          <a:xfrm>
            <a:off x="8366760" y="3611880"/>
            <a:ext cx="2514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cotización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cargo del empleador</a:t>
            </a:r>
            <a:endParaRPr lang="en-US" sz="1900" dirty="0"/>
          </a:p>
        </p:txBody>
      </p:sp>
      <p:sp>
        <p:nvSpPr>
          <p:cNvPr id="16" name="anim5_191"/>
          <p:cNvSpPr/>
          <p:nvPr/>
        </p:nvSpPr>
        <p:spPr>
          <a:xfrm>
            <a:off x="868680" y="5166360"/>
            <a:ext cx="10104120" cy="822960"/>
          </a:xfrm>
          <a:prstGeom prst="roundRect">
            <a:avLst>
              <a:gd name="adj" fmla="val 13333"/>
            </a:avLst>
          </a:prstGeom>
          <a:solidFill>
            <a:srgbClr val="F7EEF3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anim5_19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349240"/>
            <a:ext cx="457200" cy="457200"/>
          </a:xfrm>
          <a:prstGeom prst="rect">
            <a:avLst/>
          </a:prstGeom>
        </p:spPr>
      </p:pic>
      <p:sp>
        <p:nvSpPr>
          <p:cNvPr id="18" name="anim5_193"/>
          <p:cNvSpPr txBox="1"/>
          <p:nvPr/>
        </p:nvSpPr>
        <p:spPr>
          <a:xfrm>
            <a:off x="1737360" y="5212080"/>
            <a:ext cx="9098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11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Límite: </a:t>
            </a:r>
            <a:pPr indent="0" marL="0">
              <a:buNone/>
            </a:pPr>
            <a:r>
              <a:rPr lang="en-US" sz="17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nuevos afiliados solo hasta el 31-dic-2024, y únicamente minería subterránea.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Jurisprudencia constitucional</a:t>
            </a:r>
            <a:endParaRPr lang="en-US" sz="3400" dirty="0"/>
          </a:p>
        </p:txBody>
      </p:sp>
      <p:sp>
        <p:nvSpPr>
          <p:cNvPr id="4" name="anim1_194"/>
          <p:cNvSpPr/>
          <p:nvPr/>
        </p:nvSpPr>
        <p:spPr>
          <a:xfrm>
            <a:off x="868680" y="1828800"/>
            <a:ext cx="324612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im1_195"/>
          <p:cNvSpPr/>
          <p:nvPr/>
        </p:nvSpPr>
        <p:spPr>
          <a:xfrm>
            <a:off x="1033272" y="1956816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sp>
        <p:nvSpPr>
          <p:cNvPr id="6" name="anim1_196"/>
          <p:cNvSpPr txBox="1"/>
          <p:nvPr/>
        </p:nvSpPr>
        <p:spPr>
          <a:xfrm>
            <a:off x="1033272" y="1956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C-663/2007</a:t>
            </a:r>
            <a:endParaRPr lang="en-US" sz="1400" dirty="0"/>
          </a:p>
        </p:txBody>
      </p:sp>
      <p:sp>
        <p:nvSpPr>
          <p:cNvPr id="7" name="anim1_197"/>
          <p:cNvSpPr txBox="1"/>
          <p:nvPr/>
        </p:nvSpPr>
        <p:spPr>
          <a:xfrm>
            <a:off x="1033272" y="235915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Suma semanas de toda actividad de alto riesgo.</a:t>
            </a:r>
            <a:endParaRPr lang="en-US" sz="1500" dirty="0"/>
          </a:p>
        </p:txBody>
      </p:sp>
      <p:sp>
        <p:nvSpPr>
          <p:cNvPr id="8" name="anim2_198"/>
          <p:cNvSpPr/>
          <p:nvPr/>
        </p:nvSpPr>
        <p:spPr>
          <a:xfrm>
            <a:off x="4297680" y="1828800"/>
            <a:ext cx="324612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nim2_199"/>
          <p:cNvSpPr/>
          <p:nvPr/>
        </p:nvSpPr>
        <p:spPr>
          <a:xfrm>
            <a:off x="4462272" y="1956816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sp>
        <p:nvSpPr>
          <p:cNvPr id="10" name="anim2_200"/>
          <p:cNvSpPr txBox="1"/>
          <p:nvPr/>
        </p:nvSpPr>
        <p:spPr>
          <a:xfrm>
            <a:off x="4462272" y="1956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C-030/2009</a:t>
            </a:r>
            <a:endParaRPr lang="en-US" sz="1400" dirty="0"/>
          </a:p>
        </p:txBody>
      </p:sp>
      <p:sp>
        <p:nvSpPr>
          <p:cNvPr id="11" name="anim2_201"/>
          <p:cNvSpPr txBox="1"/>
          <p:nvPr/>
        </p:nvSpPr>
        <p:spPr>
          <a:xfrm>
            <a:off x="4462272" y="235915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Reabre el traslado del RAIS al régimen público.</a:t>
            </a:r>
            <a:endParaRPr lang="en-US" sz="1500" dirty="0"/>
          </a:p>
        </p:txBody>
      </p:sp>
      <p:sp>
        <p:nvSpPr>
          <p:cNvPr id="12" name="anim3_202"/>
          <p:cNvSpPr/>
          <p:nvPr/>
        </p:nvSpPr>
        <p:spPr>
          <a:xfrm>
            <a:off x="868680" y="3218688"/>
            <a:ext cx="324612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nim3_203"/>
          <p:cNvSpPr/>
          <p:nvPr/>
        </p:nvSpPr>
        <p:spPr>
          <a:xfrm>
            <a:off x="1033272" y="334670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sp>
        <p:nvSpPr>
          <p:cNvPr id="14" name="anim3_204"/>
          <p:cNvSpPr txBox="1"/>
          <p:nvPr/>
        </p:nvSpPr>
        <p:spPr>
          <a:xfrm>
            <a:off x="1033272" y="3346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T-042/2010</a:t>
            </a:r>
            <a:endParaRPr lang="en-US" sz="1400" dirty="0"/>
          </a:p>
        </p:txBody>
      </p:sp>
      <p:sp>
        <p:nvSpPr>
          <p:cNvPr id="15" name="anim3_205"/>
          <p:cNvSpPr txBox="1"/>
          <p:nvPr/>
        </p:nvSpPr>
        <p:spPr>
          <a:xfrm>
            <a:off x="1033272" y="3749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aporte no pagado no se imputa al trabajador.</a:t>
            </a:r>
            <a:endParaRPr lang="en-US" sz="1500" dirty="0"/>
          </a:p>
        </p:txBody>
      </p:sp>
      <p:sp>
        <p:nvSpPr>
          <p:cNvPr id="16" name="anim4_206"/>
          <p:cNvSpPr/>
          <p:nvPr/>
        </p:nvSpPr>
        <p:spPr>
          <a:xfrm>
            <a:off x="4297680" y="3218688"/>
            <a:ext cx="324612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nim4_207"/>
          <p:cNvSpPr/>
          <p:nvPr/>
        </p:nvSpPr>
        <p:spPr>
          <a:xfrm>
            <a:off x="4462272" y="334670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sp>
        <p:nvSpPr>
          <p:cNvPr id="18" name="anim4_208"/>
          <p:cNvSpPr txBox="1"/>
          <p:nvPr/>
        </p:nvSpPr>
        <p:spPr>
          <a:xfrm>
            <a:off x="4462272" y="3346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C-853/2013</a:t>
            </a:r>
            <a:endParaRPr lang="en-US" sz="1400" dirty="0"/>
          </a:p>
        </p:txBody>
      </p:sp>
      <p:sp>
        <p:nvSpPr>
          <p:cNvPr id="19" name="anim4_209"/>
          <p:cNvSpPr txBox="1"/>
          <p:nvPr/>
        </p:nvSpPr>
        <p:spPr>
          <a:xfrm>
            <a:off x="4462272" y="3749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 taxativa: ampliarla es tarea del legislador.</a:t>
            </a:r>
            <a:endParaRPr lang="en-US" sz="1500" dirty="0"/>
          </a:p>
        </p:txBody>
      </p:sp>
      <p:sp>
        <p:nvSpPr>
          <p:cNvPr id="20" name="anim5_210"/>
          <p:cNvSpPr/>
          <p:nvPr/>
        </p:nvSpPr>
        <p:spPr>
          <a:xfrm>
            <a:off x="868680" y="4608576"/>
            <a:ext cx="324612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nim5_211"/>
          <p:cNvSpPr/>
          <p:nvPr/>
        </p:nvSpPr>
        <p:spPr>
          <a:xfrm>
            <a:off x="1033272" y="473659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sp>
        <p:nvSpPr>
          <p:cNvPr id="22" name="anim5_212"/>
          <p:cNvSpPr txBox="1"/>
          <p:nvPr/>
        </p:nvSpPr>
        <p:spPr>
          <a:xfrm>
            <a:off x="1033272" y="47365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C-651/2015</a:t>
            </a:r>
            <a:endParaRPr lang="en-US" sz="1400" dirty="0"/>
          </a:p>
        </p:txBody>
      </p:sp>
      <p:sp>
        <p:nvSpPr>
          <p:cNvPr id="23" name="anim5_213"/>
          <p:cNvSpPr txBox="1"/>
          <p:nvPr/>
        </p:nvSpPr>
        <p:spPr>
          <a:xfrm>
            <a:off x="1033272" y="51389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Prórroga a 2024 válida; derechos adquiridos a salvo.</a:t>
            </a:r>
            <a:endParaRPr lang="en-US" sz="1500" dirty="0"/>
          </a:p>
        </p:txBody>
      </p:sp>
      <p:sp>
        <p:nvSpPr>
          <p:cNvPr id="24" name="anim6_214"/>
          <p:cNvSpPr/>
          <p:nvPr/>
        </p:nvSpPr>
        <p:spPr>
          <a:xfrm>
            <a:off x="4297680" y="4608576"/>
            <a:ext cx="324612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anim6_215"/>
          <p:cNvSpPr/>
          <p:nvPr/>
        </p:nvSpPr>
        <p:spPr>
          <a:xfrm>
            <a:off x="4462272" y="473659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sp>
        <p:nvSpPr>
          <p:cNvPr id="26" name="anim6_216"/>
          <p:cNvSpPr txBox="1"/>
          <p:nvPr/>
        </p:nvSpPr>
        <p:spPr>
          <a:xfrm>
            <a:off x="4462272" y="47365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T-046/2024</a:t>
            </a:r>
            <a:endParaRPr lang="en-US" sz="1400" dirty="0"/>
          </a:p>
        </p:txBody>
      </p:sp>
      <p:sp>
        <p:nvSpPr>
          <p:cNvPr id="27" name="anim6_217"/>
          <p:cNvSpPr txBox="1"/>
          <p:nvPr/>
        </p:nvSpPr>
        <p:spPr>
          <a:xfrm>
            <a:off x="4462272" y="51389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ARL no puede negar la calificación.</a:t>
            </a:r>
            <a:endParaRPr lang="en-US" sz="1500" dirty="0"/>
          </a:p>
        </p:txBody>
      </p:sp>
      <p:sp>
        <p:nvSpPr>
          <p:cNvPr id="28" name="anim7_218"/>
          <p:cNvSpPr/>
          <p:nvPr/>
        </p:nvSpPr>
        <p:spPr>
          <a:xfrm>
            <a:off x="7863840" y="1828800"/>
            <a:ext cx="3246120" cy="4023360"/>
          </a:xfrm>
          <a:prstGeom prst="roundRect">
            <a:avLst>
              <a:gd name="adj" fmla="val 3380"/>
            </a:avLst>
          </a:prstGeom>
          <a:solidFill>
            <a:srgbClr val="F1ECF6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anim7_219"/>
          <p:cNvSpPr/>
          <p:nvPr/>
        </p:nvSpPr>
        <p:spPr>
          <a:xfrm>
            <a:off x="8046720" y="1993392"/>
            <a:ext cx="640080" cy="64008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30" name="anim7_22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3141" y="2159813"/>
            <a:ext cx="307238" cy="307238"/>
          </a:xfrm>
          <a:prstGeom prst="rect">
            <a:avLst/>
          </a:prstGeom>
        </p:spPr>
      </p:pic>
      <p:sp>
        <p:nvSpPr>
          <p:cNvPr id="31" name="anim7_221"/>
          <p:cNvSpPr txBox="1"/>
          <p:nvPr/>
        </p:nvSpPr>
        <p:spPr>
          <a:xfrm>
            <a:off x="8823960" y="1993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Principios</a:t>
            </a:r>
            <a:endParaRPr lang="en-US" sz="1900" dirty="0"/>
          </a:p>
        </p:txBody>
      </p:sp>
      <p:sp>
        <p:nvSpPr>
          <p:cNvPr id="32" name="anim7_222"/>
          <p:cNvSpPr txBox="1"/>
          <p:nvPr/>
        </p:nvSpPr>
        <p:spPr>
          <a:xfrm>
            <a:off x="8046720" y="2788920"/>
            <a:ext cx="2926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Acción afirmativa con fin legítimo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Favorabilidad al trabajador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Fallas de terceros no frustran el derecho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Pensión de vejez única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4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1_223"/>
          <p:cNvSpPr txBox="1"/>
          <p:nvPr/>
        </p:nvSpPr>
        <p:spPr>
          <a:xfrm>
            <a:off x="868680" y="155448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anim2_224"/>
          <p:cNvSpPr txBox="1"/>
          <p:nvPr/>
        </p:nvSpPr>
        <p:spPr>
          <a:xfrm>
            <a:off x="4754880" y="2103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7E469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</a:t>
            </a:r>
            <a:endParaRPr lang="en-US" sz="1800" dirty="0"/>
          </a:p>
        </p:txBody>
      </p:sp>
      <p:sp>
        <p:nvSpPr>
          <p:cNvPr id="4" name="anim2_225"/>
          <p:cNvSpPr txBox="1"/>
          <p:nvPr/>
        </p:nvSpPr>
        <p:spPr>
          <a:xfrm>
            <a:off x="4754880" y="25603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Estándares internacionales de la OIT</a:t>
            </a:r>
            <a:endParaRPr lang="en-US" sz="3400" dirty="0"/>
          </a:p>
        </p:txBody>
      </p:sp>
      <p:sp>
        <p:nvSpPr>
          <p:cNvPr id="5" name="anim3_226"/>
          <p:cNvSpPr txBox="1"/>
          <p:nvPr/>
        </p:nvSpPr>
        <p:spPr>
          <a:xfrm>
            <a:off x="4754880" y="402336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Convenios y recomendaciones que fijan el parámetro de convencionalidad.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Instrumentos OIT aplicables</a:t>
            </a:r>
            <a:endParaRPr lang="en-US" sz="3400" dirty="0"/>
          </a:p>
        </p:txBody>
      </p:sp>
      <p:sp>
        <p:nvSpPr>
          <p:cNvPr id="4" name="anim1_227"/>
          <p:cNvSpPr/>
          <p:nvPr/>
        </p:nvSpPr>
        <p:spPr>
          <a:xfrm>
            <a:off x="868680" y="182880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im1_228"/>
          <p:cNvSpPr txBox="1"/>
          <p:nvPr/>
        </p:nvSpPr>
        <p:spPr>
          <a:xfrm>
            <a:off x="1033272" y="19385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C176</a:t>
            </a:r>
            <a:endParaRPr lang="en-US" sz="2700" dirty="0"/>
          </a:p>
        </p:txBody>
      </p:sp>
      <p:sp>
        <p:nvSpPr>
          <p:cNvPr id="6" name="anim1_229"/>
          <p:cNvSpPr txBox="1"/>
          <p:nvPr/>
        </p:nvSpPr>
        <p:spPr>
          <a:xfrm>
            <a:off x="2331720" y="1984248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1995</a:t>
            </a:r>
            <a:endParaRPr lang="en-US" sz="1400" dirty="0"/>
          </a:p>
        </p:txBody>
      </p:sp>
      <p:sp>
        <p:nvSpPr>
          <p:cNvPr id="7" name="anim1_230"/>
          <p:cNvSpPr txBox="1"/>
          <p:nvPr/>
        </p:nvSpPr>
        <p:spPr>
          <a:xfrm>
            <a:off x="1033272" y="24688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y salud en las minas</a:t>
            </a:r>
            <a:endParaRPr lang="en-US" sz="1400" dirty="0"/>
          </a:p>
        </p:txBody>
      </p:sp>
      <p:sp>
        <p:nvSpPr>
          <p:cNvPr id="8" name="anim1_231"/>
          <p:cNvSpPr/>
          <p:nvPr/>
        </p:nvSpPr>
        <p:spPr>
          <a:xfrm>
            <a:off x="1033272" y="3163824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0114F"/>
          </a:solidFill>
          <a:ln w="12700">
            <a:solidFill>
              <a:srgbClr val="E0114F"/>
            </a:solidFill>
            <a:prstDash val="solid"/>
          </a:ln>
        </p:spPr>
      </p:sp>
      <p:sp>
        <p:nvSpPr>
          <p:cNvPr id="9" name="anim1_232"/>
          <p:cNvSpPr txBox="1"/>
          <p:nvPr/>
        </p:nvSpPr>
        <p:spPr>
          <a:xfrm>
            <a:off x="1033272" y="31638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ratificado</a:t>
            </a:r>
            <a:endParaRPr lang="en-US" sz="1300" dirty="0"/>
          </a:p>
        </p:txBody>
      </p:sp>
      <p:sp>
        <p:nvSpPr>
          <p:cNvPr id="10" name="anim2_233"/>
          <p:cNvSpPr/>
          <p:nvPr/>
        </p:nvSpPr>
        <p:spPr>
          <a:xfrm>
            <a:off x="3447288" y="182880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nim2_234"/>
          <p:cNvSpPr txBox="1"/>
          <p:nvPr/>
        </p:nvSpPr>
        <p:spPr>
          <a:xfrm>
            <a:off x="3611880" y="19385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C102</a:t>
            </a:r>
            <a:endParaRPr lang="en-US" sz="2700" dirty="0"/>
          </a:p>
        </p:txBody>
      </p:sp>
      <p:sp>
        <p:nvSpPr>
          <p:cNvPr id="12" name="anim2_235"/>
          <p:cNvSpPr txBox="1"/>
          <p:nvPr/>
        </p:nvSpPr>
        <p:spPr>
          <a:xfrm>
            <a:off x="4910328" y="1984248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1952</a:t>
            </a:r>
            <a:endParaRPr lang="en-US" sz="1400" dirty="0"/>
          </a:p>
        </p:txBody>
      </p:sp>
      <p:sp>
        <p:nvSpPr>
          <p:cNvPr id="13" name="anim2_236"/>
          <p:cNvSpPr txBox="1"/>
          <p:nvPr/>
        </p:nvSpPr>
        <p:spPr>
          <a:xfrm>
            <a:off x="3611880" y="24688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social (norma mínima)</a:t>
            </a:r>
            <a:endParaRPr lang="en-US" sz="1400" dirty="0"/>
          </a:p>
        </p:txBody>
      </p:sp>
      <p:sp>
        <p:nvSpPr>
          <p:cNvPr id="14" name="anim2_237"/>
          <p:cNvSpPr/>
          <p:nvPr/>
        </p:nvSpPr>
        <p:spPr>
          <a:xfrm>
            <a:off x="3611880" y="3163824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0114F"/>
          </a:solidFill>
          <a:ln w="12700">
            <a:solidFill>
              <a:srgbClr val="E0114F"/>
            </a:solidFill>
            <a:prstDash val="solid"/>
          </a:ln>
        </p:spPr>
      </p:sp>
      <p:sp>
        <p:nvSpPr>
          <p:cNvPr id="15" name="anim2_238"/>
          <p:cNvSpPr txBox="1"/>
          <p:nvPr/>
        </p:nvSpPr>
        <p:spPr>
          <a:xfrm>
            <a:off x="3611880" y="31638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ratificado</a:t>
            </a:r>
            <a:endParaRPr lang="en-US" sz="1300" dirty="0"/>
          </a:p>
        </p:txBody>
      </p:sp>
      <p:sp>
        <p:nvSpPr>
          <p:cNvPr id="16" name="anim3_239"/>
          <p:cNvSpPr/>
          <p:nvPr/>
        </p:nvSpPr>
        <p:spPr>
          <a:xfrm>
            <a:off x="6025896" y="182880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nim3_240"/>
          <p:cNvSpPr txBox="1"/>
          <p:nvPr/>
        </p:nvSpPr>
        <p:spPr>
          <a:xfrm>
            <a:off x="6190488" y="19385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C155</a:t>
            </a:r>
            <a:endParaRPr lang="en-US" sz="2700" dirty="0"/>
          </a:p>
        </p:txBody>
      </p:sp>
      <p:sp>
        <p:nvSpPr>
          <p:cNvPr id="18" name="anim3_241"/>
          <p:cNvSpPr txBox="1"/>
          <p:nvPr/>
        </p:nvSpPr>
        <p:spPr>
          <a:xfrm>
            <a:off x="7488936" y="1984248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1981</a:t>
            </a:r>
            <a:endParaRPr lang="en-US" sz="1400" dirty="0"/>
          </a:p>
        </p:txBody>
      </p:sp>
      <p:sp>
        <p:nvSpPr>
          <p:cNvPr id="19" name="anim3_242"/>
          <p:cNvSpPr txBox="1"/>
          <p:nvPr/>
        </p:nvSpPr>
        <p:spPr>
          <a:xfrm>
            <a:off x="6190488" y="24688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y salud en el trabajo</a:t>
            </a:r>
            <a:endParaRPr lang="en-US" sz="1400" dirty="0"/>
          </a:p>
        </p:txBody>
      </p:sp>
      <p:sp>
        <p:nvSpPr>
          <p:cNvPr id="20" name="anim3_243"/>
          <p:cNvSpPr/>
          <p:nvPr/>
        </p:nvSpPr>
        <p:spPr>
          <a:xfrm>
            <a:off x="6190488" y="3163824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0114F"/>
          </a:solidFill>
          <a:ln w="12700">
            <a:solidFill>
              <a:srgbClr val="E0114F"/>
            </a:solidFill>
            <a:prstDash val="solid"/>
          </a:ln>
        </p:spPr>
      </p:sp>
      <p:sp>
        <p:nvSpPr>
          <p:cNvPr id="21" name="anim3_244"/>
          <p:cNvSpPr txBox="1"/>
          <p:nvPr/>
        </p:nvSpPr>
        <p:spPr>
          <a:xfrm>
            <a:off x="6190488" y="31638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ratificado</a:t>
            </a:r>
            <a:endParaRPr lang="en-US" sz="1300" dirty="0"/>
          </a:p>
        </p:txBody>
      </p:sp>
      <p:sp>
        <p:nvSpPr>
          <p:cNvPr id="22" name="anim4_245"/>
          <p:cNvSpPr/>
          <p:nvPr/>
        </p:nvSpPr>
        <p:spPr>
          <a:xfrm>
            <a:off x="8604504" y="182880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anim4_246"/>
          <p:cNvSpPr txBox="1"/>
          <p:nvPr/>
        </p:nvSpPr>
        <p:spPr>
          <a:xfrm>
            <a:off x="8769096" y="19385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C187</a:t>
            </a:r>
            <a:endParaRPr lang="en-US" sz="2700" dirty="0"/>
          </a:p>
        </p:txBody>
      </p:sp>
      <p:sp>
        <p:nvSpPr>
          <p:cNvPr id="24" name="anim4_247"/>
          <p:cNvSpPr txBox="1"/>
          <p:nvPr/>
        </p:nvSpPr>
        <p:spPr>
          <a:xfrm>
            <a:off x="10067544" y="1984248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2006</a:t>
            </a:r>
            <a:endParaRPr lang="en-US" sz="1400" dirty="0"/>
          </a:p>
        </p:txBody>
      </p:sp>
      <p:sp>
        <p:nvSpPr>
          <p:cNvPr id="25" name="anim4_248"/>
          <p:cNvSpPr txBox="1"/>
          <p:nvPr/>
        </p:nvSpPr>
        <p:spPr>
          <a:xfrm>
            <a:off x="8769096" y="24688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Marco promocional de SST</a:t>
            </a:r>
            <a:endParaRPr lang="en-US" sz="1400" dirty="0"/>
          </a:p>
        </p:txBody>
      </p:sp>
      <p:sp>
        <p:nvSpPr>
          <p:cNvPr id="26" name="anim4_249"/>
          <p:cNvSpPr/>
          <p:nvPr/>
        </p:nvSpPr>
        <p:spPr>
          <a:xfrm>
            <a:off x="8769096" y="3163824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0114F"/>
          </a:solidFill>
          <a:ln w="12700">
            <a:solidFill>
              <a:srgbClr val="E0114F"/>
            </a:solidFill>
            <a:prstDash val="solid"/>
          </a:ln>
        </p:spPr>
      </p:sp>
      <p:sp>
        <p:nvSpPr>
          <p:cNvPr id="27" name="anim4_250"/>
          <p:cNvSpPr txBox="1"/>
          <p:nvPr/>
        </p:nvSpPr>
        <p:spPr>
          <a:xfrm>
            <a:off x="8769096" y="31638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ratificado</a:t>
            </a:r>
            <a:endParaRPr lang="en-US" sz="1300" dirty="0"/>
          </a:p>
        </p:txBody>
      </p:sp>
      <p:sp>
        <p:nvSpPr>
          <p:cNvPr id="28" name="anim5_251"/>
          <p:cNvSpPr/>
          <p:nvPr/>
        </p:nvSpPr>
        <p:spPr>
          <a:xfrm>
            <a:off x="868680" y="374904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anim5_252"/>
          <p:cNvSpPr txBox="1"/>
          <p:nvPr/>
        </p:nvSpPr>
        <p:spPr>
          <a:xfrm>
            <a:off x="1033272" y="38587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C121</a:t>
            </a:r>
            <a:endParaRPr lang="en-US" sz="2700" dirty="0"/>
          </a:p>
        </p:txBody>
      </p:sp>
      <p:sp>
        <p:nvSpPr>
          <p:cNvPr id="30" name="anim5_253"/>
          <p:cNvSpPr txBox="1"/>
          <p:nvPr/>
        </p:nvSpPr>
        <p:spPr>
          <a:xfrm>
            <a:off x="2331720" y="3904488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1964</a:t>
            </a:r>
            <a:endParaRPr lang="en-US" sz="1400" dirty="0"/>
          </a:p>
        </p:txBody>
      </p:sp>
      <p:sp>
        <p:nvSpPr>
          <p:cNvPr id="31" name="anim5_254"/>
          <p:cNvSpPr txBox="1"/>
          <p:nvPr/>
        </p:nvSpPr>
        <p:spPr>
          <a:xfrm>
            <a:off x="1033272" y="43891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Accidentes y enfermedades laborales</a:t>
            </a:r>
            <a:endParaRPr lang="en-US" sz="1400" dirty="0"/>
          </a:p>
        </p:txBody>
      </p:sp>
      <p:sp>
        <p:nvSpPr>
          <p:cNvPr id="32" name="anim5_255"/>
          <p:cNvSpPr/>
          <p:nvPr/>
        </p:nvSpPr>
        <p:spPr>
          <a:xfrm>
            <a:off x="1033272" y="5084064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0114F"/>
          </a:solidFill>
          <a:ln w="12700">
            <a:solidFill>
              <a:srgbClr val="E0114F"/>
            </a:solidFill>
            <a:prstDash val="solid"/>
          </a:ln>
        </p:spPr>
      </p:sp>
      <p:sp>
        <p:nvSpPr>
          <p:cNvPr id="33" name="anim5_256"/>
          <p:cNvSpPr txBox="1"/>
          <p:nvPr/>
        </p:nvSpPr>
        <p:spPr>
          <a:xfrm>
            <a:off x="1033272" y="50840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ratificado</a:t>
            </a:r>
            <a:endParaRPr lang="en-US" sz="1300" dirty="0"/>
          </a:p>
        </p:txBody>
      </p:sp>
      <p:sp>
        <p:nvSpPr>
          <p:cNvPr id="34" name="anim6_257"/>
          <p:cNvSpPr/>
          <p:nvPr/>
        </p:nvSpPr>
        <p:spPr>
          <a:xfrm>
            <a:off x="3447288" y="374904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anim6_258"/>
          <p:cNvSpPr txBox="1"/>
          <p:nvPr/>
        </p:nvSpPr>
        <p:spPr>
          <a:xfrm>
            <a:off x="3611880" y="38587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C81</a:t>
            </a:r>
            <a:endParaRPr lang="en-US" sz="2700" dirty="0"/>
          </a:p>
        </p:txBody>
      </p:sp>
      <p:sp>
        <p:nvSpPr>
          <p:cNvPr id="36" name="anim6_259"/>
          <p:cNvSpPr txBox="1"/>
          <p:nvPr/>
        </p:nvSpPr>
        <p:spPr>
          <a:xfrm>
            <a:off x="4910328" y="3904488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1947</a:t>
            </a:r>
            <a:endParaRPr lang="en-US" sz="1400" dirty="0"/>
          </a:p>
        </p:txBody>
      </p:sp>
      <p:sp>
        <p:nvSpPr>
          <p:cNvPr id="37" name="anim6_260"/>
          <p:cNvSpPr txBox="1"/>
          <p:nvPr/>
        </p:nvSpPr>
        <p:spPr>
          <a:xfrm>
            <a:off x="3611880" y="43891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Inspección del trabajo</a:t>
            </a:r>
            <a:endParaRPr lang="en-US" sz="1400" dirty="0"/>
          </a:p>
        </p:txBody>
      </p:sp>
      <p:sp>
        <p:nvSpPr>
          <p:cNvPr id="38" name="anim6_261"/>
          <p:cNvSpPr/>
          <p:nvPr/>
        </p:nvSpPr>
        <p:spPr>
          <a:xfrm>
            <a:off x="3611880" y="5084064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anim6_262"/>
          <p:cNvSpPr txBox="1"/>
          <p:nvPr/>
        </p:nvSpPr>
        <p:spPr>
          <a:xfrm>
            <a:off x="3611880" y="50840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Ratificado</a:t>
            </a:r>
            <a:endParaRPr lang="en-US" sz="1300" dirty="0"/>
          </a:p>
        </p:txBody>
      </p:sp>
      <p:sp>
        <p:nvSpPr>
          <p:cNvPr id="40" name="anim7_263"/>
          <p:cNvSpPr/>
          <p:nvPr/>
        </p:nvSpPr>
        <p:spPr>
          <a:xfrm>
            <a:off x="6025896" y="374904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1ECF6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anim7_264"/>
          <p:cNvSpPr txBox="1"/>
          <p:nvPr/>
        </p:nvSpPr>
        <p:spPr>
          <a:xfrm>
            <a:off x="6190488" y="38587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R183</a:t>
            </a:r>
            <a:endParaRPr lang="en-US" sz="2700" dirty="0"/>
          </a:p>
        </p:txBody>
      </p:sp>
      <p:sp>
        <p:nvSpPr>
          <p:cNvPr id="42" name="anim7_265"/>
          <p:cNvSpPr txBox="1"/>
          <p:nvPr/>
        </p:nvSpPr>
        <p:spPr>
          <a:xfrm>
            <a:off x="7488936" y="3904488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1995</a:t>
            </a:r>
            <a:endParaRPr lang="en-US" sz="1400" dirty="0"/>
          </a:p>
        </p:txBody>
      </p:sp>
      <p:sp>
        <p:nvSpPr>
          <p:cNvPr id="43" name="anim7_266"/>
          <p:cNvSpPr txBox="1"/>
          <p:nvPr/>
        </p:nvSpPr>
        <p:spPr>
          <a:xfrm>
            <a:off x="6190488" y="43891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Recomendación sobre minas</a:t>
            </a:r>
            <a:endParaRPr lang="en-US" sz="1400" dirty="0"/>
          </a:p>
        </p:txBody>
      </p:sp>
      <p:sp>
        <p:nvSpPr>
          <p:cNvPr id="44" name="anim7_267"/>
          <p:cNvSpPr/>
          <p:nvPr/>
        </p:nvSpPr>
        <p:spPr>
          <a:xfrm>
            <a:off x="6190488" y="5084064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5E5B5B"/>
          </a:solidFill>
          <a:ln w="12700">
            <a:solidFill>
              <a:srgbClr val="5E5B5B"/>
            </a:solidFill>
            <a:prstDash val="solid"/>
          </a:ln>
        </p:spPr>
      </p:sp>
      <p:sp>
        <p:nvSpPr>
          <p:cNvPr id="45" name="anim7_268"/>
          <p:cNvSpPr txBox="1"/>
          <p:nvPr/>
        </p:nvSpPr>
        <p:spPr>
          <a:xfrm>
            <a:off x="6190488" y="50840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vinculante</a:t>
            </a:r>
            <a:endParaRPr lang="en-US" sz="1300" dirty="0"/>
          </a:p>
        </p:txBody>
      </p:sp>
      <p:sp>
        <p:nvSpPr>
          <p:cNvPr id="46" name="anim8_269"/>
          <p:cNvSpPr/>
          <p:nvPr/>
        </p:nvSpPr>
        <p:spPr>
          <a:xfrm>
            <a:off x="8604504" y="374904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1ECF6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anim8_270"/>
          <p:cNvSpPr txBox="1"/>
          <p:nvPr/>
        </p:nvSpPr>
        <p:spPr>
          <a:xfrm>
            <a:off x="8769096" y="38587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R202</a:t>
            </a:r>
            <a:endParaRPr lang="en-US" sz="2700" dirty="0"/>
          </a:p>
        </p:txBody>
      </p:sp>
      <p:sp>
        <p:nvSpPr>
          <p:cNvPr id="48" name="anim8_271"/>
          <p:cNvSpPr txBox="1"/>
          <p:nvPr/>
        </p:nvSpPr>
        <p:spPr>
          <a:xfrm>
            <a:off x="10067544" y="3904488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2012</a:t>
            </a:r>
            <a:endParaRPr lang="en-US" sz="1400" dirty="0"/>
          </a:p>
        </p:txBody>
      </p:sp>
      <p:sp>
        <p:nvSpPr>
          <p:cNvPr id="49" name="anim8_272"/>
          <p:cNvSpPr txBox="1"/>
          <p:nvPr/>
        </p:nvSpPr>
        <p:spPr>
          <a:xfrm>
            <a:off x="8769096" y="43891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Pisos de protección social</a:t>
            </a:r>
            <a:endParaRPr lang="en-US" sz="1400" dirty="0"/>
          </a:p>
        </p:txBody>
      </p:sp>
      <p:sp>
        <p:nvSpPr>
          <p:cNvPr id="50" name="anim8_273"/>
          <p:cNvSpPr/>
          <p:nvPr/>
        </p:nvSpPr>
        <p:spPr>
          <a:xfrm>
            <a:off x="8769096" y="5084064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5E5B5B"/>
          </a:solidFill>
          <a:ln w="12700">
            <a:solidFill>
              <a:srgbClr val="5E5B5B"/>
            </a:solidFill>
            <a:prstDash val="solid"/>
          </a:ln>
        </p:spPr>
      </p:sp>
      <p:sp>
        <p:nvSpPr>
          <p:cNvPr id="51" name="anim8_274"/>
          <p:cNvSpPr txBox="1"/>
          <p:nvPr/>
        </p:nvSpPr>
        <p:spPr>
          <a:xfrm>
            <a:off x="8769096" y="50840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vinculante</a:t>
            </a:r>
            <a:endParaRPr lang="en-US" sz="1300" dirty="0"/>
          </a:p>
        </p:txBody>
      </p:sp>
      <p:sp>
        <p:nvSpPr>
          <p:cNvPr id="52" name="anim9_275"/>
          <p:cNvSpPr txBox="1"/>
          <p:nvPr/>
        </p:nvSpPr>
        <p:spPr>
          <a:xfrm>
            <a:off x="868680" y="565099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no ratificados sirven como criterio de interpretación (art. 93 CP).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2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6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400"/>
                            </p:stCondLst>
                            <p:childTnLst>
                              <p:par>
                                <p:cTn id="1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800"/>
                            </p:stCondLst>
                            <p:childTnLst>
                              <p:par>
                                <p:cTn id="1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200"/>
                            </p:stCondLst>
                            <p:childTnLst>
                              <p:par>
                                <p:cTn id="1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Principios que exige la OIT</a:t>
            </a:r>
            <a:endParaRPr lang="en-US" sz="3400" dirty="0"/>
          </a:p>
        </p:txBody>
      </p:sp>
      <p:sp>
        <p:nvSpPr>
          <p:cNvPr id="4" name="anim1_276"/>
          <p:cNvSpPr/>
          <p:nvPr/>
        </p:nvSpPr>
        <p:spPr>
          <a:xfrm>
            <a:off x="868680" y="1828800"/>
            <a:ext cx="868680" cy="868680"/>
          </a:xfrm>
          <a:prstGeom prst="ellipse">
            <a:avLst/>
          </a:prstGeom>
          <a:solidFill>
            <a:srgbClr val="E0114F"/>
          </a:solidFill>
          <a:ln w="12700">
            <a:solidFill>
              <a:srgbClr val="E0114F"/>
            </a:solidFill>
            <a:prstDash val="solid"/>
          </a:ln>
        </p:spPr>
      </p:sp>
      <p:pic>
        <p:nvPicPr>
          <p:cNvPr id="5" name="anim1_27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7" y="2054657"/>
            <a:ext cx="416966" cy="416966"/>
          </a:xfrm>
          <a:prstGeom prst="rect">
            <a:avLst/>
          </a:prstGeom>
        </p:spPr>
      </p:pic>
      <p:sp>
        <p:nvSpPr>
          <p:cNvPr id="6" name="anim1_278"/>
          <p:cNvSpPr txBox="1"/>
          <p:nvPr/>
        </p:nvSpPr>
        <p:spPr>
          <a:xfrm>
            <a:off x="1920240" y="18288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Suficiencia</a:t>
            </a:r>
            <a:endParaRPr lang="en-US" sz="2000" dirty="0"/>
          </a:p>
        </p:txBody>
      </p:sp>
      <p:sp>
        <p:nvSpPr>
          <p:cNvPr id="7" name="anim1_279"/>
          <p:cNvSpPr txBox="1"/>
          <p:nvPr/>
        </p:nvSpPr>
        <p:spPr>
          <a:xfrm>
            <a:off x="4434840" y="18288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Prestaciones para una vida digna</a:t>
            </a:r>
            <a:endParaRPr lang="en-US" sz="1600" dirty="0"/>
          </a:p>
        </p:txBody>
      </p:sp>
      <p:sp>
        <p:nvSpPr>
          <p:cNvPr id="8" name="anim2_280"/>
          <p:cNvSpPr/>
          <p:nvPr/>
        </p:nvSpPr>
        <p:spPr>
          <a:xfrm>
            <a:off x="868680" y="2880360"/>
            <a:ext cx="868680" cy="86868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9" name="anim2_28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7" y="3106217"/>
            <a:ext cx="416966" cy="416966"/>
          </a:xfrm>
          <a:prstGeom prst="rect">
            <a:avLst/>
          </a:prstGeom>
        </p:spPr>
      </p:pic>
      <p:sp>
        <p:nvSpPr>
          <p:cNvPr id="10" name="anim2_282"/>
          <p:cNvSpPr txBox="1"/>
          <p:nvPr/>
        </p:nvSpPr>
        <p:spPr>
          <a:xfrm>
            <a:off x="1920240" y="28803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Universalidad</a:t>
            </a:r>
            <a:endParaRPr lang="en-US" sz="2000" dirty="0"/>
          </a:p>
        </p:txBody>
      </p:sp>
      <p:sp>
        <p:nvSpPr>
          <p:cNvPr id="11" name="anim2_283"/>
          <p:cNvSpPr txBox="1"/>
          <p:nvPr/>
        </p:nvSpPr>
        <p:spPr>
          <a:xfrm>
            <a:off x="4434840" y="28803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Proteger a todo minero expuesto, incluso informal</a:t>
            </a:r>
            <a:endParaRPr lang="en-US" sz="1600" dirty="0"/>
          </a:p>
        </p:txBody>
      </p:sp>
      <p:sp>
        <p:nvSpPr>
          <p:cNvPr id="12" name="anim3_284"/>
          <p:cNvSpPr/>
          <p:nvPr/>
        </p:nvSpPr>
        <p:spPr>
          <a:xfrm>
            <a:off x="868680" y="3931920"/>
            <a:ext cx="868680" cy="86868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3" name="anim3_28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37" y="4157777"/>
            <a:ext cx="416966" cy="416966"/>
          </a:xfrm>
          <a:prstGeom prst="rect">
            <a:avLst/>
          </a:prstGeom>
        </p:spPr>
      </p:pic>
      <p:sp>
        <p:nvSpPr>
          <p:cNvPr id="14" name="anim3_286"/>
          <p:cNvSpPr txBox="1"/>
          <p:nvPr/>
        </p:nvSpPr>
        <p:spPr>
          <a:xfrm>
            <a:off x="1920240" y="39319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Equidad</a:t>
            </a:r>
            <a:endParaRPr lang="en-US" sz="2000" dirty="0"/>
          </a:p>
        </p:txBody>
      </p:sp>
      <p:sp>
        <p:nvSpPr>
          <p:cNvPr id="15" name="anim3_287"/>
          <p:cNvSpPr txBox="1"/>
          <p:nvPr/>
        </p:nvSpPr>
        <p:spPr>
          <a:xfrm>
            <a:off x="4434840" y="3931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Compensar el desgaste prematuro</a:t>
            </a:r>
            <a:endParaRPr lang="en-US" sz="1600" dirty="0"/>
          </a:p>
        </p:txBody>
      </p:sp>
      <p:sp>
        <p:nvSpPr>
          <p:cNvPr id="16" name="anim4_288"/>
          <p:cNvSpPr/>
          <p:nvPr/>
        </p:nvSpPr>
        <p:spPr>
          <a:xfrm>
            <a:off x="868680" y="4983480"/>
            <a:ext cx="868680" cy="86868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7" name="anim4_28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537" y="5209337"/>
            <a:ext cx="416966" cy="416966"/>
          </a:xfrm>
          <a:prstGeom prst="rect">
            <a:avLst/>
          </a:prstGeom>
        </p:spPr>
      </p:pic>
      <p:sp>
        <p:nvSpPr>
          <p:cNvPr id="18" name="anim4_290"/>
          <p:cNvSpPr txBox="1"/>
          <p:nvPr/>
        </p:nvSpPr>
        <p:spPr>
          <a:xfrm>
            <a:off x="1920240" y="49834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Efectividad</a:t>
            </a:r>
            <a:endParaRPr lang="en-US" sz="2000" dirty="0"/>
          </a:p>
        </p:txBody>
      </p:sp>
      <p:sp>
        <p:nvSpPr>
          <p:cNvPr id="19" name="anim4_291"/>
          <p:cNvSpPr txBox="1"/>
          <p:nvPr/>
        </p:nvSpPr>
        <p:spPr>
          <a:xfrm>
            <a:off x="4434840" y="4983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 la norma produzca efectos reales</a:t>
            </a:r>
            <a:endParaRPr lang="en-US" sz="1600" dirty="0"/>
          </a:p>
        </p:txBody>
      </p:sp>
      <p:sp>
        <p:nvSpPr>
          <p:cNvPr id="20" name="anim5_292"/>
          <p:cNvSpPr/>
          <p:nvPr/>
        </p:nvSpPr>
        <p:spPr>
          <a:xfrm>
            <a:off x="8275320" y="1828800"/>
            <a:ext cx="2834640" cy="4069080"/>
          </a:xfrm>
          <a:prstGeom prst="roundRect">
            <a:avLst>
              <a:gd name="adj" fmla="val 3871"/>
            </a:avLst>
          </a:prstGeom>
          <a:solidFill>
            <a:srgbClr val="F7EEF3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nim5_293"/>
          <p:cNvSpPr/>
          <p:nvPr/>
        </p:nvSpPr>
        <p:spPr>
          <a:xfrm>
            <a:off x="9281160" y="2011680"/>
            <a:ext cx="822960" cy="822960"/>
          </a:xfrm>
          <a:prstGeom prst="ellipse">
            <a:avLst/>
          </a:prstGeom>
          <a:solidFill>
            <a:srgbClr val="E0114F"/>
          </a:solidFill>
          <a:ln w="12700">
            <a:solidFill>
              <a:srgbClr val="E0114F"/>
            </a:solidFill>
            <a:prstDash val="solid"/>
          </a:ln>
        </p:spPr>
      </p:sp>
      <p:pic>
        <p:nvPicPr>
          <p:cNvPr id="22" name="anim5_29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5130" y="2225650"/>
            <a:ext cx="395021" cy="395021"/>
          </a:xfrm>
          <a:prstGeom prst="rect">
            <a:avLst/>
          </a:prstGeom>
        </p:spPr>
      </p:pic>
      <p:sp>
        <p:nvSpPr>
          <p:cNvPr id="23" name="anim5_295"/>
          <p:cNvSpPr txBox="1"/>
          <p:nvPr/>
        </p:nvSpPr>
        <p:spPr>
          <a:xfrm>
            <a:off x="836676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11–37 %</a:t>
            </a:r>
            <a:endParaRPr lang="en-US" sz="2800" dirty="0"/>
          </a:p>
        </p:txBody>
      </p:sp>
      <p:sp>
        <p:nvSpPr>
          <p:cNvPr id="24" name="anim5_296"/>
          <p:cNvSpPr txBox="1"/>
          <p:nvPr/>
        </p:nvSpPr>
        <p:spPr>
          <a:xfrm>
            <a:off x="8458200" y="3429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silicosis y TB en minería artesanal</a:t>
            </a:r>
            <a:endParaRPr lang="en-US" sz="1500" dirty="0"/>
          </a:p>
        </p:txBody>
      </p:sp>
      <p:sp>
        <p:nvSpPr>
          <p:cNvPr id="25" name="anim6_297"/>
          <p:cNvSpPr txBox="1"/>
          <p:nvPr/>
        </p:nvSpPr>
        <p:spPr>
          <a:xfrm>
            <a:off x="8366760" y="4297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67,5 µg/l</a:t>
            </a:r>
            <a:endParaRPr lang="en-US" sz="2600" dirty="0"/>
          </a:p>
        </p:txBody>
      </p:sp>
      <p:sp>
        <p:nvSpPr>
          <p:cNvPr id="26" name="anim6_298"/>
          <p:cNvSpPr txBox="1"/>
          <p:nvPr/>
        </p:nvSpPr>
        <p:spPr>
          <a:xfrm>
            <a:off x="8458200" y="4846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mercurio en sangre, sobre el límite OMS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1_299"/>
          <p:cNvSpPr txBox="1"/>
          <p:nvPr/>
        </p:nvSpPr>
        <p:spPr>
          <a:xfrm>
            <a:off x="868680" y="155448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anim2_300"/>
          <p:cNvSpPr txBox="1"/>
          <p:nvPr/>
        </p:nvSpPr>
        <p:spPr>
          <a:xfrm>
            <a:off x="4754880" y="2103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7E469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</a:t>
            </a:r>
            <a:endParaRPr lang="en-US" sz="1800" dirty="0"/>
          </a:p>
        </p:txBody>
      </p:sp>
      <p:sp>
        <p:nvSpPr>
          <p:cNvPr id="4" name="anim2_301"/>
          <p:cNvSpPr txBox="1"/>
          <p:nvPr/>
        </p:nvSpPr>
        <p:spPr>
          <a:xfrm>
            <a:off x="4754880" y="25603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Análisis de convencionalidad</a:t>
            </a:r>
            <a:endParaRPr lang="en-US" sz="3400" dirty="0"/>
          </a:p>
        </p:txBody>
      </p:sp>
      <p:sp>
        <p:nvSpPr>
          <p:cNvPr id="5" name="anim3_302"/>
          <p:cNvSpPr txBox="1"/>
          <p:nvPr/>
        </p:nvSpPr>
        <p:spPr>
          <a:xfrm>
            <a:off x="4754880" y="402336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Nivel de armonización, brechas y experiencias comparadas.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Nivel de armonización con la OIT</a:t>
            </a:r>
            <a:endParaRPr lang="en-US" sz="3400" dirty="0"/>
          </a:p>
        </p:txBody>
      </p:sp>
      <p:graphicFrame>
        <p:nvGraphicFramePr>
          <p:cNvPr id="18" name="anim1_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325880"/>
                <a:gridCol w="384048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Estándar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46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Nivel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46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Brecha principal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469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C176 Minas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11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Baja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Solo socavón; sin derecho de retiro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R183 Minas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11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Baja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Criterios técnicos no incorporados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R202 Pisos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11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Baja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Sin piso para mineros informales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C102 Seg. social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82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Media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Sin cobertura universal ni suficiencia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C155 SST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82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Media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SG-SST sin articulación institucional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C187 Marco SST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82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Media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Sin plan nacional de SST minera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C121 Prestaciones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82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Media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Calificación restrictiva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C81 Inspección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Alta formal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83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Pocos inspectores especializados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anim2_chart" descr=""/>
          <p:cNvGraphicFramePr/>
          <p:nvPr/>
        </p:nvGraphicFramePr>
        <p:xfrm>
          <a:off x="8321040" y="1783080"/>
          <a:ext cx="2834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anim3_303"/>
          <p:cNvSpPr txBox="1"/>
          <p:nvPr/>
        </p:nvSpPr>
        <p:spPr>
          <a:xfrm>
            <a:off x="8321040" y="49834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11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Ninguno logra armonización material alta.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Brechas por criterio</a:t>
            </a:r>
            <a:endParaRPr lang="en-US" sz="3400" dirty="0"/>
          </a:p>
        </p:txBody>
      </p:sp>
      <p:sp>
        <p:nvSpPr>
          <p:cNvPr id="4" name="anim1_304"/>
          <p:cNvSpPr/>
          <p:nvPr/>
        </p:nvSpPr>
        <p:spPr>
          <a:xfrm>
            <a:off x="868680" y="1828800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im1_305"/>
          <p:cNvSpPr/>
          <p:nvPr/>
        </p:nvSpPr>
        <p:spPr>
          <a:xfrm>
            <a:off x="1069848" y="2011680"/>
            <a:ext cx="658368" cy="658368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6" name="anim1_30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24" y="2182856"/>
            <a:ext cx="316017" cy="316017"/>
          </a:xfrm>
          <a:prstGeom prst="rect">
            <a:avLst/>
          </a:prstGeom>
        </p:spPr>
      </p:pic>
      <p:sp>
        <p:nvSpPr>
          <p:cNvPr id="7" name="anim1_307"/>
          <p:cNvSpPr txBox="1"/>
          <p:nvPr/>
        </p:nvSpPr>
        <p:spPr>
          <a:xfrm>
            <a:off x="1874520" y="20116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Cobertura</a:t>
            </a:r>
            <a:endParaRPr lang="en-US" sz="2000" dirty="0"/>
          </a:p>
        </p:txBody>
      </p:sp>
      <p:sp>
        <p:nvSpPr>
          <p:cNvPr id="8" name="anim1_308"/>
          <p:cNvSpPr txBox="1"/>
          <p:nvPr/>
        </p:nvSpPr>
        <p:spPr>
          <a:xfrm>
            <a:off x="3611880" y="19842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~70 %</a:t>
            </a:r>
            <a:endParaRPr lang="en-US" sz="2800" dirty="0"/>
          </a:p>
        </p:txBody>
      </p:sp>
      <p:sp>
        <p:nvSpPr>
          <p:cNvPr id="9" name="anim1_309"/>
          <p:cNvSpPr txBox="1"/>
          <p:nvPr/>
        </p:nvSpPr>
        <p:spPr>
          <a:xfrm>
            <a:off x="1097280" y="281635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la minería es informal: sin riesgos laborales ni pensión.</a:t>
            </a:r>
            <a:endParaRPr lang="en-US" sz="1600" dirty="0"/>
          </a:p>
        </p:txBody>
      </p:sp>
      <p:sp>
        <p:nvSpPr>
          <p:cNvPr id="10" name="anim2_310"/>
          <p:cNvSpPr/>
          <p:nvPr/>
        </p:nvSpPr>
        <p:spPr>
          <a:xfrm>
            <a:off x="6035040" y="1828800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nim2_311"/>
          <p:cNvSpPr/>
          <p:nvPr/>
        </p:nvSpPr>
        <p:spPr>
          <a:xfrm>
            <a:off x="6236208" y="2011680"/>
            <a:ext cx="658368" cy="658368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2" name="anim2_3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384" y="2182856"/>
            <a:ext cx="316017" cy="316017"/>
          </a:xfrm>
          <a:prstGeom prst="rect">
            <a:avLst/>
          </a:prstGeom>
        </p:spPr>
      </p:pic>
      <p:sp>
        <p:nvSpPr>
          <p:cNvPr id="13" name="anim2_313"/>
          <p:cNvSpPr txBox="1"/>
          <p:nvPr/>
        </p:nvSpPr>
        <p:spPr>
          <a:xfrm>
            <a:off x="7040880" y="20116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Acceso</a:t>
            </a:r>
            <a:endParaRPr lang="en-US" sz="2000" dirty="0"/>
          </a:p>
        </p:txBody>
      </p:sp>
      <p:sp>
        <p:nvSpPr>
          <p:cNvPr id="14" name="anim2_314"/>
          <p:cNvSpPr txBox="1"/>
          <p:nvPr/>
        </p:nvSpPr>
        <p:spPr>
          <a:xfrm>
            <a:off x="8778240" y="19842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700</a:t>
            </a:r>
            <a:endParaRPr lang="en-US" sz="2800" dirty="0"/>
          </a:p>
        </p:txBody>
      </p:sp>
      <p:sp>
        <p:nvSpPr>
          <p:cNvPr id="15" name="anim2_315"/>
          <p:cNvSpPr txBox="1"/>
          <p:nvPr/>
        </p:nvSpPr>
        <p:spPr>
          <a:xfrm>
            <a:off x="6263640" y="281635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semanas difíciles de probar; las ARL alegan falta de afiliación.</a:t>
            </a:r>
            <a:endParaRPr lang="en-US" sz="1600" dirty="0"/>
          </a:p>
        </p:txBody>
      </p:sp>
      <p:sp>
        <p:nvSpPr>
          <p:cNvPr id="16" name="anim3_316"/>
          <p:cNvSpPr/>
          <p:nvPr/>
        </p:nvSpPr>
        <p:spPr>
          <a:xfrm>
            <a:off x="868680" y="3904488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nim3_317"/>
          <p:cNvSpPr/>
          <p:nvPr/>
        </p:nvSpPr>
        <p:spPr>
          <a:xfrm>
            <a:off x="1069848" y="4087368"/>
            <a:ext cx="658368" cy="658368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8" name="anim3_3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024" y="4258544"/>
            <a:ext cx="316017" cy="316017"/>
          </a:xfrm>
          <a:prstGeom prst="rect">
            <a:avLst/>
          </a:prstGeom>
        </p:spPr>
      </p:pic>
      <p:sp>
        <p:nvSpPr>
          <p:cNvPr id="19" name="anim3_319"/>
          <p:cNvSpPr txBox="1"/>
          <p:nvPr/>
        </p:nvSpPr>
        <p:spPr>
          <a:xfrm>
            <a:off x="1874520" y="40873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Suficiencia</a:t>
            </a:r>
            <a:endParaRPr lang="en-US" sz="2000" dirty="0"/>
          </a:p>
        </p:txBody>
      </p:sp>
      <p:sp>
        <p:nvSpPr>
          <p:cNvPr id="20" name="anim3_320"/>
          <p:cNvSpPr txBox="1"/>
          <p:nvPr/>
        </p:nvSpPr>
        <p:spPr>
          <a:xfrm>
            <a:off x="3611880" y="405993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50–75 %</a:t>
            </a:r>
            <a:endParaRPr lang="en-US" sz="2800" dirty="0"/>
          </a:p>
        </p:txBody>
      </p:sp>
      <p:sp>
        <p:nvSpPr>
          <p:cNvPr id="21" name="anim3_321"/>
          <p:cNvSpPr txBox="1"/>
          <p:nvPr/>
        </p:nvSpPr>
        <p:spPr>
          <a:xfrm>
            <a:off x="1097280" y="48920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 salario en incapacidades: montos bajos para las familias.</a:t>
            </a:r>
            <a:endParaRPr lang="en-US" sz="1600" dirty="0"/>
          </a:p>
        </p:txBody>
      </p:sp>
      <p:sp>
        <p:nvSpPr>
          <p:cNvPr id="22" name="anim4_322"/>
          <p:cNvSpPr/>
          <p:nvPr/>
        </p:nvSpPr>
        <p:spPr>
          <a:xfrm>
            <a:off x="6035040" y="3904488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anim4_323"/>
          <p:cNvSpPr/>
          <p:nvPr/>
        </p:nvSpPr>
        <p:spPr>
          <a:xfrm>
            <a:off x="6236208" y="4087368"/>
            <a:ext cx="658368" cy="658368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24" name="anim4_32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384" y="4258544"/>
            <a:ext cx="316017" cy="316017"/>
          </a:xfrm>
          <a:prstGeom prst="rect">
            <a:avLst/>
          </a:prstGeom>
        </p:spPr>
      </p:pic>
      <p:sp>
        <p:nvSpPr>
          <p:cNvPr id="25" name="anim4_325"/>
          <p:cNvSpPr txBox="1"/>
          <p:nvPr/>
        </p:nvSpPr>
        <p:spPr>
          <a:xfrm>
            <a:off x="7040880" y="40873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Equidad</a:t>
            </a:r>
            <a:endParaRPr lang="en-US" sz="2000" dirty="0"/>
          </a:p>
        </p:txBody>
      </p:sp>
      <p:sp>
        <p:nvSpPr>
          <p:cNvPr id="26" name="anim4_326"/>
          <p:cNvSpPr txBox="1"/>
          <p:nvPr/>
        </p:nvSpPr>
        <p:spPr>
          <a:xfrm>
            <a:off x="8778240" y="405993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Socavón</a:t>
            </a:r>
            <a:endParaRPr lang="en-US" sz="2800" dirty="0"/>
          </a:p>
        </p:txBody>
      </p:sp>
      <p:sp>
        <p:nvSpPr>
          <p:cNvPr id="27" name="anim4_327"/>
          <p:cNvSpPr txBox="1"/>
          <p:nvPr/>
        </p:nvSpPr>
        <p:spPr>
          <a:xfrm>
            <a:off x="6263640" y="48920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solamente: el cielo abierto y los nuevos mineros quedan fuera.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2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Problemáticas de aplicación</a:t>
            </a:r>
            <a:endParaRPr lang="en-US" sz="3400" dirty="0"/>
          </a:p>
        </p:txBody>
      </p:sp>
      <p:sp>
        <p:nvSpPr>
          <p:cNvPr id="4" name="anim1_328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5" name="anim1_32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122322"/>
            <a:ext cx="373075" cy="373075"/>
          </a:xfrm>
          <a:prstGeom prst="rect">
            <a:avLst/>
          </a:prstGeom>
        </p:spPr>
      </p:pic>
      <p:sp>
        <p:nvSpPr>
          <p:cNvPr id="6" name="anim1_330"/>
          <p:cNvSpPr txBox="1"/>
          <p:nvPr/>
        </p:nvSpPr>
        <p:spPr>
          <a:xfrm>
            <a:off x="1874520" y="18288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Después de 2024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reglas para quienes ingresen desde 2025</a:t>
            </a:r>
            <a:endParaRPr lang="en-US" sz="1900" dirty="0"/>
          </a:p>
        </p:txBody>
      </p:sp>
      <p:sp>
        <p:nvSpPr>
          <p:cNvPr id="7" name="anim2_331"/>
          <p:cNvSpPr/>
          <p:nvPr/>
        </p:nvSpPr>
        <p:spPr>
          <a:xfrm>
            <a:off x="6035040" y="1920240"/>
            <a:ext cx="777240" cy="77724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8" name="anim2_3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122" y="2122322"/>
            <a:ext cx="373075" cy="373075"/>
          </a:xfrm>
          <a:prstGeom prst="rect">
            <a:avLst/>
          </a:prstGeom>
        </p:spPr>
      </p:pic>
      <p:sp>
        <p:nvSpPr>
          <p:cNvPr id="9" name="anim2_333"/>
          <p:cNvSpPr txBox="1"/>
          <p:nvPr/>
        </p:nvSpPr>
        <p:spPr>
          <a:xfrm>
            <a:off x="7040880" y="18288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Afiliados al RAIS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beneficio solo existe en el régimen público</a:t>
            </a:r>
            <a:endParaRPr lang="en-US" sz="1900" dirty="0"/>
          </a:p>
        </p:txBody>
      </p:sp>
      <p:sp>
        <p:nvSpPr>
          <p:cNvPr id="10" name="anim3_334"/>
          <p:cNvSpPr/>
          <p:nvPr/>
        </p:nvSpPr>
        <p:spPr>
          <a:xfrm>
            <a:off x="868680" y="3291840"/>
            <a:ext cx="777240" cy="77724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1" name="anim3_33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3493922"/>
            <a:ext cx="373075" cy="373075"/>
          </a:xfrm>
          <a:prstGeom prst="rect">
            <a:avLst/>
          </a:prstGeom>
        </p:spPr>
      </p:pic>
      <p:sp>
        <p:nvSpPr>
          <p:cNvPr id="12" name="anim3_336"/>
          <p:cNvSpPr txBox="1"/>
          <p:nvPr/>
        </p:nvSpPr>
        <p:spPr>
          <a:xfrm>
            <a:off x="187452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Barreras probatorias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Certificados ausentes y aportes no pagados</a:t>
            </a:r>
            <a:endParaRPr lang="en-US" sz="1900" dirty="0"/>
          </a:p>
        </p:txBody>
      </p:sp>
      <p:sp>
        <p:nvSpPr>
          <p:cNvPr id="13" name="anim4_337"/>
          <p:cNvSpPr/>
          <p:nvPr/>
        </p:nvSpPr>
        <p:spPr>
          <a:xfrm>
            <a:off x="6035040" y="3291840"/>
            <a:ext cx="777240" cy="77724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4" name="anim4_33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122" y="3493922"/>
            <a:ext cx="373075" cy="373075"/>
          </a:xfrm>
          <a:prstGeom prst="rect">
            <a:avLst/>
          </a:prstGeom>
        </p:spPr>
      </p:pic>
      <p:sp>
        <p:nvSpPr>
          <p:cNvPr id="15" name="anim4_339"/>
          <p:cNvSpPr txBox="1"/>
          <p:nvPr/>
        </p:nvSpPr>
        <p:spPr>
          <a:xfrm>
            <a:off x="704088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Larga latencia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Silicosis y EPOC sin presunción laboral</a:t>
            </a:r>
            <a:endParaRPr lang="en-US" sz="1900" dirty="0"/>
          </a:p>
        </p:txBody>
      </p:sp>
      <p:sp>
        <p:nvSpPr>
          <p:cNvPr id="16" name="anim5_340"/>
          <p:cNvSpPr/>
          <p:nvPr/>
        </p:nvSpPr>
        <p:spPr>
          <a:xfrm>
            <a:off x="868680" y="4663440"/>
            <a:ext cx="777240" cy="77724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7" name="anim5_34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762" y="4865522"/>
            <a:ext cx="373075" cy="373075"/>
          </a:xfrm>
          <a:prstGeom prst="rect">
            <a:avLst/>
          </a:prstGeom>
        </p:spPr>
      </p:pic>
      <p:sp>
        <p:nvSpPr>
          <p:cNvPr id="18" name="anim5_342"/>
          <p:cNvSpPr txBox="1"/>
          <p:nvPr/>
        </p:nvSpPr>
        <p:spPr>
          <a:xfrm>
            <a:off x="1874520" y="45720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Fragmentación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MinTrabajo, ANM, ARL y EPS sin coordinación</a:t>
            </a:r>
            <a:endParaRPr lang="en-US" sz="1900" dirty="0"/>
          </a:p>
        </p:txBody>
      </p:sp>
      <p:sp>
        <p:nvSpPr>
          <p:cNvPr id="19" name="anim6_343"/>
          <p:cNvSpPr/>
          <p:nvPr/>
        </p:nvSpPr>
        <p:spPr>
          <a:xfrm>
            <a:off x="6035040" y="4663440"/>
            <a:ext cx="777240" cy="77724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20" name="anim6_34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7122" y="4865522"/>
            <a:ext cx="373075" cy="373075"/>
          </a:xfrm>
          <a:prstGeom prst="rect">
            <a:avLst/>
          </a:prstGeom>
        </p:spPr>
      </p:pic>
      <p:sp>
        <p:nvSpPr>
          <p:cNvPr id="21" name="anim6_345"/>
          <p:cNvSpPr txBox="1"/>
          <p:nvPr/>
        </p:nvSpPr>
        <p:spPr>
          <a:xfrm>
            <a:off x="7040880" y="45720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Inspección débil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Pocos inspectores; visitas solo tras accidentes</a:t>
            </a:r>
            <a:endParaRPr lang="en-US" sz="1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Experiencias comparadas</a:t>
            </a:r>
            <a:endParaRPr lang="en-US" sz="3400" dirty="0"/>
          </a:p>
        </p:txBody>
      </p:sp>
      <p:sp>
        <p:nvSpPr>
          <p:cNvPr id="4" name="anim1_346"/>
          <p:cNvSpPr/>
          <p:nvPr/>
        </p:nvSpPr>
        <p:spPr>
          <a:xfrm>
            <a:off x="868680" y="1828800"/>
            <a:ext cx="3246120" cy="41148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im1_347"/>
          <p:cNvSpPr txBox="1"/>
          <p:nvPr/>
        </p:nvSpPr>
        <p:spPr>
          <a:xfrm>
            <a:off x="1097280" y="19385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Chile</a:t>
            </a:r>
            <a:endParaRPr lang="en-US" sz="2400" dirty="0"/>
          </a:p>
        </p:txBody>
      </p:sp>
      <p:sp>
        <p:nvSpPr>
          <p:cNvPr id="6" name="anim1_348"/>
          <p:cNvSpPr txBox="1"/>
          <p:nvPr/>
        </p:nvSpPr>
        <p:spPr>
          <a:xfrm>
            <a:off x="1097280" y="2441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C176 ratificado: 2023</a:t>
            </a:r>
            <a:endParaRPr lang="en-US" sz="1400" dirty="0"/>
          </a:p>
        </p:txBody>
      </p:sp>
      <p:sp>
        <p:nvSpPr>
          <p:cNvPr id="7" name="anim1_349"/>
          <p:cNvSpPr txBox="1"/>
          <p:nvPr/>
        </p:nvSpPr>
        <p:spPr>
          <a:xfrm>
            <a:off x="1097280" y="288036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Ley 16.744: cobertura universal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Muertes: 45 (2010) → 14 (2019)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Comités paritarios</a:t>
            </a:r>
            <a:endParaRPr lang="en-US" sz="1600" dirty="0"/>
          </a:p>
        </p:txBody>
      </p:sp>
      <p:sp>
        <p:nvSpPr>
          <p:cNvPr id="8" name="anim1_350"/>
          <p:cNvSpPr/>
          <p:nvPr/>
        </p:nvSpPr>
        <p:spPr>
          <a:xfrm>
            <a:off x="1033272" y="4892040"/>
            <a:ext cx="2916936" cy="896112"/>
          </a:xfrm>
          <a:prstGeom prst="roundRect">
            <a:avLst>
              <a:gd name="adj" fmla="val 8163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9" name="anim1_351"/>
          <p:cNvSpPr txBox="1"/>
          <p:nvPr/>
        </p:nvSpPr>
        <p:spPr>
          <a:xfrm>
            <a:off x="1143000" y="4919472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21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Lección: </a:t>
            </a:r>
            <a:pPr indent="0" marL="0">
              <a:buNone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institucionalidad técnica</a:t>
            </a:r>
            <a:endParaRPr lang="en-US" sz="1600" dirty="0"/>
          </a:p>
        </p:txBody>
      </p:sp>
      <p:sp>
        <p:nvSpPr>
          <p:cNvPr id="10" name="anim2_352"/>
          <p:cNvSpPr/>
          <p:nvPr/>
        </p:nvSpPr>
        <p:spPr>
          <a:xfrm>
            <a:off x="4343400" y="1828800"/>
            <a:ext cx="3246120" cy="41148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nim2_353"/>
          <p:cNvSpPr txBox="1"/>
          <p:nvPr/>
        </p:nvSpPr>
        <p:spPr>
          <a:xfrm>
            <a:off x="4572000" y="19385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216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Perú</a:t>
            </a:r>
            <a:endParaRPr lang="en-US" sz="2400" dirty="0"/>
          </a:p>
        </p:txBody>
      </p:sp>
      <p:sp>
        <p:nvSpPr>
          <p:cNvPr id="12" name="anim2_354"/>
          <p:cNvSpPr txBox="1"/>
          <p:nvPr/>
        </p:nvSpPr>
        <p:spPr>
          <a:xfrm>
            <a:off x="4572000" y="2441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C176 ratificado: 2008</a:t>
            </a:r>
            <a:endParaRPr lang="en-US" sz="1400" dirty="0"/>
          </a:p>
        </p:txBody>
      </p:sp>
      <p:sp>
        <p:nvSpPr>
          <p:cNvPr id="13" name="anim2_355"/>
          <p:cNvSpPr txBox="1"/>
          <p:nvPr/>
        </p:nvSpPr>
        <p:spPr>
          <a:xfrm>
            <a:off x="4572000" y="288036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Política nacional de SST minera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Inspección obligatoria de minas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Nacional (2020)</a:t>
            </a:r>
            <a:endParaRPr lang="en-US" sz="1600" dirty="0"/>
          </a:p>
        </p:txBody>
      </p:sp>
      <p:sp>
        <p:nvSpPr>
          <p:cNvPr id="14" name="anim2_356"/>
          <p:cNvSpPr/>
          <p:nvPr/>
        </p:nvSpPr>
        <p:spPr>
          <a:xfrm>
            <a:off x="4507992" y="4892040"/>
            <a:ext cx="2916936" cy="896112"/>
          </a:xfrm>
          <a:prstGeom prst="roundRect">
            <a:avLst>
              <a:gd name="adj" fmla="val 8163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15" name="anim2_357"/>
          <p:cNvSpPr txBox="1"/>
          <p:nvPr/>
        </p:nvSpPr>
        <p:spPr>
          <a:xfrm>
            <a:off x="4617720" y="4919472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21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Lección: </a:t>
            </a:r>
            <a:pPr indent="0" marL="0">
              <a:buNone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articulación tripartita</a:t>
            </a:r>
            <a:endParaRPr lang="en-US" sz="1600" dirty="0"/>
          </a:p>
        </p:txBody>
      </p:sp>
      <p:sp>
        <p:nvSpPr>
          <p:cNvPr id="16" name="anim3_358"/>
          <p:cNvSpPr/>
          <p:nvPr/>
        </p:nvSpPr>
        <p:spPr>
          <a:xfrm>
            <a:off x="7818120" y="1828800"/>
            <a:ext cx="3246120" cy="41148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nim3_359"/>
          <p:cNvSpPr txBox="1"/>
          <p:nvPr/>
        </p:nvSpPr>
        <p:spPr>
          <a:xfrm>
            <a:off x="8046720" y="19385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Sudáfrica</a:t>
            </a:r>
            <a:endParaRPr lang="en-US" sz="2400" dirty="0"/>
          </a:p>
        </p:txBody>
      </p:sp>
      <p:sp>
        <p:nvSpPr>
          <p:cNvPr id="18" name="anim3_360"/>
          <p:cNvSpPr txBox="1"/>
          <p:nvPr/>
        </p:nvSpPr>
        <p:spPr>
          <a:xfrm>
            <a:off x="8046720" y="2441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C176 ratificado: 2000</a:t>
            </a:r>
            <a:endParaRPr lang="en-US" sz="1400" dirty="0"/>
          </a:p>
        </p:txBody>
      </p:sp>
      <p:sp>
        <p:nvSpPr>
          <p:cNvPr id="19" name="anim3_361"/>
          <p:cNvSpPr txBox="1"/>
          <p:nvPr/>
        </p:nvSpPr>
        <p:spPr>
          <a:xfrm>
            <a:off x="8046720" y="288036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Leyes ODMWA y MHSA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Fondos de silicosis y TB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100.000 exmineros compensados</a:t>
            </a:r>
            <a:endParaRPr lang="en-US" sz="1600" dirty="0"/>
          </a:p>
        </p:txBody>
      </p:sp>
      <p:sp>
        <p:nvSpPr>
          <p:cNvPr id="20" name="anim3_362"/>
          <p:cNvSpPr/>
          <p:nvPr/>
        </p:nvSpPr>
        <p:spPr>
          <a:xfrm>
            <a:off x="7982712" y="4892040"/>
            <a:ext cx="2916936" cy="896112"/>
          </a:xfrm>
          <a:prstGeom prst="roundRect">
            <a:avLst>
              <a:gd name="adj" fmla="val 8163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21" name="anim3_363"/>
          <p:cNvSpPr txBox="1"/>
          <p:nvPr/>
        </p:nvSpPr>
        <p:spPr>
          <a:xfrm>
            <a:off x="8092440" y="4919472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21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Lección: </a:t>
            </a:r>
            <a:pPr indent="0" marL="0">
              <a:buNone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reparar la larga latencia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Propuestas normativas</a:t>
            </a:r>
            <a:endParaRPr lang="en-US" sz="3400" dirty="0"/>
          </a:p>
        </p:txBody>
      </p:sp>
      <p:sp>
        <p:nvSpPr>
          <p:cNvPr id="4" name="anim1_364"/>
          <p:cNvSpPr/>
          <p:nvPr/>
        </p:nvSpPr>
        <p:spPr>
          <a:xfrm>
            <a:off x="868680" y="1865376"/>
            <a:ext cx="658368" cy="658368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5" name="anim1_36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56" y="2036552"/>
            <a:ext cx="316017" cy="316017"/>
          </a:xfrm>
          <a:prstGeom prst="rect">
            <a:avLst/>
          </a:prstGeom>
        </p:spPr>
      </p:pic>
      <p:sp>
        <p:nvSpPr>
          <p:cNvPr id="6" name="anim1_366"/>
          <p:cNvSpPr txBox="1"/>
          <p:nvPr/>
        </p:nvSpPr>
        <p:spPr>
          <a:xfrm>
            <a:off x="1737360" y="181051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Ratificar los convenios</a:t>
            </a:r>
            <a:endParaRPr lang="en-US" sz="1800" dirty="0"/>
          </a:p>
        </p:txBody>
      </p:sp>
      <p:sp>
        <p:nvSpPr>
          <p:cNvPr id="7" name="anim1_367"/>
          <p:cNvSpPr txBox="1"/>
          <p:nvPr/>
        </p:nvSpPr>
        <p:spPr>
          <a:xfrm>
            <a:off x="5989320" y="1810512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176, 102, 155 y 187, con mesas tripartitas</a:t>
            </a:r>
            <a:endParaRPr lang="en-US" sz="1600" dirty="0"/>
          </a:p>
        </p:txBody>
      </p:sp>
      <p:sp>
        <p:nvSpPr>
          <p:cNvPr id="8" name="anim2_368"/>
          <p:cNvSpPr/>
          <p:nvPr/>
        </p:nvSpPr>
        <p:spPr>
          <a:xfrm>
            <a:off x="868680" y="2715768"/>
            <a:ext cx="658368" cy="658368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9" name="anim2_36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56" y="2886944"/>
            <a:ext cx="316017" cy="316017"/>
          </a:xfrm>
          <a:prstGeom prst="rect">
            <a:avLst/>
          </a:prstGeom>
        </p:spPr>
      </p:pic>
      <p:sp>
        <p:nvSpPr>
          <p:cNvPr id="10" name="anim2_370"/>
          <p:cNvSpPr txBox="1"/>
          <p:nvPr/>
        </p:nvSpPr>
        <p:spPr>
          <a:xfrm>
            <a:off x="1737360" y="2660904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Reformar el Decreto 2090/2003</a:t>
            </a:r>
            <a:endParaRPr lang="en-US" sz="1800" dirty="0"/>
          </a:p>
        </p:txBody>
      </p:sp>
      <p:sp>
        <p:nvSpPr>
          <p:cNvPr id="11" name="anim2_371"/>
          <p:cNvSpPr txBox="1"/>
          <p:nvPr/>
        </p:nvSpPr>
        <p:spPr>
          <a:xfrm>
            <a:off x="5989320" y="2660904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Incluir cielo abierto, menos de 700 semanas, vigencia después de 2024</a:t>
            </a:r>
            <a:endParaRPr lang="en-US" sz="1600" dirty="0"/>
          </a:p>
        </p:txBody>
      </p:sp>
      <p:sp>
        <p:nvSpPr>
          <p:cNvPr id="12" name="anim3_372"/>
          <p:cNvSpPr/>
          <p:nvPr/>
        </p:nvSpPr>
        <p:spPr>
          <a:xfrm>
            <a:off x="868680" y="3566160"/>
            <a:ext cx="658368" cy="658368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3" name="anim3_37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856" y="3737336"/>
            <a:ext cx="316017" cy="316017"/>
          </a:xfrm>
          <a:prstGeom prst="rect">
            <a:avLst/>
          </a:prstGeom>
        </p:spPr>
      </p:pic>
      <p:sp>
        <p:nvSpPr>
          <p:cNvPr id="14" name="anim3_374"/>
          <p:cNvSpPr txBox="1"/>
          <p:nvPr/>
        </p:nvSpPr>
        <p:spPr>
          <a:xfrm>
            <a:off x="1737360" y="351129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Presunciones en el Decreto 1477/2014</a:t>
            </a:r>
            <a:endParaRPr lang="en-US" sz="1800" dirty="0"/>
          </a:p>
        </p:txBody>
      </p:sp>
      <p:sp>
        <p:nvSpPr>
          <p:cNvPr id="15" name="anim3_375"/>
          <p:cNvSpPr txBox="1"/>
          <p:nvPr/>
        </p:nvSpPr>
        <p:spPr>
          <a:xfrm>
            <a:off x="5989320" y="3511296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Origen laboral de silicosis, neumoconiosis y EPOC</a:t>
            </a:r>
            <a:endParaRPr lang="en-US" sz="1600" dirty="0"/>
          </a:p>
        </p:txBody>
      </p:sp>
      <p:sp>
        <p:nvSpPr>
          <p:cNvPr id="16" name="anim4_376"/>
          <p:cNvSpPr/>
          <p:nvPr/>
        </p:nvSpPr>
        <p:spPr>
          <a:xfrm>
            <a:off x="868680" y="4416552"/>
            <a:ext cx="658368" cy="658368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7" name="anim4_37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856" y="4587728"/>
            <a:ext cx="316017" cy="316017"/>
          </a:xfrm>
          <a:prstGeom prst="rect">
            <a:avLst/>
          </a:prstGeom>
        </p:spPr>
      </p:pic>
      <p:sp>
        <p:nvSpPr>
          <p:cNvPr id="18" name="anim4_378"/>
          <p:cNvSpPr txBox="1"/>
          <p:nvPr/>
        </p:nvSpPr>
        <p:spPr>
          <a:xfrm>
            <a:off x="1737360" y="4361688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Piso de protección minero (R202)</a:t>
            </a:r>
            <a:endParaRPr lang="en-US" sz="1800" dirty="0"/>
          </a:p>
        </p:txBody>
      </p:sp>
      <p:sp>
        <p:nvSpPr>
          <p:cNvPr id="19" name="anim4_379"/>
          <p:cNvSpPr txBox="1"/>
          <p:nvPr/>
        </p:nvSpPr>
        <p:spPr>
          <a:xfrm>
            <a:off x="5989320" y="4361688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Seguro subsidiado para mineros informales</a:t>
            </a:r>
            <a:endParaRPr lang="en-US" sz="1600" dirty="0"/>
          </a:p>
        </p:txBody>
      </p:sp>
      <p:sp>
        <p:nvSpPr>
          <p:cNvPr id="20" name="anim5_380"/>
          <p:cNvSpPr/>
          <p:nvPr/>
        </p:nvSpPr>
        <p:spPr>
          <a:xfrm>
            <a:off x="868680" y="5266944"/>
            <a:ext cx="658368" cy="658368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21" name="anim5_38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856" y="5438120"/>
            <a:ext cx="316017" cy="316017"/>
          </a:xfrm>
          <a:prstGeom prst="rect">
            <a:avLst/>
          </a:prstGeom>
        </p:spPr>
      </p:pic>
      <p:sp>
        <p:nvSpPr>
          <p:cNvPr id="22" name="anim5_382"/>
          <p:cNvSpPr txBox="1"/>
          <p:nvPr/>
        </p:nvSpPr>
        <p:spPr>
          <a:xfrm>
            <a:off x="1737360" y="5212080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Prestaciones suficientes</a:t>
            </a:r>
            <a:endParaRPr lang="en-US" sz="1800" dirty="0"/>
          </a:p>
        </p:txBody>
      </p:sp>
      <p:sp>
        <p:nvSpPr>
          <p:cNvPr id="23" name="anim5_383"/>
          <p:cNvSpPr txBox="1"/>
          <p:nvPr/>
        </p:nvSpPr>
        <p:spPr>
          <a:xfrm>
            <a:off x="5989320" y="5212080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Montos mínimos y Fondo Solidario de Protección Minera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Propuestas institucionales</a:t>
            </a:r>
            <a:endParaRPr lang="en-US" sz="3400" dirty="0"/>
          </a:p>
        </p:txBody>
      </p:sp>
      <p:sp>
        <p:nvSpPr>
          <p:cNvPr id="4" name="anim1_384"/>
          <p:cNvSpPr/>
          <p:nvPr/>
        </p:nvSpPr>
        <p:spPr>
          <a:xfrm>
            <a:off x="868680" y="1828800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im1_385"/>
          <p:cNvSpPr/>
          <p:nvPr/>
        </p:nvSpPr>
        <p:spPr>
          <a:xfrm>
            <a:off x="1097280" y="2057400"/>
            <a:ext cx="777240" cy="77724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6" name="anim1_38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362" y="2259482"/>
            <a:ext cx="373075" cy="373075"/>
          </a:xfrm>
          <a:prstGeom prst="rect">
            <a:avLst/>
          </a:prstGeom>
        </p:spPr>
      </p:pic>
      <p:sp>
        <p:nvSpPr>
          <p:cNvPr id="7" name="anim1_387"/>
          <p:cNvSpPr txBox="1"/>
          <p:nvPr/>
        </p:nvSpPr>
        <p:spPr>
          <a:xfrm>
            <a:off x="2057400" y="20116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Inspección minera especializada</a:t>
            </a:r>
            <a:endParaRPr lang="en-US" sz="1900" dirty="0"/>
          </a:p>
        </p:txBody>
      </p:sp>
      <p:sp>
        <p:nvSpPr>
          <p:cNvPr id="8" name="anim1_388"/>
          <p:cNvSpPr txBox="1"/>
          <p:nvPr/>
        </p:nvSpPr>
        <p:spPr>
          <a:xfrm>
            <a:off x="1097280" y="29260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Convenio MinTrabajo–ANM y registro público de sanciones</a:t>
            </a:r>
            <a:endParaRPr lang="en-US" sz="1600" dirty="0"/>
          </a:p>
        </p:txBody>
      </p:sp>
      <p:sp>
        <p:nvSpPr>
          <p:cNvPr id="9" name="anim2_389"/>
          <p:cNvSpPr/>
          <p:nvPr/>
        </p:nvSpPr>
        <p:spPr>
          <a:xfrm>
            <a:off x="6035040" y="1828800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nim2_390"/>
          <p:cNvSpPr/>
          <p:nvPr/>
        </p:nvSpPr>
        <p:spPr>
          <a:xfrm>
            <a:off x="6263640" y="2057400"/>
            <a:ext cx="777240" cy="77724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1" name="anim2_39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722" y="2259482"/>
            <a:ext cx="373075" cy="373075"/>
          </a:xfrm>
          <a:prstGeom prst="rect">
            <a:avLst/>
          </a:prstGeom>
        </p:spPr>
      </p:pic>
      <p:sp>
        <p:nvSpPr>
          <p:cNvPr id="12" name="anim2_392"/>
          <p:cNvSpPr txBox="1"/>
          <p:nvPr/>
        </p:nvSpPr>
        <p:spPr>
          <a:xfrm>
            <a:off x="7223760" y="20116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 ocupacional única</a:t>
            </a:r>
            <a:endParaRPr lang="en-US" sz="1900" dirty="0"/>
          </a:p>
        </p:txBody>
      </p:sp>
      <p:sp>
        <p:nvSpPr>
          <p:cNvPr id="13" name="anim2_393"/>
          <p:cNvSpPr txBox="1"/>
          <p:nvPr/>
        </p:nvSpPr>
        <p:spPr>
          <a:xfrm>
            <a:off x="6263640" y="29260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electrónico de exposición a agentes nocivos</a:t>
            </a:r>
            <a:endParaRPr lang="en-US" sz="1600" dirty="0"/>
          </a:p>
        </p:txBody>
      </p:sp>
      <p:sp>
        <p:nvSpPr>
          <p:cNvPr id="14" name="anim3_394"/>
          <p:cNvSpPr/>
          <p:nvPr/>
        </p:nvSpPr>
        <p:spPr>
          <a:xfrm>
            <a:off x="868680" y="3904488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nim3_395"/>
          <p:cNvSpPr/>
          <p:nvPr/>
        </p:nvSpPr>
        <p:spPr>
          <a:xfrm>
            <a:off x="1097280" y="4133088"/>
            <a:ext cx="777240" cy="77724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pic>
        <p:nvPicPr>
          <p:cNvPr id="16" name="anim3_39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362" y="4335170"/>
            <a:ext cx="373075" cy="373075"/>
          </a:xfrm>
          <a:prstGeom prst="rect">
            <a:avLst/>
          </a:prstGeom>
        </p:spPr>
      </p:pic>
      <p:sp>
        <p:nvSpPr>
          <p:cNvPr id="17" name="anim3_397"/>
          <p:cNvSpPr txBox="1"/>
          <p:nvPr/>
        </p:nvSpPr>
        <p:spPr>
          <a:xfrm>
            <a:off x="2057400" y="408736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Participación y derecho de retiro</a:t>
            </a:r>
            <a:endParaRPr lang="en-US" sz="1900" dirty="0"/>
          </a:p>
        </p:txBody>
      </p:sp>
      <p:sp>
        <p:nvSpPr>
          <p:cNvPr id="18" name="anim3_398"/>
          <p:cNvSpPr txBox="1"/>
          <p:nvPr/>
        </p:nvSpPr>
        <p:spPr>
          <a:xfrm>
            <a:off x="1097280" y="500176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Delegados de SST y retiro ante peligro inminente (C176)</a:t>
            </a:r>
            <a:endParaRPr lang="en-US" sz="1600" dirty="0"/>
          </a:p>
        </p:txBody>
      </p:sp>
      <p:sp>
        <p:nvSpPr>
          <p:cNvPr id="19" name="anim4_399"/>
          <p:cNvSpPr/>
          <p:nvPr/>
        </p:nvSpPr>
        <p:spPr>
          <a:xfrm>
            <a:off x="6035040" y="3904488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anim4_400"/>
          <p:cNvSpPr/>
          <p:nvPr/>
        </p:nvSpPr>
        <p:spPr>
          <a:xfrm>
            <a:off x="6263640" y="4133088"/>
            <a:ext cx="777240" cy="77724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21" name="anim4_40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722" y="4335170"/>
            <a:ext cx="373075" cy="373075"/>
          </a:xfrm>
          <a:prstGeom prst="rect">
            <a:avLst/>
          </a:prstGeom>
        </p:spPr>
      </p:pic>
      <p:sp>
        <p:nvSpPr>
          <p:cNvPr id="22" name="anim4_402"/>
          <p:cNvSpPr txBox="1"/>
          <p:nvPr/>
        </p:nvSpPr>
        <p:spPr>
          <a:xfrm>
            <a:off x="7223760" y="408736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interinstitucional</a:t>
            </a:r>
            <a:endParaRPr lang="en-US" sz="1900" dirty="0"/>
          </a:p>
        </p:txBody>
      </p:sp>
      <p:sp>
        <p:nvSpPr>
          <p:cNvPr id="23" name="anim4_403"/>
          <p:cNvSpPr txBox="1"/>
          <p:nvPr/>
        </p:nvSpPr>
        <p:spPr>
          <a:xfrm>
            <a:off x="6263640" y="500176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Cruce de datos entre ANM, MinTrabajo, UGPP, ARL y EPS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anim1_404"/>
          <p:cNvSpPr/>
          <p:nvPr/>
        </p:nvSpPr>
        <p:spPr>
          <a:xfrm>
            <a:off x="868680" y="1810512"/>
            <a:ext cx="10241280" cy="1234440"/>
          </a:xfrm>
          <a:prstGeom prst="roundRect">
            <a:avLst>
              <a:gd name="adj" fmla="val 8889"/>
            </a:avLst>
          </a:prstGeom>
          <a:solidFill>
            <a:srgbClr val="F7EEF3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im1_405"/>
          <p:cNvSpPr txBox="1"/>
          <p:nvPr/>
        </p:nvSpPr>
        <p:spPr>
          <a:xfrm>
            <a:off x="1097280" y="1856232"/>
            <a:ext cx="9784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Desarrollo formal considerable, </a:t>
            </a:r>
            <a:pPr algn="ctr" indent="0" marL="0">
              <a:buNone/>
            </a:pPr>
            <a:r>
              <a:rPr lang="en-US" sz="2700" dirty="0">
                <a:solidFill>
                  <a:srgbClr val="E011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eficacia material insuficiente.</a:t>
            </a:r>
            <a:endParaRPr lang="en-US" sz="2700" dirty="0"/>
          </a:p>
        </p:txBody>
      </p:sp>
      <p:sp>
        <p:nvSpPr>
          <p:cNvPr id="6" name="anim2_406"/>
          <p:cNvSpPr/>
          <p:nvPr/>
        </p:nvSpPr>
        <p:spPr>
          <a:xfrm>
            <a:off x="868680" y="329184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2_407"/>
          <p:cNvSpPr/>
          <p:nvPr/>
        </p:nvSpPr>
        <p:spPr>
          <a:xfrm>
            <a:off x="1069848" y="3474720"/>
            <a:ext cx="640080" cy="640080"/>
          </a:xfrm>
          <a:prstGeom prst="ellipse">
            <a:avLst/>
          </a:prstGeom>
          <a:solidFill>
            <a:srgbClr val="E0114F"/>
          </a:solidFill>
          <a:ln w="12700">
            <a:solidFill>
              <a:srgbClr val="E0114F"/>
            </a:solidFill>
            <a:prstDash val="solid"/>
          </a:ln>
        </p:spPr>
      </p:sp>
      <p:sp>
        <p:nvSpPr>
          <p:cNvPr id="8" name="anim2_408"/>
          <p:cNvSpPr txBox="1"/>
          <p:nvPr/>
        </p:nvSpPr>
        <p:spPr>
          <a:xfrm>
            <a:off x="1069848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</a:t>
            </a:r>
            <a:endParaRPr lang="en-US" sz="1700" dirty="0"/>
          </a:p>
        </p:txBody>
      </p:sp>
      <p:sp>
        <p:nvSpPr>
          <p:cNvPr id="9" name="anim2_409"/>
          <p:cNvSpPr txBox="1"/>
          <p:nvPr/>
        </p:nvSpPr>
        <p:spPr>
          <a:xfrm>
            <a:off x="182880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Régimen</a:t>
            </a:r>
            <a:endParaRPr lang="en-US" sz="1700" dirty="0"/>
          </a:p>
        </p:txBody>
      </p:sp>
      <p:sp>
        <p:nvSpPr>
          <p:cNvPr id="10" name="anim2_410"/>
          <p:cNvSpPr txBox="1"/>
          <p:nvPr/>
        </p:nvSpPr>
        <p:spPr>
          <a:xfrm>
            <a:off x="1069848" y="425196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D. 2090 solo protege la minería subterránea; el acceso depende de afiliación y prueba.</a:t>
            </a:r>
            <a:endParaRPr lang="en-US" sz="1600" dirty="0"/>
          </a:p>
        </p:txBody>
      </p:sp>
      <p:sp>
        <p:nvSpPr>
          <p:cNvPr id="11" name="anim3_411"/>
          <p:cNvSpPr/>
          <p:nvPr/>
        </p:nvSpPr>
        <p:spPr>
          <a:xfrm>
            <a:off x="4343400" y="329184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nim3_412"/>
          <p:cNvSpPr/>
          <p:nvPr/>
        </p:nvSpPr>
        <p:spPr>
          <a:xfrm>
            <a:off x="4544568" y="3474720"/>
            <a:ext cx="640080" cy="64008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sp>
        <p:nvSpPr>
          <p:cNvPr id="13" name="anim3_413"/>
          <p:cNvSpPr txBox="1"/>
          <p:nvPr/>
        </p:nvSpPr>
        <p:spPr>
          <a:xfrm>
            <a:off x="4544568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II</a:t>
            </a:r>
            <a:endParaRPr lang="en-US" sz="1700" dirty="0"/>
          </a:p>
        </p:txBody>
      </p:sp>
      <p:sp>
        <p:nvSpPr>
          <p:cNvPr id="14" name="anim3_414"/>
          <p:cNvSpPr txBox="1"/>
          <p:nvPr/>
        </p:nvSpPr>
        <p:spPr>
          <a:xfrm>
            <a:off x="530352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Estándares OIT</a:t>
            </a:r>
            <a:endParaRPr lang="en-US" sz="1700" dirty="0"/>
          </a:p>
        </p:txBody>
      </p:sp>
      <p:sp>
        <p:nvSpPr>
          <p:cNvPr id="15" name="anim3_415"/>
          <p:cNvSpPr txBox="1"/>
          <p:nvPr/>
        </p:nvSpPr>
        <p:spPr>
          <a:xfrm>
            <a:off x="4544568" y="425196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Deben leerse como un sistema: prevención, inspección, cobertura y prestaciones.</a:t>
            </a:r>
            <a:endParaRPr lang="en-US" sz="1600" dirty="0"/>
          </a:p>
        </p:txBody>
      </p:sp>
      <p:sp>
        <p:nvSpPr>
          <p:cNvPr id="16" name="anim4_416"/>
          <p:cNvSpPr/>
          <p:nvPr/>
        </p:nvSpPr>
        <p:spPr>
          <a:xfrm>
            <a:off x="7818120" y="329184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nim4_417"/>
          <p:cNvSpPr/>
          <p:nvPr/>
        </p:nvSpPr>
        <p:spPr>
          <a:xfrm>
            <a:off x="8019288" y="3474720"/>
            <a:ext cx="640080" cy="640080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sp>
        <p:nvSpPr>
          <p:cNvPr id="18" name="anim4_418"/>
          <p:cNvSpPr txBox="1"/>
          <p:nvPr/>
        </p:nvSpPr>
        <p:spPr>
          <a:xfrm>
            <a:off x="8019288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III</a:t>
            </a:r>
            <a:endParaRPr lang="en-US" sz="1700" dirty="0"/>
          </a:p>
        </p:txBody>
      </p:sp>
      <p:sp>
        <p:nvSpPr>
          <p:cNvPr id="19" name="anim4_419"/>
          <p:cNvSpPr txBox="1"/>
          <p:nvPr/>
        </p:nvSpPr>
        <p:spPr>
          <a:xfrm>
            <a:off x="877824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Convencionalidad</a:t>
            </a:r>
            <a:endParaRPr lang="en-US" sz="1700" dirty="0"/>
          </a:p>
        </p:txBody>
      </p:sp>
      <p:sp>
        <p:nvSpPr>
          <p:cNvPr id="20" name="anim4_420"/>
          <p:cNvSpPr txBox="1"/>
          <p:nvPr/>
        </p:nvSpPr>
        <p:spPr>
          <a:xfrm>
            <a:off x="8019288" y="425196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5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Brechas en cobertura, acceso, suficiencia y equidad.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05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A383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Hacia un modelo integral</a:t>
            </a:r>
            <a:endParaRPr lang="en-US" sz="3400" dirty="0"/>
          </a:p>
        </p:txBody>
      </p:sp>
      <p:sp>
        <p:nvSpPr>
          <p:cNvPr id="4" name="anim1_421"/>
          <p:cNvSpPr/>
          <p:nvPr/>
        </p:nvSpPr>
        <p:spPr>
          <a:xfrm>
            <a:off x="2834640" y="3017520"/>
            <a:ext cx="1828800" cy="1828800"/>
          </a:xfrm>
          <a:prstGeom prst="ellipse">
            <a:avLst/>
          </a:prstGeom>
          <a:solidFill>
            <a:srgbClr val="C72163"/>
          </a:solidFill>
          <a:ln w="12700">
            <a:solidFill>
              <a:srgbClr val="C72163"/>
            </a:solidFill>
            <a:prstDash val="solid"/>
          </a:ln>
        </p:spPr>
      </p:sp>
      <p:sp>
        <p:nvSpPr>
          <p:cNvPr id="5" name="anim1_422"/>
          <p:cNvSpPr txBox="1"/>
          <p:nvPr/>
        </p:nvSpPr>
        <p:spPr>
          <a:xfrm>
            <a:off x="2926080" y="33832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Pensión del minero</a:t>
            </a:r>
            <a:endParaRPr lang="en-US" sz="1700" dirty="0"/>
          </a:p>
        </p:txBody>
      </p:sp>
      <p:sp>
        <p:nvSpPr>
          <p:cNvPr id="6" name="anim2_423"/>
          <p:cNvSpPr/>
          <p:nvPr/>
        </p:nvSpPr>
        <p:spPr>
          <a:xfrm>
            <a:off x="5010912" y="3593592"/>
            <a:ext cx="676656" cy="676656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7" name="anim2_42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843" y="3769523"/>
            <a:ext cx="324795" cy="324795"/>
          </a:xfrm>
          <a:prstGeom prst="rect">
            <a:avLst/>
          </a:prstGeom>
        </p:spPr>
      </p:pic>
      <p:sp>
        <p:nvSpPr>
          <p:cNvPr id="8" name="anim2_425"/>
          <p:cNvSpPr txBox="1"/>
          <p:nvPr/>
        </p:nvSpPr>
        <p:spPr>
          <a:xfrm>
            <a:off x="5779008" y="3657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Inspección</a:t>
            </a:r>
            <a:endParaRPr lang="en-US" sz="1500" dirty="0"/>
          </a:p>
        </p:txBody>
      </p:sp>
      <p:sp>
        <p:nvSpPr>
          <p:cNvPr id="9" name="anim3_426"/>
          <p:cNvSpPr/>
          <p:nvPr/>
        </p:nvSpPr>
        <p:spPr>
          <a:xfrm>
            <a:off x="4210812" y="4979406"/>
            <a:ext cx="676656" cy="676656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0" name="anim3_42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743" y="5155336"/>
            <a:ext cx="324795" cy="324795"/>
          </a:xfrm>
          <a:prstGeom prst="rect">
            <a:avLst/>
          </a:prstGeom>
        </p:spPr>
      </p:pic>
      <p:sp>
        <p:nvSpPr>
          <p:cNvPr id="11" name="anim3_428"/>
          <p:cNvSpPr txBox="1"/>
          <p:nvPr/>
        </p:nvSpPr>
        <p:spPr>
          <a:xfrm>
            <a:off x="3753612" y="5701782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Vigilancia médica</a:t>
            </a:r>
            <a:endParaRPr lang="en-US" sz="1500" dirty="0"/>
          </a:p>
        </p:txBody>
      </p:sp>
      <p:sp>
        <p:nvSpPr>
          <p:cNvPr id="12" name="anim4_429"/>
          <p:cNvSpPr/>
          <p:nvPr/>
        </p:nvSpPr>
        <p:spPr>
          <a:xfrm>
            <a:off x="2610612" y="4979406"/>
            <a:ext cx="676656" cy="676656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3" name="anim4_43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543" y="5155336"/>
            <a:ext cx="324795" cy="324795"/>
          </a:xfrm>
          <a:prstGeom prst="rect">
            <a:avLst/>
          </a:prstGeom>
        </p:spPr>
      </p:pic>
      <p:sp>
        <p:nvSpPr>
          <p:cNvPr id="14" name="anim4_431"/>
          <p:cNvSpPr txBox="1"/>
          <p:nvPr/>
        </p:nvSpPr>
        <p:spPr>
          <a:xfrm>
            <a:off x="2153412" y="5701782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Formalización</a:t>
            </a:r>
            <a:endParaRPr lang="en-US" sz="1500" dirty="0"/>
          </a:p>
        </p:txBody>
      </p:sp>
      <p:sp>
        <p:nvSpPr>
          <p:cNvPr id="15" name="anim5_432"/>
          <p:cNvSpPr/>
          <p:nvPr/>
        </p:nvSpPr>
        <p:spPr>
          <a:xfrm>
            <a:off x="1810512" y="3593592"/>
            <a:ext cx="676656" cy="676656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6" name="anim5_43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6443" y="3769523"/>
            <a:ext cx="324795" cy="324795"/>
          </a:xfrm>
          <a:prstGeom prst="rect">
            <a:avLst/>
          </a:prstGeom>
        </p:spPr>
      </p:pic>
      <p:sp>
        <p:nvSpPr>
          <p:cNvPr id="17" name="anim5_434"/>
          <p:cNvSpPr txBox="1"/>
          <p:nvPr/>
        </p:nvSpPr>
        <p:spPr>
          <a:xfrm>
            <a:off x="228600" y="3657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Prevención</a:t>
            </a:r>
            <a:endParaRPr lang="en-US" sz="1500" dirty="0"/>
          </a:p>
        </p:txBody>
      </p:sp>
      <p:sp>
        <p:nvSpPr>
          <p:cNvPr id="18" name="anim6_435"/>
          <p:cNvSpPr/>
          <p:nvPr/>
        </p:nvSpPr>
        <p:spPr>
          <a:xfrm>
            <a:off x="2610612" y="2207778"/>
            <a:ext cx="676656" cy="676656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19" name="anim6_43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6543" y="2383709"/>
            <a:ext cx="324795" cy="324795"/>
          </a:xfrm>
          <a:prstGeom prst="rect">
            <a:avLst/>
          </a:prstGeom>
        </p:spPr>
      </p:pic>
      <p:sp>
        <p:nvSpPr>
          <p:cNvPr id="20" name="anim6_437"/>
          <p:cNvSpPr txBox="1"/>
          <p:nvPr/>
        </p:nvSpPr>
        <p:spPr>
          <a:xfrm>
            <a:off x="2153412" y="154026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</a:t>
            </a:r>
            <a:endParaRPr lang="en-US" sz="1500" dirty="0"/>
          </a:p>
        </p:txBody>
      </p:sp>
      <p:sp>
        <p:nvSpPr>
          <p:cNvPr id="21" name="anim7_438"/>
          <p:cNvSpPr/>
          <p:nvPr/>
        </p:nvSpPr>
        <p:spPr>
          <a:xfrm>
            <a:off x="4210812" y="2207778"/>
            <a:ext cx="676656" cy="676656"/>
          </a:xfrm>
          <a:prstGeom prst="ellipse">
            <a:avLst/>
          </a:prstGeom>
          <a:solidFill>
            <a:srgbClr val="7E4691"/>
          </a:solidFill>
          <a:ln w="12700">
            <a:solidFill>
              <a:srgbClr val="7E4691"/>
            </a:solidFill>
            <a:prstDash val="solid"/>
          </a:ln>
        </p:spPr>
      </p:sp>
      <p:pic>
        <p:nvPicPr>
          <p:cNvPr id="22" name="anim7_43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6743" y="2383709"/>
            <a:ext cx="324795" cy="324795"/>
          </a:xfrm>
          <a:prstGeom prst="rect">
            <a:avLst/>
          </a:prstGeom>
        </p:spPr>
      </p:pic>
      <p:sp>
        <p:nvSpPr>
          <p:cNvPr id="23" name="anim7_440"/>
          <p:cNvSpPr txBox="1"/>
          <p:nvPr/>
        </p:nvSpPr>
        <p:spPr>
          <a:xfrm>
            <a:off x="3753612" y="154026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Compensación</a:t>
            </a:r>
            <a:endParaRPr lang="en-US" sz="1500" dirty="0"/>
          </a:p>
        </p:txBody>
      </p:sp>
      <p:sp>
        <p:nvSpPr>
          <p:cNvPr id="24" name="anim8_441"/>
          <p:cNvSpPr/>
          <p:nvPr/>
        </p:nvSpPr>
        <p:spPr>
          <a:xfrm>
            <a:off x="7223760" y="182880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F1ECF6"/>
          </a:solidFill>
          <a:ln w="9525">
            <a:solidFill>
              <a:srgbClr val="E6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anim8_442"/>
          <p:cNvSpPr txBox="1"/>
          <p:nvPr/>
        </p:nvSpPr>
        <p:spPr>
          <a:xfrm>
            <a:off x="7452360" y="19385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E469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Agenda mínima</a:t>
            </a:r>
            <a:endParaRPr lang="en-US" sz="1900" dirty="0"/>
          </a:p>
        </p:txBody>
      </p:sp>
      <p:sp>
        <p:nvSpPr>
          <p:cNvPr id="26" name="anim9_443"/>
          <p:cNvSpPr txBox="1"/>
          <p:nvPr/>
        </p:nvSpPr>
        <p:spPr>
          <a:xfrm>
            <a:off x="7452360" y="251460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Revisar el DL 2090/2003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Ampliar el alto riesgo minero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Reforzar la inspección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de exposición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Mejor calificación médica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Incluir a los informales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A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Protección social mínima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6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4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8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2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1_444"/>
          <p:cNvSpPr txBox="1"/>
          <p:nvPr/>
        </p:nvSpPr>
        <p:spPr>
          <a:xfrm>
            <a:off x="2468880" y="57424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¡Gracias!  ·  Preguntas del jurado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Sustentación trabajo de grado – UPB</dc:title>
  <dc:subject>PptxGenJS Presentation</dc:subject>
  <dc:creator>Daniel Ricardo Angarita Rincón · Gustavo Andrés Martínez Cepeda</dc:creator>
  <cp:lastModifiedBy>Daniel Ricardo Angarita Rincón · Gustavo Andrés Martínez Cepeda</cp:lastModifiedBy>
  <cp:revision>1</cp:revision>
  <dcterms:created xsi:type="dcterms:W3CDTF">2026-09-30T13:47:39Z</dcterms:created>
  <dcterms:modified xsi:type="dcterms:W3CDTF">2026-09-30T13:47:39Z</dcterms:modified>
</cp:coreProperties>
</file>